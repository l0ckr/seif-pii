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работают. Личное остаётся личным.
Архитектура сервиса и экспериментального GPU-профиля. Числа взяты из сохранённых отчётов; новые нагрузочные или модельные эксперименты для этой презентации не запускались.
Источники: Срез исходников: 15eea67 · experiment/rubert-tensorrt · существующий web-стиль
SVG: /home/lockr/projects/seif-pii-rubert/docs/presentation/slides/01.svg
SVG SHA256: 875210b5d437f8c1387309e41ef059a4b11dadc31ad38a98d6fecb7c3e989e97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Удачная основа. Чёткие границы роста.
Это качественная архитектурная оценка, не численный рейтинг и не подтверждение production SLA. Критерии хакатона оценивают демонстрационный прокси, а не завершённую production-платформу.
Источники: Оценка по исходникам · подробные доказательства: architecture-assessment.md
SVG: /home/lockr/projects/seif-pii-rubert/docs/presentation/slides/02.svg
SVG SHA256: d68da1923280679edcf70dc16ce28f5b326026887d89743ede55f493e95d5a3f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граница защиты — несколько независимых компонентов
Схема нового payload_id. При повторе запрос может обслуживаться из зашифрованного vault без повторного NER. Внешний LLM не вызывается сервером СЕЙФ: его оркестрирует потребитель. Это граница маршрутизации, а не гарантия безошибочного распознавания.
Источники: Источники: seif/app.py · seif/ner.py · seif/vault.py · scripts/client_example.py
SVG: /home/lockr/projects/seif-pii-rubert/docs/presentation/slides/03.svg
SVG SHA256: 8bd4b060790845f7e88616bf30d0fa45839a4b399d677324d870a692b11e671a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Защитить, обработать, восстановить
Token допускает повторение и перестановку известных токенов в новом окружении. Mask/synthetic требуют точный защищённый результат. Восстановление ограничено tenant, payload_id, политикой и временем жизни записи.
Источники: Источники: seif/transform.py · seif/vault.py · seif/app.py
SVG: /home/lockr/projects/seif-pii-rubert/docs/presentation/slides/04.svg
SVG SHA256: eb0e88d6655300efc7c7eae4ccbf3415cab240cb751e55cad72f48bdb8ca4411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 исходного текста до проверенных замен
Сохраняются исходные Unicode code-point offsets. 21 native-категория RuBERT отображается в 14 транспортных типов; это не количество всех типов правил. Ошибка настроенного NER завершает запрос ошибкой, а не успешным неполным результатом.
Источники: Источники: seif/detector.py · seif/rubert_decoder.py · seif/ner_contract.py
SVG: /home/lockr/projects/seif-pii-rubert/docs/presentation/slides/05.svg
SVG SHA256: 1b9f8936a339f58c67364f68bf03bd8399870cb8a919e454969a77cf855ffe25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Развёртывание без смешения профилей
Базовый Compose, optional CPU NER и отдельный экспериментальный GPU-процесс не являются одним одинаково измеренным стендом. K8s-манифесты подготовлены; наличие yaml не доказывает работающий production-кластер. GPU-образ и GPU-оркестрация отдельно не реализованы.
Источники: Источники: compose.yaml · compose.ner.yaml · deploy/k8s · deploy/service/README.md
SVG: /home/lockr/projects/seif-pii-rubert/docs/presentation/slides/06.svg
SVG SHA256: 0194a123c9d8a40a6c47f19055425b9d7234c5d4f2db17a4437d8d0c1269c805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Политика задаёт смысл защиты.
Сервис поддерживает allowlist потребителей, ключи API, перечни типов, комбинации типов, custom rules и отдельное разрешение восстановления. Capture исходных текстов — самостоятельная опция: его файлы не защищены шифрованием и TTL vault автоматически.
Источники: Источники: config/policies.yaml · seif/config.py · seif/app.py · seif/vault.py
SVG: /home/lockr/projects/seif-pii-rubert/docs/presentation/slides/07.svg
SVG SHA256: 72dcf5f7a3c3c4fa2d85b6d486d0d0d6c805627632bb2b3694a9e7218503436d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Кандидаты проверяли на трёх корпусах.
Это сравнение сервисных конфигураций, а не чистый рейтинг моделей: контракты и версии правил различаются. spaCy и GLiNER пересчитаны на текущих правилах по сохранённым предсказаниям. GLiNER обученному декодеру передавали person/location и конкурирующий organization; другие PII-классы не запрашивались. Строгая проверка предобработки 5 095 текстов не выявила ошибки выравнивания. LFM указан с address-proxy; его native hybrid с 40 типами показан отдельно. Organizer размечен ИИ, а все корпуса уже изучались в разработке.
Источники: Источники и условия каждой ячейки: experiment-metrics.json · единицы: F1 маскирования, %
SVG: /home/lockr/projects/seif-pii-rubert/docs/presentation/slides/08.svg
SVG SHA256: 7dd73ccff756d7db2055dc9e77a0984adbe2ae04d999dd364d659c3949babb88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Обновление RuBERT улучшило маскирование.
F1 считается по закрытым буквам и цифрам независимо от типа и точных границ. pii-guard — pinned raw-text ablation: правила, word-decoder и merge, без normalize/translit/base64. Это не воспроизведение его опубликованного model-card score.
Источники: Источник: rubert-upgrade/quality-v5.json · одинаковые тексты, gold и scoring для трёх систем
SVG: /home/lockr/projects/seif-pii-rubert/docs/presentation/slides/09.svg
SVG SHA256: 131a3a5b1ddc5b14c6caddbec7a62546b23482900b1a80b757482634944608c1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Скрыть символы ≠ точно выделить сущность.
Mask F1 выше raw-text pii-guard на RMR, но recall ниже: 90,8026% против 92,7205%. Exact common14 остаётся ниже: 86,7601% против 89,8458%. Common14 исключает внеобластные предсказания: 19 у СЕЙФ и 253 у guard. Без этих исключений exact F1 равен 86,6113% и 87,8188%. Из 801 strict FN: 386 — правильный тип, но другие границы; 60 — другой тип; 91 — частичное покрытие; 264 — не защищены. На organizer и PII exact-span снизился из-за разделения на компоненты. Сохранение маски не отменяет эту регрессию.
Источники: Источник: quality-v5.json · RedMadRobot · common14 исключает 19 предсказаний СЕЙФ / 253 guard
SVG: /home/lockr/projects/seif-pii-rubert/docs/presentation/slides/10.svg
SVG SHA256: 73f2416ec352155590e3b4a66f312dea97c7672ef01ec3d725509aefe0a8d452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Скорость измеряли полным HTTP-циклом.
Группы имеют разные условия и не доказывают кратного ускорения от одной смены модели. GLiNER: 446 запросов маскирования, C4; RuBERT: 22 300, C8. Один API-worker, один NER-worker, память вместо Redis, loopback, реальная модель, capture отключён. GLiNER RPS относится к историческому сервису: после нового CPU replay нагрузка не запускалась. Эти результаты не подтверждают SLA 1 000 RPS для GPU-профиля. У LFM HTTP не измерялся; скорость модели в texts/s нельзя выдавать за HTTP RPS.
Источники: Источники: GLiNER HTTP C4 · RuBERT http-baseline-control / http-upgraded-final C8
SVG: /home/lockr/projects/seif-pii-rubert/docs/presentation/slides/11.svg
SVG SHA256: f73c77d6bb562c09019325b089d7b5b07c9ec9b6f48ca41a556c361b3be765d9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риска, которые стоит закрыть.
Это предложения, а не изменения сервиса в рамках презентации. Тело запроса ограничено по размеру и времени, но авторизация API выполняется после чтения и разбора JSON. В одном NER-процессе модель исполняется последовательно; CPU-HPA API не решает перегрузку GPU. Асинхронная репликация Redis требует согласования допустимой потери последних записей. Raw capture хранится отдельно от шифрования и TTL vault.
Источники: Оценка кода, не результаты penetration/failover-теста · architecture-assessment.md
SVG: /home/lockr/projects/seif-pii-rubert/docs/presentation/slides/12.svg
SVG SHA256: 46f4471b5eb215fec262b994d0462497fcdf246f1f3553f1f3850b632ef7e6b6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Следующий шаг — измеримый пилот.
Приоритет — независимый holdout и совместная проверка маскирования, точных границ и типов. Следующий корректный эксперимент GLiNER требует одинакового с RuBERT перечня PII-классов и нового запуска модели. Batching и реплики нужно оценивать по очереди, latency и смешанной нагрузке. До пилота отдельно проверяются отказ компонентов, восстановление и ротация ключей.
Источники: Предложения по развитию · критерии приёмки нужно согласовать с владельцем пилота
SVG: /home/lockr/projects/seif-pii-rubert/docs/presentation/slides/13.svg
SVG SHA256: d71b0c0e928ecb6ab03cb7b16ccc7a8ded41b2d471ff1025f6a6c167dce5d13c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 на две минуты: видно каждое решение.
Сценарий отражает критерии хакатона: контекст, маскирование, восстановление, настройка политики и метрики. Используйте вымышленные данные, текущий профиль и фактический ответ API. Токен на слайде схематический: модель может выделить несколько компонентов ФИО. Не выдавайте экспериментальный GPU-профиль за уже развёрнутый публичный сервис.
Источники: Вымышленный пример · token ниже схематический · API: /v1/mask → /v1/unmask
SVG: /home/lockr/projects/seif-pii-rubert/docs/presentation/slides/14.svg
SVG SHA256: 215c1a798a0dda9b2364b926c84653141fe24b7e659fe0f0ff1e226f7657321a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Сильнее становится вся цепочка.
Рекомендация — сохранить текущие модульные границы и сосредоточиться на объединении сущностей, точных границах и независимом holdout. Полного превосходства над pii-guard нет. 533,74 RPS — локальное измерение конкретного GPU-профиля. 3 119 — ранее прошедшие основные тесты; ещё 161 проверка выполнена в модельном окружении, а 35 основных тестов пропущены из-за опциональных зависимостей и локальных сервисов.
Источники: СЕЙФ · архитектурная оценка и проверенные эксперименты · 23 сентября 2026
SVG: /home/lockr/projects/seif-pii-rubert/docs/presentation/slides/15.svg
SVG SHA256: 2a301a2ed85dbfac62851779dfacec2cc80908408664cb5d1c6d352c467b54e9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проверять цифры этой презентации.
Архитектура проверена по коммиту 15eea67. Для чисел сохранены пути отчётов, JSON pointers и SHA256. Повторная проверка GLiNER сохраняет тот же состав 5 095 текстов и версии runtime. PDF критериев хакатона использованы как контекст презентации. Исходные тексты датасетов и секреты в материалы не переносились.
Источники: Полные ссылки, JSON pointers и SHA256: experiment-metrics.json · architecture-evidence.json
SVG: /home/lockr/projects/seif-pii-rubert/docs/presentation/slides/16.svg
SVG SHA256: 61dd993c08e78181077141791d80ca00ded5c1e0321a12c0fe1757a130949f7d
Редактируемые native-элементы PowerPoint. Исходный SVG и offline HTML/PDF являются эталоном визуальной компоновки.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-rect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01-line-1"/>
          <p:cNvSpPr/>
          <p:nvPr/>
        </p:nvSpPr>
        <p:spPr>
          <a:xfrm>
            <a:off x="487680" y="6858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4" name="01-rect-2"/>
          <p:cNvSpPr/>
          <p:nvPr/>
        </p:nvSpPr>
        <p:spPr>
          <a:xfrm>
            <a:off x="495300" y="25908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5" name="01-rect-3"/>
          <p:cNvSpPr/>
          <p:nvPr/>
        </p:nvSpPr>
        <p:spPr>
          <a:xfrm>
            <a:off x="624840" y="259080"/>
            <a:ext cx="91440" cy="91440"/>
          </a:xfrm>
          <a:prstGeom prst="rect">
            <a:avLst/>
          </a:prstGeom>
          <a:solidFill>
            <a:srgbClr val="C0F0C5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6" name="01-rect-4"/>
          <p:cNvSpPr/>
          <p:nvPr/>
        </p:nvSpPr>
        <p:spPr>
          <a:xfrm>
            <a:off x="49530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7" name="01-rect-5"/>
          <p:cNvSpPr/>
          <p:nvPr/>
        </p:nvSpPr>
        <p:spPr>
          <a:xfrm>
            <a:off x="62484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8" name="01-text-6"/>
          <p:cNvSpPr/>
          <p:nvPr/>
        </p:nvSpPr>
        <p:spPr>
          <a:xfrm>
            <a:off x="845820" y="217535"/>
            <a:ext cx="703916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60" b="1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СЕЙФ</a:t>
            </a:r>
            <a:endParaRPr lang="ru-RU" sz="1860" dirty="0"/>
          </a:p>
        </p:txBody>
      </p:sp>
      <p:sp>
        <p:nvSpPr>
          <p:cNvPr id="9" name="01-text-7"/>
          <p:cNvSpPr/>
          <p:nvPr/>
        </p:nvSpPr>
        <p:spPr>
          <a:xfrm>
            <a:off x="2179320" y="351413"/>
            <a:ext cx="2451101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АРХИТЕКТУРА · ЭКСПЕРИМЕНТЫ · ОЦЕНКА</a:t>
            </a:r>
            <a:endParaRPr lang="ru-RU" sz="960" dirty="0"/>
          </a:p>
        </p:txBody>
      </p:sp>
      <p:sp>
        <p:nvSpPr>
          <p:cNvPr id="10" name="01-text-8"/>
          <p:cNvSpPr/>
          <p:nvPr/>
        </p:nvSpPr>
        <p:spPr>
          <a:xfrm>
            <a:off x="10987677" y="351413"/>
            <a:ext cx="71664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960" dirty="0"/>
          </a:p>
        </p:txBody>
      </p:sp>
      <p:sp>
        <p:nvSpPr>
          <p:cNvPr id="11" name="01-rect-9"/>
          <p:cNvSpPr/>
          <p:nvPr/>
        </p:nvSpPr>
        <p:spPr>
          <a:xfrm>
            <a:off x="487680" y="1219200"/>
            <a:ext cx="3345180" cy="274320"/>
          </a:xfrm>
          <a:prstGeom prst="rect">
            <a:avLst/>
          </a:prstGeom>
          <a:solidFill>
            <a:srgbClr val="17231D"/>
          </a:solidFill>
          <a:ln w="7620">
            <a:solidFill>
              <a:srgbClr val="C0F0C5"/>
            </a:solidFill>
            <a:prstDash val="solid"/>
          </a:ln>
        </p:spPr>
      </p:sp>
      <p:sp>
        <p:nvSpPr>
          <p:cNvPr id="12" name="01-text-10"/>
          <p:cNvSpPr/>
          <p:nvPr/>
        </p:nvSpPr>
        <p:spPr>
          <a:xfrm>
            <a:off x="601980" y="1319153"/>
            <a:ext cx="2312344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МОДУЛЬ ЗАЩИТЫ ПЕРСОНАЛЬНЫХ ДАННЫХ</a:t>
            </a:r>
            <a:endParaRPr lang="ru-RU" sz="960" dirty="0"/>
          </a:p>
        </p:txBody>
      </p:sp>
      <p:sp>
        <p:nvSpPr>
          <p:cNvPr id="13" name="01-text-11"/>
          <p:cNvSpPr/>
          <p:nvPr/>
        </p:nvSpPr>
        <p:spPr>
          <a:xfrm>
            <a:off x="487680" y="1626974"/>
            <a:ext cx="5509154" cy="846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49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 работают.</a:t>
            </a:r>
            <a:endParaRPr lang="ru-RU" sz="4920" dirty="0"/>
          </a:p>
        </p:txBody>
      </p:sp>
      <p:sp>
        <p:nvSpPr>
          <p:cNvPr id="14" name="01-text-12"/>
          <p:cNvSpPr/>
          <p:nvPr/>
        </p:nvSpPr>
        <p:spPr>
          <a:xfrm>
            <a:off x="487680" y="2513759"/>
            <a:ext cx="5601949" cy="73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4980" i="1" dirty="0">
                <a:solidFill>
                  <a:srgbClr val="C0F0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Личное остаётся</a:t>
            </a:r>
            <a:endParaRPr lang="ru-RU" sz="4980" dirty="0"/>
          </a:p>
        </p:txBody>
      </p:sp>
      <p:sp>
        <p:nvSpPr>
          <p:cNvPr id="15" name="01-text-13"/>
          <p:cNvSpPr/>
          <p:nvPr/>
        </p:nvSpPr>
        <p:spPr>
          <a:xfrm>
            <a:off x="487680" y="3252899"/>
            <a:ext cx="2662979" cy="73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4980" i="1" dirty="0">
                <a:solidFill>
                  <a:srgbClr val="C0F0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личным.</a:t>
            </a:r>
            <a:endParaRPr lang="ru-RU" sz="4980" dirty="0"/>
          </a:p>
        </p:txBody>
      </p:sp>
      <p:sp>
        <p:nvSpPr>
          <p:cNvPr id="16" name="01-text-14"/>
          <p:cNvSpPr/>
          <p:nvPr/>
        </p:nvSpPr>
        <p:spPr>
          <a:xfrm>
            <a:off x="518160" y="4555123"/>
            <a:ext cx="3070022" cy="299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8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Локальная защита перед LLM.</a:t>
            </a:r>
            <a:endParaRPr lang="ru-RU" sz="1680" dirty="0"/>
          </a:p>
        </p:txBody>
      </p:sp>
      <p:sp>
        <p:nvSpPr>
          <p:cNvPr id="17" name="01-text-15"/>
          <p:cNvSpPr/>
          <p:nvPr/>
        </p:nvSpPr>
        <p:spPr>
          <a:xfrm>
            <a:off x="518160" y="4882783"/>
            <a:ext cx="5146103" cy="299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8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Обратимость. Контекст. Проверяемые результаты.</a:t>
            </a:r>
            <a:endParaRPr lang="ru-RU" sz="1680" dirty="0"/>
          </a:p>
        </p:txBody>
      </p:sp>
      <p:sp>
        <p:nvSpPr>
          <p:cNvPr id="18" name="01-rect-16"/>
          <p:cNvSpPr/>
          <p:nvPr/>
        </p:nvSpPr>
        <p:spPr>
          <a:xfrm>
            <a:off x="7848600" y="1386840"/>
            <a:ext cx="3855720" cy="417576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19" name="01-ellipse-17"/>
          <p:cNvSpPr/>
          <p:nvPr/>
        </p:nvSpPr>
        <p:spPr>
          <a:xfrm>
            <a:off x="800862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0" name="01-ellipse-18"/>
          <p:cNvSpPr/>
          <p:nvPr/>
        </p:nvSpPr>
        <p:spPr>
          <a:xfrm>
            <a:off x="800862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1" name="01-ellipse-19"/>
          <p:cNvSpPr/>
          <p:nvPr/>
        </p:nvSpPr>
        <p:spPr>
          <a:xfrm>
            <a:off x="800862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2" name="01-ellipse-20"/>
          <p:cNvSpPr/>
          <p:nvPr/>
        </p:nvSpPr>
        <p:spPr>
          <a:xfrm>
            <a:off x="800862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3" name="01-ellipse-21"/>
          <p:cNvSpPr/>
          <p:nvPr/>
        </p:nvSpPr>
        <p:spPr>
          <a:xfrm>
            <a:off x="800862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4" name="01-ellipse-22"/>
          <p:cNvSpPr/>
          <p:nvPr/>
        </p:nvSpPr>
        <p:spPr>
          <a:xfrm>
            <a:off x="800862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5" name="01-ellipse-23"/>
          <p:cNvSpPr/>
          <p:nvPr/>
        </p:nvSpPr>
        <p:spPr>
          <a:xfrm>
            <a:off x="800862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6" name="01-ellipse-24"/>
          <p:cNvSpPr/>
          <p:nvPr/>
        </p:nvSpPr>
        <p:spPr>
          <a:xfrm>
            <a:off x="800862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7" name="01-ellipse-25"/>
          <p:cNvSpPr/>
          <p:nvPr/>
        </p:nvSpPr>
        <p:spPr>
          <a:xfrm>
            <a:off x="800862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8" name="01-ellipse-26"/>
          <p:cNvSpPr/>
          <p:nvPr/>
        </p:nvSpPr>
        <p:spPr>
          <a:xfrm>
            <a:off x="800862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9" name="01-ellipse-27"/>
          <p:cNvSpPr/>
          <p:nvPr/>
        </p:nvSpPr>
        <p:spPr>
          <a:xfrm>
            <a:off x="800862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0" name="01-ellipse-28"/>
          <p:cNvSpPr/>
          <p:nvPr/>
        </p:nvSpPr>
        <p:spPr>
          <a:xfrm>
            <a:off x="800862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1" name="01-ellipse-29"/>
          <p:cNvSpPr/>
          <p:nvPr/>
        </p:nvSpPr>
        <p:spPr>
          <a:xfrm>
            <a:off x="800862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2" name="01-ellipse-30"/>
          <p:cNvSpPr/>
          <p:nvPr/>
        </p:nvSpPr>
        <p:spPr>
          <a:xfrm>
            <a:off x="800862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3" name="01-ellipse-31"/>
          <p:cNvSpPr/>
          <p:nvPr/>
        </p:nvSpPr>
        <p:spPr>
          <a:xfrm>
            <a:off x="800862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4" name="01-ellipse-32"/>
          <p:cNvSpPr/>
          <p:nvPr/>
        </p:nvSpPr>
        <p:spPr>
          <a:xfrm>
            <a:off x="800862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5" name="01-ellipse-33"/>
          <p:cNvSpPr/>
          <p:nvPr/>
        </p:nvSpPr>
        <p:spPr>
          <a:xfrm>
            <a:off x="800862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6" name="01-ellipse-34"/>
          <p:cNvSpPr/>
          <p:nvPr/>
        </p:nvSpPr>
        <p:spPr>
          <a:xfrm>
            <a:off x="800862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7" name="01-ellipse-35"/>
          <p:cNvSpPr/>
          <p:nvPr/>
        </p:nvSpPr>
        <p:spPr>
          <a:xfrm>
            <a:off x="800862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8" name="01-ellipse-36"/>
          <p:cNvSpPr/>
          <p:nvPr/>
        </p:nvSpPr>
        <p:spPr>
          <a:xfrm>
            <a:off x="822198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9" name="01-ellipse-37"/>
          <p:cNvSpPr/>
          <p:nvPr/>
        </p:nvSpPr>
        <p:spPr>
          <a:xfrm>
            <a:off x="822198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0" name="01-ellipse-38"/>
          <p:cNvSpPr/>
          <p:nvPr/>
        </p:nvSpPr>
        <p:spPr>
          <a:xfrm>
            <a:off x="822198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1" name="01-ellipse-39"/>
          <p:cNvSpPr/>
          <p:nvPr/>
        </p:nvSpPr>
        <p:spPr>
          <a:xfrm>
            <a:off x="822198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2" name="01-ellipse-40"/>
          <p:cNvSpPr/>
          <p:nvPr/>
        </p:nvSpPr>
        <p:spPr>
          <a:xfrm>
            <a:off x="822198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3" name="01-ellipse-41"/>
          <p:cNvSpPr/>
          <p:nvPr/>
        </p:nvSpPr>
        <p:spPr>
          <a:xfrm>
            <a:off x="822198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4" name="01-ellipse-42"/>
          <p:cNvSpPr/>
          <p:nvPr/>
        </p:nvSpPr>
        <p:spPr>
          <a:xfrm>
            <a:off x="822198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5" name="01-ellipse-43"/>
          <p:cNvSpPr/>
          <p:nvPr/>
        </p:nvSpPr>
        <p:spPr>
          <a:xfrm>
            <a:off x="822198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6" name="01-ellipse-44"/>
          <p:cNvSpPr/>
          <p:nvPr/>
        </p:nvSpPr>
        <p:spPr>
          <a:xfrm>
            <a:off x="822198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7" name="01-ellipse-45"/>
          <p:cNvSpPr/>
          <p:nvPr/>
        </p:nvSpPr>
        <p:spPr>
          <a:xfrm>
            <a:off x="822198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8" name="01-ellipse-46"/>
          <p:cNvSpPr/>
          <p:nvPr/>
        </p:nvSpPr>
        <p:spPr>
          <a:xfrm>
            <a:off x="822198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9" name="01-ellipse-47"/>
          <p:cNvSpPr/>
          <p:nvPr/>
        </p:nvSpPr>
        <p:spPr>
          <a:xfrm>
            <a:off x="822198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0" name="01-ellipse-48"/>
          <p:cNvSpPr/>
          <p:nvPr/>
        </p:nvSpPr>
        <p:spPr>
          <a:xfrm>
            <a:off x="822198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1" name="01-ellipse-49"/>
          <p:cNvSpPr/>
          <p:nvPr/>
        </p:nvSpPr>
        <p:spPr>
          <a:xfrm>
            <a:off x="822198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2" name="01-ellipse-50"/>
          <p:cNvSpPr/>
          <p:nvPr/>
        </p:nvSpPr>
        <p:spPr>
          <a:xfrm>
            <a:off x="822198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3" name="01-ellipse-51"/>
          <p:cNvSpPr/>
          <p:nvPr/>
        </p:nvSpPr>
        <p:spPr>
          <a:xfrm>
            <a:off x="822198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4" name="01-ellipse-52"/>
          <p:cNvSpPr/>
          <p:nvPr/>
        </p:nvSpPr>
        <p:spPr>
          <a:xfrm>
            <a:off x="822198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5" name="01-ellipse-53"/>
          <p:cNvSpPr/>
          <p:nvPr/>
        </p:nvSpPr>
        <p:spPr>
          <a:xfrm>
            <a:off x="822198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6" name="01-ellipse-54"/>
          <p:cNvSpPr/>
          <p:nvPr/>
        </p:nvSpPr>
        <p:spPr>
          <a:xfrm>
            <a:off x="822198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7" name="01-ellipse-55"/>
          <p:cNvSpPr/>
          <p:nvPr/>
        </p:nvSpPr>
        <p:spPr>
          <a:xfrm>
            <a:off x="843534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8" name="01-ellipse-56"/>
          <p:cNvSpPr/>
          <p:nvPr/>
        </p:nvSpPr>
        <p:spPr>
          <a:xfrm>
            <a:off x="843534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9" name="01-ellipse-57"/>
          <p:cNvSpPr/>
          <p:nvPr/>
        </p:nvSpPr>
        <p:spPr>
          <a:xfrm>
            <a:off x="843534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60" name="01-ellipse-58"/>
          <p:cNvSpPr/>
          <p:nvPr/>
        </p:nvSpPr>
        <p:spPr>
          <a:xfrm>
            <a:off x="843534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61" name="01-ellipse-59"/>
          <p:cNvSpPr/>
          <p:nvPr/>
        </p:nvSpPr>
        <p:spPr>
          <a:xfrm>
            <a:off x="843534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62" name="01-ellipse-60"/>
          <p:cNvSpPr/>
          <p:nvPr/>
        </p:nvSpPr>
        <p:spPr>
          <a:xfrm>
            <a:off x="843534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63" name="01-ellipse-61"/>
          <p:cNvSpPr/>
          <p:nvPr/>
        </p:nvSpPr>
        <p:spPr>
          <a:xfrm>
            <a:off x="843534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64" name="01-ellipse-62"/>
          <p:cNvSpPr/>
          <p:nvPr/>
        </p:nvSpPr>
        <p:spPr>
          <a:xfrm>
            <a:off x="843534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65" name="01-ellipse-63"/>
          <p:cNvSpPr/>
          <p:nvPr/>
        </p:nvSpPr>
        <p:spPr>
          <a:xfrm>
            <a:off x="843534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66" name="01-ellipse-64"/>
          <p:cNvSpPr/>
          <p:nvPr/>
        </p:nvSpPr>
        <p:spPr>
          <a:xfrm>
            <a:off x="843534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67" name="01-ellipse-65"/>
          <p:cNvSpPr/>
          <p:nvPr/>
        </p:nvSpPr>
        <p:spPr>
          <a:xfrm>
            <a:off x="843534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68" name="01-ellipse-66"/>
          <p:cNvSpPr/>
          <p:nvPr/>
        </p:nvSpPr>
        <p:spPr>
          <a:xfrm>
            <a:off x="843534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69" name="01-ellipse-67"/>
          <p:cNvSpPr/>
          <p:nvPr/>
        </p:nvSpPr>
        <p:spPr>
          <a:xfrm>
            <a:off x="843534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70" name="01-ellipse-68"/>
          <p:cNvSpPr/>
          <p:nvPr/>
        </p:nvSpPr>
        <p:spPr>
          <a:xfrm>
            <a:off x="843534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71" name="01-ellipse-69"/>
          <p:cNvSpPr/>
          <p:nvPr/>
        </p:nvSpPr>
        <p:spPr>
          <a:xfrm>
            <a:off x="843534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72" name="01-ellipse-70"/>
          <p:cNvSpPr/>
          <p:nvPr/>
        </p:nvSpPr>
        <p:spPr>
          <a:xfrm>
            <a:off x="843534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73" name="01-ellipse-71"/>
          <p:cNvSpPr/>
          <p:nvPr/>
        </p:nvSpPr>
        <p:spPr>
          <a:xfrm>
            <a:off x="843534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74" name="01-ellipse-72"/>
          <p:cNvSpPr/>
          <p:nvPr/>
        </p:nvSpPr>
        <p:spPr>
          <a:xfrm>
            <a:off x="843534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75" name="01-ellipse-73"/>
          <p:cNvSpPr/>
          <p:nvPr/>
        </p:nvSpPr>
        <p:spPr>
          <a:xfrm>
            <a:off x="843534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76" name="01-ellipse-74"/>
          <p:cNvSpPr/>
          <p:nvPr/>
        </p:nvSpPr>
        <p:spPr>
          <a:xfrm>
            <a:off x="864870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77" name="01-ellipse-75"/>
          <p:cNvSpPr/>
          <p:nvPr/>
        </p:nvSpPr>
        <p:spPr>
          <a:xfrm>
            <a:off x="864870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78" name="01-ellipse-76"/>
          <p:cNvSpPr/>
          <p:nvPr/>
        </p:nvSpPr>
        <p:spPr>
          <a:xfrm>
            <a:off x="864870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79" name="01-ellipse-77"/>
          <p:cNvSpPr/>
          <p:nvPr/>
        </p:nvSpPr>
        <p:spPr>
          <a:xfrm>
            <a:off x="864870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80" name="01-ellipse-78"/>
          <p:cNvSpPr/>
          <p:nvPr/>
        </p:nvSpPr>
        <p:spPr>
          <a:xfrm>
            <a:off x="864870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81" name="01-ellipse-79"/>
          <p:cNvSpPr/>
          <p:nvPr/>
        </p:nvSpPr>
        <p:spPr>
          <a:xfrm>
            <a:off x="864870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82" name="01-ellipse-80"/>
          <p:cNvSpPr/>
          <p:nvPr/>
        </p:nvSpPr>
        <p:spPr>
          <a:xfrm>
            <a:off x="864870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83" name="01-ellipse-81"/>
          <p:cNvSpPr/>
          <p:nvPr/>
        </p:nvSpPr>
        <p:spPr>
          <a:xfrm>
            <a:off x="864870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84" name="01-ellipse-82"/>
          <p:cNvSpPr/>
          <p:nvPr/>
        </p:nvSpPr>
        <p:spPr>
          <a:xfrm>
            <a:off x="864870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85" name="01-ellipse-83"/>
          <p:cNvSpPr/>
          <p:nvPr/>
        </p:nvSpPr>
        <p:spPr>
          <a:xfrm>
            <a:off x="864870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86" name="01-ellipse-84"/>
          <p:cNvSpPr/>
          <p:nvPr/>
        </p:nvSpPr>
        <p:spPr>
          <a:xfrm>
            <a:off x="864870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87" name="01-ellipse-85"/>
          <p:cNvSpPr/>
          <p:nvPr/>
        </p:nvSpPr>
        <p:spPr>
          <a:xfrm>
            <a:off x="864870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88" name="01-ellipse-86"/>
          <p:cNvSpPr/>
          <p:nvPr/>
        </p:nvSpPr>
        <p:spPr>
          <a:xfrm>
            <a:off x="864870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89" name="01-ellipse-87"/>
          <p:cNvSpPr/>
          <p:nvPr/>
        </p:nvSpPr>
        <p:spPr>
          <a:xfrm>
            <a:off x="864870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90" name="01-ellipse-88"/>
          <p:cNvSpPr/>
          <p:nvPr/>
        </p:nvSpPr>
        <p:spPr>
          <a:xfrm>
            <a:off x="864870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91" name="01-ellipse-89"/>
          <p:cNvSpPr/>
          <p:nvPr/>
        </p:nvSpPr>
        <p:spPr>
          <a:xfrm>
            <a:off x="864870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92" name="01-ellipse-90"/>
          <p:cNvSpPr/>
          <p:nvPr/>
        </p:nvSpPr>
        <p:spPr>
          <a:xfrm>
            <a:off x="864870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93" name="01-ellipse-91"/>
          <p:cNvSpPr/>
          <p:nvPr/>
        </p:nvSpPr>
        <p:spPr>
          <a:xfrm>
            <a:off x="864870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94" name="01-ellipse-92"/>
          <p:cNvSpPr/>
          <p:nvPr/>
        </p:nvSpPr>
        <p:spPr>
          <a:xfrm>
            <a:off x="864870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95" name="01-ellipse-93"/>
          <p:cNvSpPr/>
          <p:nvPr/>
        </p:nvSpPr>
        <p:spPr>
          <a:xfrm>
            <a:off x="886206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96" name="01-ellipse-94"/>
          <p:cNvSpPr/>
          <p:nvPr/>
        </p:nvSpPr>
        <p:spPr>
          <a:xfrm>
            <a:off x="886206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97" name="01-ellipse-95"/>
          <p:cNvSpPr/>
          <p:nvPr/>
        </p:nvSpPr>
        <p:spPr>
          <a:xfrm>
            <a:off x="886206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98" name="01-ellipse-96"/>
          <p:cNvSpPr/>
          <p:nvPr/>
        </p:nvSpPr>
        <p:spPr>
          <a:xfrm>
            <a:off x="886206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99" name="01-ellipse-97"/>
          <p:cNvSpPr/>
          <p:nvPr/>
        </p:nvSpPr>
        <p:spPr>
          <a:xfrm>
            <a:off x="886206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00" name="01-ellipse-98"/>
          <p:cNvSpPr/>
          <p:nvPr/>
        </p:nvSpPr>
        <p:spPr>
          <a:xfrm>
            <a:off x="886206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01" name="01-ellipse-99"/>
          <p:cNvSpPr/>
          <p:nvPr/>
        </p:nvSpPr>
        <p:spPr>
          <a:xfrm>
            <a:off x="886206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02" name="01-ellipse-100"/>
          <p:cNvSpPr/>
          <p:nvPr/>
        </p:nvSpPr>
        <p:spPr>
          <a:xfrm>
            <a:off x="886206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03" name="01-ellipse-101"/>
          <p:cNvSpPr/>
          <p:nvPr/>
        </p:nvSpPr>
        <p:spPr>
          <a:xfrm>
            <a:off x="886206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04" name="01-ellipse-102"/>
          <p:cNvSpPr/>
          <p:nvPr/>
        </p:nvSpPr>
        <p:spPr>
          <a:xfrm>
            <a:off x="886206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05" name="01-ellipse-103"/>
          <p:cNvSpPr/>
          <p:nvPr/>
        </p:nvSpPr>
        <p:spPr>
          <a:xfrm>
            <a:off x="886206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06" name="01-ellipse-104"/>
          <p:cNvSpPr/>
          <p:nvPr/>
        </p:nvSpPr>
        <p:spPr>
          <a:xfrm>
            <a:off x="886206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07" name="01-ellipse-105"/>
          <p:cNvSpPr/>
          <p:nvPr/>
        </p:nvSpPr>
        <p:spPr>
          <a:xfrm>
            <a:off x="886206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08" name="01-ellipse-106"/>
          <p:cNvSpPr/>
          <p:nvPr/>
        </p:nvSpPr>
        <p:spPr>
          <a:xfrm>
            <a:off x="886206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09" name="01-ellipse-107"/>
          <p:cNvSpPr/>
          <p:nvPr/>
        </p:nvSpPr>
        <p:spPr>
          <a:xfrm>
            <a:off x="886206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10" name="01-ellipse-108"/>
          <p:cNvSpPr/>
          <p:nvPr/>
        </p:nvSpPr>
        <p:spPr>
          <a:xfrm>
            <a:off x="886206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11" name="01-ellipse-109"/>
          <p:cNvSpPr/>
          <p:nvPr/>
        </p:nvSpPr>
        <p:spPr>
          <a:xfrm>
            <a:off x="886206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12" name="01-ellipse-110"/>
          <p:cNvSpPr/>
          <p:nvPr/>
        </p:nvSpPr>
        <p:spPr>
          <a:xfrm>
            <a:off x="886206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13" name="01-ellipse-111"/>
          <p:cNvSpPr/>
          <p:nvPr/>
        </p:nvSpPr>
        <p:spPr>
          <a:xfrm>
            <a:off x="886206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14" name="01-ellipse-112"/>
          <p:cNvSpPr/>
          <p:nvPr/>
        </p:nvSpPr>
        <p:spPr>
          <a:xfrm>
            <a:off x="907542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15" name="01-ellipse-113"/>
          <p:cNvSpPr/>
          <p:nvPr/>
        </p:nvSpPr>
        <p:spPr>
          <a:xfrm>
            <a:off x="907542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16" name="01-ellipse-114"/>
          <p:cNvSpPr/>
          <p:nvPr/>
        </p:nvSpPr>
        <p:spPr>
          <a:xfrm>
            <a:off x="907542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17" name="01-ellipse-115"/>
          <p:cNvSpPr/>
          <p:nvPr/>
        </p:nvSpPr>
        <p:spPr>
          <a:xfrm>
            <a:off x="907542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18" name="01-ellipse-116"/>
          <p:cNvSpPr/>
          <p:nvPr/>
        </p:nvSpPr>
        <p:spPr>
          <a:xfrm>
            <a:off x="907542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19" name="01-ellipse-117"/>
          <p:cNvSpPr/>
          <p:nvPr/>
        </p:nvSpPr>
        <p:spPr>
          <a:xfrm>
            <a:off x="907542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20" name="01-ellipse-118"/>
          <p:cNvSpPr/>
          <p:nvPr/>
        </p:nvSpPr>
        <p:spPr>
          <a:xfrm>
            <a:off x="907542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21" name="01-ellipse-119"/>
          <p:cNvSpPr/>
          <p:nvPr/>
        </p:nvSpPr>
        <p:spPr>
          <a:xfrm>
            <a:off x="907542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22" name="01-ellipse-120"/>
          <p:cNvSpPr/>
          <p:nvPr/>
        </p:nvSpPr>
        <p:spPr>
          <a:xfrm>
            <a:off x="907542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23" name="01-ellipse-121"/>
          <p:cNvSpPr/>
          <p:nvPr/>
        </p:nvSpPr>
        <p:spPr>
          <a:xfrm>
            <a:off x="907542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24" name="01-ellipse-122"/>
          <p:cNvSpPr/>
          <p:nvPr/>
        </p:nvSpPr>
        <p:spPr>
          <a:xfrm>
            <a:off x="907542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25" name="01-ellipse-123"/>
          <p:cNvSpPr/>
          <p:nvPr/>
        </p:nvSpPr>
        <p:spPr>
          <a:xfrm>
            <a:off x="907542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26" name="01-ellipse-124"/>
          <p:cNvSpPr/>
          <p:nvPr/>
        </p:nvSpPr>
        <p:spPr>
          <a:xfrm>
            <a:off x="907542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27" name="01-ellipse-125"/>
          <p:cNvSpPr/>
          <p:nvPr/>
        </p:nvSpPr>
        <p:spPr>
          <a:xfrm>
            <a:off x="907542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28" name="01-ellipse-126"/>
          <p:cNvSpPr/>
          <p:nvPr/>
        </p:nvSpPr>
        <p:spPr>
          <a:xfrm>
            <a:off x="907542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29" name="01-ellipse-127"/>
          <p:cNvSpPr/>
          <p:nvPr/>
        </p:nvSpPr>
        <p:spPr>
          <a:xfrm>
            <a:off x="907542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30" name="01-ellipse-128"/>
          <p:cNvSpPr/>
          <p:nvPr/>
        </p:nvSpPr>
        <p:spPr>
          <a:xfrm>
            <a:off x="907542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31" name="01-ellipse-129"/>
          <p:cNvSpPr/>
          <p:nvPr/>
        </p:nvSpPr>
        <p:spPr>
          <a:xfrm>
            <a:off x="907542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32" name="01-ellipse-130"/>
          <p:cNvSpPr/>
          <p:nvPr/>
        </p:nvSpPr>
        <p:spPr>
          <a:xfrm>
            <a:off x="907542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33" name="01-ellipse-131"/>
          <p:cNvSpPr/>
          <p:nvPr/>
        </p:nvSpPr>
        <p:spPr>
          <a:xfrm>
            <a:off x="928878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34" name="01-ellipse-132"/>
          <p:cNvSpPr/>
          <p:nvPr/>
        </p:nvSpPr>
        <p:spPr>
          <a:xfrm>
            <a:off x="928878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35" name="01-ellipse-133"/>
          <p:cNvSpPr/>
          <p:nvPr/>
        </p:nvSpPr>
        <p:spPr>
          <a:xfrm>
            <a:off x="928878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36" name="01-ellipse-134"/>
          <p:cNvSpPr/>
          <p:nvPr/>
        </p:nvSpPr>
        <p:spPr>
          <a:xfrm>
            <a:off x="928878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37" name="01-ellipse-135"/>
          <p:cNvSpPr/>
          <p:nvPr/>
        </p:nvSpPr>
        <p:spPr>
          <a:xfrm>
            <a:off x="928878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38" name="01-ellipse-136"/>
          <p:cNvSpPr/>
          <p:nvPr/>
        </p:nvSpPr>
        <p:spPr>
          <a:xfrm>
            <a:off x="928878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39" name="01-ellipse-137"/>
          <p:cNvSpPr/>
          <p:nvPr/>
        </p:nvSpPr>
        <p:spPr>
          <a:xfrm>
            <a:off x="928878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40" name="01-ellipse-138"/>
          <p:cNvSpPr/>
          <p:nvPr/>
        </p:nvSpPr>
        <p:spPr>
          <a:xfrm>
            <a:off x="928878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41" name="01-ellipse-139"/>
          <p:cNvSpPr/>
          <p:nvPr/>
        </p:nvSpPr>
        <p:spPr>
          <a:xfrm>
            <a:off x="928878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42" name="01-ellipse-140"/>
          <p:cNvSpPr/>
          <p:nvPr/>
        </p:nvSpPr>
        <p:spPr>
          <a:xfrm>
            <a:off x="928878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43" name="01-ellipse-141"/>
          <p:cNvSpPr/>
          <p:nvPr/>
        </p:nvSpPr>
        <p:spPr>
          <a:xfrm>
            <a:off x="928878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44" name="01-ellipse-142"/>
          <p:cNvSpPr/>
          <p:nvPr/>
        </p:nvSpPr>
        <p:spPr>
          <a:xfrm>
            <a:off x="928878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45" name="01-ellipse-143"/>
          <p:cNvSpPr/>
          <p:nvPr/>
        </p:nvSpPr>
        <p:spPr>
          <a:xfrm>
            <a:off x="928878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46" name="01-ellipse-144"/>
          <p:cNvSpPr/>
          <p:nvPr/>
        </p:nvSpPr>
        <p:spPr>
          <a:xfrm>
            <a:off x="928878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47" name="01-ellipse-145"/>
          <p:cNvSpPr/>
          <p:nvPr/>
        </p:nvSpPr>
        <p:spPr>
          <a:xfrm>
            <a:off x="928878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48" name="01-ellipse-146"/>
          <p:cNvSpPr/>
          <p:nvPr/>
        </p:nvSpPr>
        <p:spPr>
          <a:xfrm>
            <a:off x="928878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49" name="01-ellipse-147"/>
          <p:cNvSpPr/>
          <p:nvPr/>
        </p:nvSpPr>
        <p:spPr>
          <a:xfrm>
            <a:off x="928878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50" name="01-ellipse-148"/>
          <p:cNvSpPr/>
          <p:nvPr/>
        </p:nvSpPr>
        <p:spPr>
          <a:xfrm>
            <a:off x="928878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51" name="01-ellipse-149"/>
          <p:cNvSpPr/>
          <p:nvPr/>
        </p:nvSpPr>
        <p:spPr>
          <a:xfrm>
            <a:off x="928878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52" name="01-ellipse-150"/>
          <p:cNvSpPr/>
          <p:nvPr/>
        </p:nvSpPr>
        <p:spPr>
          <a:xfrm>
            <a:off x="950214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53" name="01-ellipse-151"/>
          <p:cNvSpPr/>
          <p:nvPr/>
        </p:nvSpPr>
        <p:spPr>
          <a:xfrm>
            <a:off x="950214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54" name="01-ellipse-152"/>
          <p:cNvSpPr/>
          <p:nvPr/>
        </p:nvSpPr>
        <p:spPr>
          <a:xfrm>
            <a:off x="950214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55" name="01-ellipse-153"/>
          <p:cNvSpPr/>
          <p:nvPr/>
        </p:nvSpPr>
        <p:spPr>
          <a:xfrm>
            <a:off x="950214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56" name="01-ellipse-154"/>
          <p:cNvSpPr/>
          <p:nvPr/>
        </p:nvSpPr>
        <p:spPr>
          <a:xfrm>
            <a:off x="950214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57" name="01-ellipse-155"/>
          <p:cNvSpPr/>
          <p:nvPr/>
        </p:nvSpPr>
        <p:spPr>
          <a:xfrm>
            <a:off x="950214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58" name="01-ellipse-156"/>
          <p:cNvSpPr/>
          <p:nvPr/>
        </p:nvSpPr>
        <p:spPr>
          <a:xfrm>
            <a:off x="950214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59" name="01-ellipse-157"/>
          <p:cNvSpPr/>
          <p:nvPr/>
        </p:nvSpPr>
        <p:spPr>
          <a:xfrm>
            <a:off x="950214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60" name="01-ellipse-158"/>
          <p:cNvSpPr/>
          <p:nvPr/>
        </p:nvSpPr>
        <p:spPr>
          <a:xfrm>
            <a:off x="950214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61" name="01-ellipse-159"/>
          <p:cNvSpPr/>
          <p:nvPr/>
        </p:nvSpPr>
        <p:spPr>
          <a:xfrm>
            <a:off x="950214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62" name="01-ellipse-160"/>
          <p:cNvSpPr/>
          <p:nvPr/>
        </p:nvSpPr>
        <p:spPr>
          <a:xfrm>
            <a:off x="950214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63" name="01-ellipse-161"/>
          <p:cNvSpPr/>
          <p:nvPr/>
        </p:nvSpPr>
        <p:spPr>
          <a:xfrm>
            <a:off x="950214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64" name="01-ellipse-162"/>
          <p:cNvSpPr/>
          <p:nvPr/>
        </p:nvSpPr>
        <p:spPr>
          <a:xfrm>
            <a:off x="950214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65" name="01-ellipse-163"/>
          <p:cNvSpPr/>
          <p:nvPr/>
        </p:nvSpPr>
        <p:spPr>
          <a:xfrm>
            <a:off x="950214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66" name="01-ellipse-164"/>
          <p:cNvSpPr/>
          <p:nvPr/>
        </p:nvSpPr>
        <p:spPr>
          <a:xfrm>
            <a:off x="950214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67" name="01-ellipse-165"/>
          <p:cNvSpPr/>
          <p:nvPr/>
        </p:nvSpPr>
        <p:spPr>
          <a:xfrm>
            <a:off x="950214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68" name="01-ellipse-166"/>
          <p:cNvSpPr/>
          <p:nvPr/>
        </p:nvSpPr>
        <p:spPr>
          <a:xfrm>
            <a:off x="950214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69" name="01-ellipse-167"/>
          <p:cNvSpPr/>
          <p:nvPr/>
        </p:nvSpPr>
        <p:spPr>
          <a:xfrm>
            <a:off x="950214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70" name="01-ellipse-168"/>
          <p:cNvSpPr/>
          <p:nvPr/>
        </p:nvSpPr>
        <p:spPr>
          <a:xfrm>
            <a:off x="950214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71" name="01-ellipse-169"/>
          <p:cNvSpPr/>
          <p:nvPr/>
        </p:nvSpPr>
        <p:spPr>
          <a:xfrm>
            <a:off x="971550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72" name="01-ellipse-170"/>
          <p:cNvSpPr/>
          <p:nvPr/>
        </p:nvSpPr>
        <p:spPr>
          <a:xfrm>
            <a:off x="971550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73" name="01-ellipse-171"/>
          <p:cNvSpPr/>
          <p:nvPr/>
        </p:nvSpPr>
        <p:spPr>
          <a:xfrm>
            <a:off x="971550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74" name="01-ellipse-172"/>
          <p:cNvSpPr/>
          <p:nvPr/>
        </p:nvSpPr>
        <p:spPr>
          <a:xfrm>
            <a:off x="971550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75" name="01-ellipse-173"/>
          <p:cNvSpPr/>
          <p:nvPr/>
        </p:nvSpPr>
        <p:spPr>
          <a:xfrm>
            <a:off x="971550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76" name="01-ellipse-174"/>
          <p:cNvSpPr/>
          <p:nvPr/>
        </p:nvSpPr>
        <p:spPr>
          <a:xfrm>
            <a:off x="971550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77" name="01-ellipse-175"/>
          <p:cNvSpPr/>
          <p:nvPr/>
        </p:nvSpPr>
        <p:spPr>
          <a:xfrm>
            <a:off x="971550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78" name="01-ellipse-176"/>
          <p:cNvSpPr/>
          <p:nvPr/>
        </p:nvSpPr>
        <p:spPr>
          <a:xfrm>
            <a:off x="971550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79" name="01-ellipse-177"/>
          <p:cNvSpPr/>
          <p:nvPr/>
        </p:nvSpPr>
        <p:spPr>
          <a:xfrm>
            <a:off x="971550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80" name="01-ellipse-178"/>
          <p:cNvSpPr/>
          <p:nvPr/>
        </p:nvSpPr>
        <p:spPr>
          <a:xfrm>
            <a:off x="971550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81" name="01-ellipse-179"/>
          <p:cNvSpPr/>
          <p:nvPr/>
        </p:nvSpPr>
        <p:spPr>
          <a:xfrm>
            <a:off x="971550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82" name="01-ellipse-180"/>
          <p:cNvSpPr/>
          <p:nvPr/>
        </p:nvSpPr>
        <p:spPr>
          <a:xfrm>
            <a:off x="971550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83" name="01-ellipse-181"/>
          <p:cNvSpPr/>
          <p:nvPr/>
        </p:nvSpPr>
        <p:spPr>
          <a:xfrm>
            <a:off x="971550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84" name="01-ellipse-182"/>
          <p:cNvSpPr/>
          <p:nvPr/>
        </p:nvSpPr>
        <p:spPr>
          <a:xfrm>
            <a:off x="971550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85" name="01-ellipse-183"/>
          <p:cNvSpPr/>
          <p:nvPr/>
        </p:nvSpPr>
        <p:spPr>
          <a:xfrm>
            <a:off x="971550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86" name="01-ellipse-184"/>
          <p:cNvSpPr/>
          <p:nvPr/>
        </p:nvSpPr>
        <p:spPr>
          <a:xfrm>
            <a:off x="971550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87" name="01-ellipse-185"/>
          <p:cNvSpPr/>
          <p:nvPr/>
        </p:nvSpPr>
        <p:spPr>
          <a:xfrm>
            <a:off x="971550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88" name="01-ellipse-186"/>
          <p:cNvSpPr/>
          <p:nvPr/>
        </p:nvSpPr>
        <p:spPr>
          <a:xfrm>
            <a:off x="971550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89" name="01-ellipse-187"/>
          <p:cNvSpPr/>
          <p:nvPr/>
        </p:nvSpPr>
        <p:spPr>
          <a:xfrm>
            <a:off x="971550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90" name="01-ellipse-188"/>
          <p:cNvSpPr/>
          <p:nvPr/>
        </p:nvSpPr>
        <p:spPr>
          <a:xfrm>
            <a:off x="992886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91" name="01-ellipse-189"/>
          <p:cNvSpPr/>
          <p:nvPr/>
        </p:nvSpPr>
        <p:spPr>
          <a:xfrm>
            <a:off x="992886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92" name="01-ellipse-190"/>
          <p:cNvSpPr/>
          <p:nvPr/>
        </p:nvSpPr>
        <p:spPr>
          <a:xfrm>
            <a:off x="992886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93" name="01-ellipse-191"/>
          <p:cNvSpPr/>
          <p:nvPr/>
        </p:nvSpPr>
        <p:spPr>
          <a:xfrm>
            <a:off x="992886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94" name="01-ellipse-192"/>
          <p:cNvSpPr/>
          <p:nvPr/>
        </p:nvSpPr>
        <p:spPr>
          <a:xfrm>
            <a:off x="992886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95" name="01-ellipse-193"/>
          <p:cNvSpPr/>
          <p:nvPr/>
        </p:nvSpPr>
        <p:spPr>
          <a:xfrm>
            <a:off x="992886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96" name="01-ellipse-194"/>
          <p:cNvSpPr/>
          <p:nvPr/>
        </p:nvSpPr>
        <p:spPr>
          <a:xfrm>
            <a:off x="992886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97" name="01-ellipse-195"/>
          <p:cNvSpPr/>
          <p:nvPr/>
        </p:nvSpPr>
        <p:spPr>
          <a:xfrm>
            <a:off x="992886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98" name="01-ellipse-196"/>
          <p:cNvSpPr/>
          <p:nvPr/>
        </p:nvSpPr>
        <p:spPr>
          <a:xfrm>
            <a:off x="992886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99" name="01-ellipse-197"/>
          <p:cNvSpPr/>
          <p:nvPr/>
        </p:nvSpPr>
        <p:spPr>
          <a:xfrm>
            <a:off x="992886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00" name="01-ellipse-198"/>
          <p:cNvSpPr/>
          <p:nvPr/>
        </p:nvSpPr>
        <p:spPr>
          <a:xfrm>
            <a:off x="992886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01" name="01-ellipse-199"/>
          <p:cNvSpPr/>
          <p:nvPr/>
        </p:nvSpPr>
        <p:spPr>
          <a:xfrm>
            <a:off x="992886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02" name="01-ellipse-200"/>
          <p:cNvSpPr/>
          <p:nvPr/>
        </p:nvSpPr>
        <p:spPr>
          <a:xfrm>
            <a:off x="992886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03" name="01-ellipse-201"/>
          <p:cNvSpPr/>
          <p:nvPr/>
        </p:nvSpPr>
        <p:spPr>
          <a:xfrm>
            <a:off x="992886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04" name="01-ellipse-202"/>
          <p:cNvSpPr/>
          <p:nvPr/>
        </p:nvSpPr>
        <p:spPr>
          <a:xfrm>
            <a:off x="992886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05" name="01-ellipse-203"/>
          <p:cNvSpPr/>
          <p:nvPr/>
        </p:nvSpPr>
        <p:spPr>
          <a:xfrm>
            <a:off x="992886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06" name="01-ellipse-204"/>
          <p:cNvSpPr/>
          <p:nvPr/>
        </p:nvSpPr>
        <p:spPr>
          <a:xfrm>
            <a:off x="992886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07" name="01-ellipse-205"/>
          <p:cNvSpPr/>
          <p:nvPr/>
        </p:nvSpPr>
        <p:spPr>
          <a:xfrm>
            <a:off x="992886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08" name="01-ellipse-206"/>
          <p:cNvSpPr/>
          <p:nvPr/>
        </p:nvSpPr>
        <p:spPr>
          <a:xfrm>
            <a:off x="992886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09" name="01-ellipse-207"/>
          <p:cNvSpPr/>
          <p:nvPr/>
        </p:nvSpPr>
        <p:spPr>
          <a:xfrm>
            <a:off x="1014222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10" name="01-ellipse-208"/>
          <p:cNvSpPr/>
          <p:nvPr/>
        </p:nvSpPr>
        <p:spPr>
          <a:xfrm>
            <a:off x="1014222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11" name="01-ellipse-209"/>
          <p:cNvSpPr/>
          <p:nvPr/>
        </p:nvSpPr>
        <p:spPr>
          <a:xfrm>
            <a:off x="1014222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12" name="01-ellipse-210"/>
          <p:cNvSpPr/>
          <p:nvPr/>
        </p:nvSpPr>
        <p:spPr>
          <a:xfrm>
            <a:off x="1014222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13" name="01-ellipse-211"/>
          <p:cNvSpPr/>
          <p:nvPr/>
        </p:nvSpPr>
        <p:spPr>
          <a:xfrm>
            <a:off x="1014222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14" name="01-ellipse-212"/>
          <p:cNvSpPr/>
          <p:nvPr/>
        </p:nvSpPr>
        <p:spPr>
          <a:xfrm>
            <a:off x="1014222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15" name="01-ellipse-213"/>
          <p:cNvSpPr/>
          <p:nvPr/>
        </p:nvSpPr>
        <p:spPr>
          <a:xfrm>
            <a:off x="1014222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16" name="01-ellipse-214"/>
          <p:cNvSpPr/>
          <p:nvPr/>
        </p:nvSpPr>
        <p:spPr>
          <a:xfrm>
            <a:off x="1014222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17" name="01-ellipse-215"/>
          <p:cNvSpPr/>
          <p:nvPr/>
        </p:nvSpPr>
        <p:spPr>
          <a:xfrm>
            <a:off x="1014222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18" name="01-ellipse-216"/>
          <p:cNvSpPr/>
          <p:nvPr/>
        </p:nvSpPr>
        <p:spPr>
          <a:xfrm>
            <a:off x="1014222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19" name="01-ellipse-217"/>
          <p:cNvSpPr/>
          <p:nvPr/>
        </p:nvSpPr>
        <p:spPr>
          <a:xfrm>
            <a:off x="1014222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20" name="01-ellipse-218"/>
          <p:cNvSpPr/>
          <p:nvPr/>
        </p:nvSpPr>
        <p:spPr>
          <a:xfrm>
            <a:off x="1014222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21" name="01-ellipse-219"/>
          <p:cNvSpPr/>
          <p:nvPr/>
        </p:nvSpPr>
        <p:spPr>
          <a:xfrm>
            <a:off x="1014222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22" name="01-ellipse-220"/>
          <p:cNvSpPr/>
          <p:nvPr/>
        </p:nvSpPr>
        <p:spPr>
          <a:xfrm>
            <a:off x="1014222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23" name="01-ellipse-221"/>
          <p:cNvSpPr/>
          <p:nvPr/>
        </p:nvSpPr>
        <p:spPr>
          <a:xfrm>
            <a:off x="1014222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24" name="01-ellipse-222"/>
          <p:cNvSpPr/>
          <p:nvPr/>
        </p:nvSpPr>
        <p:spPr>
          <a:xfrm>
            <a:off x="1014222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25" name="01-ellipse-223"/>
          <p:cNvSpPr/>
          <p:nvPr/>
        </p:nvSpPr>
        <p:spPr>
          <a:xfrm>
            <a:off x="1014222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26" name="01-ellipse-224"/>
          <p:cNvSpPr/>
          <p:nvPr/>
        </p:nvSpPr>
        <p:spPr>
          <a:xfrm>
            <a:off x="1014222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27" name="01-ellipse-225"/>
          <p:cNvSpPr/>
          <p:nvPr/>
        </p:nvSpPr>
        <p:spPr>
          <a:xfrm>
            <a:off x="1014222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28" name="01-ellipse-226"/>
          <p:cNvSpPr/>
          <p:nvPr/>
        </p:nvSpPr>
        <p:spPr>
          <a:xfrm>
            <a:off x="1035558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29" name="01-ellipse-227"/>
          <p:cNvSpPr/>
          <p:nvPr/>
        </p:nvSpPr>
        <p:spPr>
          <a:xfrm>
            <a:off x="1035558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30" name="01-ellipse-228"/>
          <p:cNvSpPr/>
          <p:nvPr/>
        </p:nvSpPr>
        <p:spPr>
          <a:xfrm>
            <a:off x="1035558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31" name="01-ellipse-229"/>
          <p:cNvSpPr/>
          <p:nvPr/>
        </p:nvSpPr>
        <p:spPr>
          <a:xfrm>
            <a:off x="1035558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32" name="01-ellipse-230"/>
          <p:cNvSpPr/>
          <p:nvPr/>
        </p:nvSpPr>
        <p:spPr>
          <a:xfrm>
            <a:off x="1035558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33" name="01-ellipse-231"/>
          <p:cNvSpPr/>
          <p:nvPr/>
        </p:nvSpPr>
        <p:spPr>
          <a:xfrm>
            <a:off x="1035558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34" name="01-ellipse-232"/>
          <p:cNvSpPr/>
          <p:nvPr/>
        </p:nvSpPr>
        <p:spPr>
          <a:xfrm>
            <a:off x="1035558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35" name="01-ellipse-233"/>
          <p:cNvSpPr/>
          <p:nvPr/>
        </p:nvSpPr>
        <p:spPr>
          <a:xfrm>
            <a:off x="1035558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36" name="01-ellipse-234"/>
          <p:cNvSpPr/>
          <p:nvPr/>
        </p:nvSpPr>
        <p:spPr>
          <a:xfrm>
            <a:off x="1035558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37" name="01-ellipse-235"/>
          <p:cNvSpPr/>
          <p:nvPr/>
        </p:nvSpPr>
        <p:spPr>
          <a:xfrm>
            <a:off x="1035558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38" name="01-ellipse-236"/>
          <p:cNvSpPr/>
          <p:nvPr/>
        </p:nvSpPr>
        <p:spPr>
          <a:xfrm>
            <a:off x="1035558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39" name="01-ellipse-237"/>
          <p:cNvSpPr/>
          <p:nvPr/>
        </p:nvSpPr>
        <p:spPr>
          <a:xfrm>
            <a:off x="1035558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40" name="01-ellipse-238"/>
          <p:cNvSpPr/>
          <p:nvPr/>
        </p:nvSpPr>
        <p:spPr>
          <a:xfrm>
            <a:off x="1035558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41" name="01-ellipse-239"/>
          <p:cNvSpPr/>
          <p:nvPr/>
        </p:nvSpPr>
        <p:spPr>
          <a:xfrm>
            <a:off x="1035558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42" name="01-ellipse-240"/>
          <p:cNvSpPr/>
          <p:nvPr/>
        </p:nvSpPr>
        <p:spPr>
          <a:xfrm>
            <a:off x="1035558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43" name="01-ellipse-241"/>
          <p:cNvSpPr/>
          <p:nvPr/>
        </p:nvSpPr>
        <p:spPr>
          <a:xfrm>
            <a:off x="1035558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44" name="01-ellipse-242"/>
          <p:cNvSpPr/>
          <p:nvPr/>
        </p:nvSpPr>
        <p:spPr>
          <a:xfrm>
            <a:off x="1035558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45" name="01-ellipse-243"/>
          <p:cNvSpPr/>
          <p:nvPr/>
        </p:nvSpPr>
        <p:spPr>
          <a:xfrm>
            <a:off x="1035558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46" name="01-ellipse-244"/>
          <p:cNvSpPr/>
          <p:nvPr/>
        </p:nvSpPr>
        <p:spPr>
          <a:xfrm>
            <a:off x="1035558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47" name="01-ellipse-245"/>
          <p:cNvSpPr/>
          <p:nvPr/>
        </p:nvSpPr>
        <p:spPr>
          <a:xfrm>
            <a:off x="1056894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48" name="01-ellipse-246"/>
          <p:cNvSpPr/>
          <p:nvPr/>
        </p:nvSpPr>
        <p:spPr>
          <a:xfrm>
            <a:off x="1056894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49" name="01-ellipse-247"/>
          <p:cNvSpPr/>
          <p:nvPr/>
        </p:nvSpPr>
        <p:spPr>
          <a:xfrm>
            <a:off x="1056894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50" name="01-ellipse-248"/>
          <p:cNvSpPr/>
          <p:nvPr/>
        </p:nvSpPr>
        <p:spPr>
          <a:xfrm>
            <a:off x="1056894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51" name="01-ellipse-249"/>
          <p:cNvSpPr/>
          <p:nvPr/>
        </p:nvSpPr>
        <p:spPr>
          <a:xfrm>
            <a:off x="1056894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52" name="01-ellipse-250"/>
          <p:cNvSpPr/>
          <p:nvPr/>
        </p:nvSpPr>
        <p:spPr>
          <a:xfrm>
            <a:off x="1056894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53" name="01-ellipse-251"/>
          <p:cNvSpPr/>
          <p:nvPr/>
        </p:nvSpPr>
        <p:spPr>
          <a:xfrm>
            <a:off x="1056894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54" name="01-ellipse-252"/>
          <p:cNvSpPr/>
          <p:nvPr/>
        </p:nvSpPr>
        <p:spPr>
          <a:xfrm>
            <a:off x="1056894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55" name="01-ellipse-253"/>
          <p:cNvSpPr/>
          <p:nvPr/>
        </p:nvSpPr>
        <p:spPr>
          <a:xfrm>
            <a:off x="1056894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56" name="01-ellipse-254"/>
          <p:cNvSpPr/>
          <p:nvPr/>
        </p:nvSpPr>
        <p:spPr>
          <a:xfrm>
            <a:off x="1056894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57" name="01-ellipse-255"/>
          <p:cNvSpPr/>
          <p:nvPr/>
        </p:nvSpPr>
        <p:spPr>
          <a:xfrm>
            <a:off x="1056894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58" name="01-ellipse-256"/>
          <p:cNvSpPr/>
          <p:nvPr/>
        </p:nvSpPr>
        <p:spPr>
          <a:xfrm>
            <a:off x="1056894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59" name="01-ellipse-257"/>
          <p:cNvSpPr/>
          <p:nvPr/>
        </p:nvSpPr>
        <p:spPr>
          <a:xfrm>
            <a:off x="1056894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60" name="01-ellipse-258"/>
          <p:cNvSpPr/>
          <p:nvPr/>
        </p:nvSpPr>
        <p:spPr>
          <a:xfrm>
            <a:off x="1056894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61" name="01-ellipse-259"/>
          <p:cNvSpPr/>
          <p:nvPr/>
        </p:nvSpPr>
        <p:spPr>
          <a:xfrm>
            <a:off x="1056894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62" name="01-ellipse-260"/>
          <p:cNvSpPr/>
          <p:nvPr/>
        </p:nvSpPr>
        <p:spPr>
          <a:xfrm>
            <a:off x="1056894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63" name="01-ellipse-261"/>
          <p:cNvSpPr/>
          <p:nvPr/>
        </p:nvSpPr>
        <p:spPr>
          <a:xfrm>
            <a:off x="1056894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64" name="01-ellipse-262"/>
          <p:cNvSpPr/>
          <p:nvPr/>
        </p:nvSpPr>
        <p:spPr>
          <a:xfrm>
            <a:off x="1056894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65" name="01-ellipse-263"/>
          <p:cNvSpPr/>
          <p:nvPr/>
        </p:nvSpPr>
        <p:spPr>
          <a:xfrm>
            <a:off x="1056894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66" name="01-ellipse-264"/>
          <p:cNvSpPr/>
          <p:nvPr/>
        </p:nvSpPr>
        <p:spPr>
          <a:xfrm>
            <a:off x="1078230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67" name="01-ellipse-265"/>
          <p:cNvSpPr/>
          <p:nvPr/>
        </p:nvSpPr>
        <p:spPr>
          <a:xfrm>
            <a:off x="1078230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68" name="01-ellipse-266"/>
          <p:cNvSpPr/>
          <p:nvPr/>
        </p:nvSpPr>
        <p:spPr>
          <a:xfrm>
            <a:off x="1078230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69" name="01-ellipse-267"/>
          <p:cNvSpPr/>
          <p:nvPr/>
        </p:nvSpPr>
        <p:spPr>
          <a:xfrm>
            <a:off x="1078230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70" name="01-ellipse-268"/>
          <p:cNvSpPr/>
          <p:nvPr/>
        </p:nvSpPr>
        <p:spPr>
          <a:xfrm>
            <a:off x="1078230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71" name="01-ellipse-269"/>
          <p:cNvSpPr/>
          <p:nvPr/>
        </p:nvSpPr>
        <p:spPr>
          <a:xfrm>
            <a:off x="1078230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72" name="01-ellipse-270"/>
          <p:cNvSpPr/>
          <p:nvPr/>
        </p:nvSpPr>
        <p:spPr>
          <a:xfrm>
            <a:off x="1078230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73" name="01-ellipse-271"/>
          <p:cNvSpPr/>
          <p:nvPr/>
        </p:nvSpPr>
        <p:spPr>
          <a:xfrm>
            <a:off x="1078230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74" name="01-ellipse-272"/>
          <p:cNvSpPr/>
          <p:nvPr/>
        </p:nvSpPr>
        <p:spPr>
          <a:xfrm>
            <a:off x="1078230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75" name="01-ellipse-273"/>
          <p:cNvSpPr/>
          <p:nvPr/>
        </p:nvSpPr>
        <p:spPr>
          <a:xfrm>
            <a:off x="1078230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76" name="01-ellipse-274"/>
          <p:cNvSpPr/>
          <p:nvPr/>
        </p:nvSpPr>
        <p:spPr>
          <a:xfrm>
            <a:off x="1078230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77" name="01-ellipse-275"/>
          <p:cNvSpPr/>
          <p:nvPr/>
        </p:nvSpPr>
        <p:spPr>
          <a:xfrm>
            <a:off x="1078230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78" name="01-ellipse-276"/>
          <p:cNvSpPr/>
          <p:nvPr/>
        </p:nvSpPr>
        <p:spPr>
          <a:xfrm>
            <a:off x="1078230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79" name="01-ellipse-277"/>
          <p:cNvSpPr/>
          <p:nvPr/>
        </p:nvSpPr>
        <p:spPr>
          <a:xfrm>
            <a:off x="1078230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80" name="01-ellipse-278"/>
          <p:cNvSpPr/>
          <p:nvPr/>
        </p:nvSpPr>
        <p:spPr>
          <a:xfrm>
            <a:off x="1078230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81" name="01-ellipse-279"/>
          <p:cNvSpPr/>
          <p:nvPr/>
        </p:nvSpPr>
        <p:spPr>
          <a:xfrm>
            <a:off x="1078230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82" name="01-ellipse-280"/>
          <p:cNvSpPr/>
          <p:nvPr/>
        </p:nvSpPr>
        <p:spPr>
          <a:xfrm>
            <a:off x="1078230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83" name="01-ellipse-281"/>
          <p:cNvSpPr/>
          <p:nvPr/>
        </p:nvSpPr>
        <p:spPr>
          <a:xfrm>
            <a:off x="1078230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84" name="01-ellipse-282"/>
          <p:cNvSpPr/>
          <p:nvPr/>
        </p:nvSpPr>
        <p:spPr>
          <a:xfrm>
            <a:off x="1078230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85" name="01-ellipse-283"/>
          <p:cNvSpPr/>
          <p:nvPr/>
        </p:nvSpPr>
        <p:spPr>
          <a:xfrm>
            <a:off x="1099566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86" name="01-ellipse-284"/>
          <p:cNvSpPr/>
          <p:nvPr/>
        </p:nvSpPr>
        <p:spPr>
          <a:xfrm>
            <a:off x="1099566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87" name="01-ellipse-285"/>
          <p:cNvSpPr/>
          <p:nvPr/>
        </p:nvSpPr>
        <p:spPr>
          <a:xfrm>
            <a:off x="1099566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88" name="01-ellipse-286"/>
          <p:cNvSpPr/>
          <p:nvPr/>
        </p:nvSpPr>
        <p:spPr>
          <a:xfrm>
            <a:off x="1099566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89" name="01-ellipse-287"/>
          <p:cNvSpPr/>
          <p:nvPr/>
        </p:nvSpPr>
        <p:spPr>
          <a:xfrm>
            <a:off x="1099566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90" name="01-ellipse-288"/>
          <p:cNvSpPr/>
          <p:nvPr/>
        </p:nvSpPr>
        <p:spPr>
          <a:xfrm>
            <a:off x="1099566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91" name="01-ellipse-289"/>
          <p:cNvSpPr/>
          <p:nvPr/>
        </p:nvSpPr>
        <p:spPr>
          <a:xfrm>
            <a:off x="1099566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92" name="01-ellipse-290"/>
          <p:cNvSpPr/>
          <p:nvPr/>
        </p:nvSpPr>
        <p:spPr>
          <a:xfrm>
            <a:off x="1099566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93" name="01-ellipse-291"/>
          <p:cNvSpPr/>
          <p:nvPr/>
        </p:nvSpPr>
        <p:spPr>
          <a:xfrm>
            <a:off x="1099566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94" name="01-ellipse-292"/>
          <p:cNvSpPr/>
          <p:nvPr/>
        </p:nvSpPr>
        <p:spPr>
          <a:xfrm>
            <a:off x="1099566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95" name="01-ellipse-293"/>
          <p:cNvSpPr/>
          <p:nvPr/>
        </p:nvSpPr>
        <p:spPr>
          <a:xfrm>
            <a:off x="1099566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96" name="01-ellipse-294"/>
          <p:cNvSpPr/>
          <p:nvPr/>
        </p:nvSpPr>
        <p:spPr>
          <a:xfrm>
            <a:off x="1099566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97" name="01-ellipse-295"/>
          <p:cNvSpPr/>
          <p:nvPr/>
        </p:nvSpPr>
        <p:spPr>
          <a:xfrm>
            <a:off x="1099566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98" name="01-ellipse-296"/>
          <p:cNvSpPr/>
          <p:nvPr/>
        </p:nvSpPr>
        <p:spPr>
          <a:xfrm>
            <a:off x="1099566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99" name="01-ellipse-297"/>
          <p:cNvSpPr/>
          <p:nvPr/>
        </p:nvSpPr>
        <p:spPr>
          <a:xfrm>
            <a:off x="1099566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00" name="01-ellipse-298"/>
          <p:cNvSpPr/>
          <p:nvPr/>
        </p:nvSpPr>
        <p:spPr>
          <a:xfrm>
            <a:off x="1099566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01" name="01-ellipse-299"/>
          <p:cNvSpPr/>
          <p:nvPr/>
        </p:nvSpPr>
        <p:spPr>
          <a:xfrm>
            <a:off x="1099566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02" name="01-ellipse-300"/>
          <p:cNvSpPr/>
          <p:nvPr/>
        </p:nvSpPr>
        <p:spPr>
          <a:xfrm>
            <a:off x="1099566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03" name="01-ellipse-301"/>
          <p:cNvSpPr/>
          <p:nvPr/>
        </p:nvSpPr>
        <p:spPr>
          <a:xfrm>
            <a:off x="1099566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04" name="01-ellipse-302"/>
          <p:cNvSpPr/>
          <p:nvPr/>
        </p:nvSpPr>
        <p:spPr>
          <a:xfrm>
            <a:off x="1120902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05" name="01-ellipse-303"/>
          <p:cNvSpPr/>
          <p:nvPr/>
        </p:nvSpPr>
        <p:spPr>
          <a:xfrm>
            <a:off x="1120902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06" name="01-ellipse-304"/>
          <p:cNvSpPr/>
          <p:nvPr/>
        </p:nvSpPr>
        <p:spPr>
          <a:xfrm>
            <a:off x="1120902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07" name="01-ellipse-305"/>
          <p:cNvSpPr/>
          <p:nvPr/>
        </p:nvSpPr>
        <p:spPr>
          <a:xfrm>
            <a:off x="1120902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08" name="01-ellipse-306"/>
          <p:cNvSpPr/>
          <p:nvPr/>
        </p:nvSpPr>
        <p:spPr>
          <a:xfrm>
            <a:off x="1120902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09" name="01-ellipse-307"/>
          <p:cNvSpPr/>
          <p:nvPr/>
        </p:nvSpPr>
        <p:spPr>
          <a:xfrm>
            <a:off x="1120902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10" name="01-ellipse-308"/>
          <p:cNvSpPr/>
          <p:nvPr/>
        </p:nvSpPr>
        <p:spPr>
          <a:xfrm>
            <a:off x="1120902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11" name="01-ellipse-309"/>
          <p:cNvSpPr/>
          <p:nvPr/>
        </p:nvSpPr>
        <p:spPr>
          <a:xfrm>
            <a:off x="1120902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12" name="01-ellipse-310"/>
          <p:cNvSpPr/>
          <p:nvPr/>
        </p:nvSpPr>
        <p:spPr>
          <a:xfrm>
            <a:off x="1120902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13" name="01-ellipse-311"/>
          <p:cNvSpPr/>
          <p:nvPr/>
        </p:nvSpPr>
        <p:spPr>
          <a:xfrm>
            <a:off x="1120902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14" name="01-ellipse-312"/>
          <p:cNvSpPr/>
          <p:nvPr/>
        </p:nvSpPr>
        <p:spPr>
          <a:xfrm>
            <a:off x="1120902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15" name="01-ellipse-313"/>
          <p:cNvSpPr/>
          <p:nvPr/>
        </p:nvSpPr>
        <p:spPr>
          <a:xfrm>
            <a:off x="1120902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16" name="01-ellipse-314"/>
          <p:cNvSpPr/>
          <p:nvPr/>
        </p:nvSpPr>
        <p:spPr>
          <a:xfrm>
            <a:off x="1120902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17" name="01-ellipse-315"/>
          <p:cNvSpPr/>
          <p:nvPr/>
        </p:nvSpPr>
        <p:spPr>
          <a:xfrm>
            <a:off x="1120902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18" name="01-ellipse-316"/>
          <p:cNvSpPr/>
          <p:nvPr/>
        </p:nvSpPr>
        <p:spPr>
          <a:xfrm>
            <a:off x="1120902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19" name="01-ellipse-317"/>
          <p:cNvSpPr/>
          <p:nvPr/>
        </p:nvSpPr>
        <p:spPr>
          <a:xfrm>
            <a:off x="1120902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20" name="01-ellipse-318"/>
          <p:cNvSpPr/>
          <p:nvPr/>
        </p:nvSpPr>
        <p:spPr>
          <a:xfrm>
            <a:off x="1120902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21" name="01-ellipse-319"/>
          <p:cNvSpPr/>
          <p:nvPr/>
        </p:nvSpPr>
        <p:spPr>
          <a:xfrm>
            <a:off x="1120902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22" name="01-ellipse-320"/>
          <p:cNvSpPr/>
          <p:nvPr/>
        </p:nvSpPr>
        <p:spPr>
          <a:xfrm>
            <a:off x="1120902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23" name="01-ellipse-321"/>
          <p:cNvSpPr/>
          <p:nvPr/>
        </p:nvSpPr>
        <p:spPr>
          <a:xfrm>
            <a:off x="1142238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24" name="01-ellipse-322"/>
          <p:cNvSpPr/>
          <p:nvPr/>
        </p:nvSpPr>
        <p:spPr>
          <a:xfrm>
            <a:off x="1142238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25" name="01-ellipse-323"/>
          <p:cNvSpPr/>
          <p:nvPr/>
        </p:nvSpPr>
        <p:spPr>
          <a:xfrm>
            <a:off x="1142238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26" name="01-ellipse-324"/>
          <p:cNvSpPr/>
          <p:nvPr/>
        </p:nvSpPr>
        <p:spPr>
          <a:xfrm>
            <a:off x="1142238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27" name="01-ellipse-325"/>
          <p:cNvSpPr/>
          <p:nvPr/>
        </p:nvSpPr>
        <p:spPr>
          <a:xfrm>
            <a:off x="1142238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28" name="01-ellipse-326"/>
          <p:cNvSpPr/>
          <p:nvPr/>
        </p:nvSpPr>
        <p:spPr>
          <a:xfrm>
            <a:off x="1142238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29" name="01-ellipse-327"/>
          <p:cNvSpPr/>
          <p:nvPr/>
        </p:nvSpPr>
        <p:spPr>
          <a:xfrm>
            <a:off x="1142238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30" name="01-ellipse-328"/>
          <p:cNvSpPr/>
          <p:nvPr/>
        </p:nvSpPr>
        <p:spPr>
          <a:xfrm>
            <a:off x="1142238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31" name="01-ellipse-329"/>
          <p:cNvSpPr/>
          <p:nvPr/>
        </p:nvSpPr>
        <p:spPr>
          <a:xfrm>
            <a:off x="1142238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32" name="01-ellipse-330"/>
          <p:cNvSpPr/>
          <p:nvPr/>
        </p:nvSpPr>
        <p:spPr>
          <a:xfrm>
            <a:off x="1142238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33" name="01-ellipse-331"/>
          <p:cNvSpPr/>
          <p:nvPr/>
        </p:nvSpPr>
        <p:spPr>
          <a:xfrm>
            <a:off x="1142238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34" name="01-ellipse-332"/>
          <p:cNvSpPr/>
          <p:nvPr/>
        </p:nvSpPr>
        <p:spPr>
          <a:xfrm>
            <a:off x="1142238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35" name="01-ellipse-333"/>
          <p:cNvSpPr/>
          <p:nvPr/>
        </p:nvSpPr>
        <p:spPr>
          <a:xfrm>
            <a:off x="1142238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36" name="01-ellipse-334"/>
          <p:cNvSpPr/>
          <p:nvPr/>
        </p:nvSpPr>
        <p:spPr>
          <a:xfrm>
            <a:off x="1142238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37" name="01-ellipse-335"/>
          <p:cNvSpPr/>
          <p:nvPr/>
        </p:nvSpPr>
        <p:spPr>
          <a:xfrm>
            <a:off x="1142238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38" name="01-ellipse-336"/>
          <p:cNvSpPr/>
          <p:nvPr/>
        </p:nvSpPr>
        <p:spPr>
          <a:xfrm>
            <a:off x="1142238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39" name="01-ellipse-337"/>
          <p:cNvSpPr/>
          <p:nvPr/>
        </p:nvSpPr>
        <p:spPr>
          <a:xfrm>
            <a:off x="1142238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40" name="01-ellipse-338"/>
          <p:cNvSpPr/>
          <p:nvPr/>
        </p:nvSpPr>
        <p:spPr>
          <a:xfrm>
            <a:off x="1142238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41" name="01-ellipse-339"/>
          <p:cNvSpPr/>
          <p:nvPr/>
        </p:nvSpPr>
        <p:spPr>
          <a:xfrm>
            <a:off x="1142238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42" name="01-ellipse-340"/>
          <p:cNvSpPr/>
          <p:nvPr/>
        </p:nvSpPr>
        <p:spPr>
          <a:xfrm>
            <a:off x="11635740" y="15621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43" name="01-ellipse-341"/>
          <p:cNvSpPr/>
          <p:nvPr/>
        </p:nvSpPr>
        <p:spPr>
          <a:xfrm>
            <a:off x="11635740" y="17754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44" name="01-ellipse-342"/>
          <p:cNvSpPr/>
          <p:nvPr/>
        </p:nvSpPr>
        <p:spPr>
          <a:xfrm>
            <a:off x="11635740" y="19888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45" name="01-ellipse-343"/>
          <p:cNvSpPr/>
          <p:nvPr/>
        </p:nvSpPr>
        <p:spPr>
          <a:xfrm>
            <a:off x="11635740" y="22021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46" name="01-ellipse-344"/>
          <p:cNvSpPr/>
          <p:nvPr/>
        </p:nvSpPr>
        <p:spPr>
          <a:xfrm>
            <a:off x="11635740" y="24155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47" name="01-ellipse-345"/>
          <p:cNvSpPr/>
          <p:nvPr/>
        </p:nvSpPr>
        <p:spPr>
          <a:xfrm>
            <a:off x="11635740" y="26289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48" name="01-ellipse-346"/>
          <p:cNvSpPr/>
          <p:nvPr/>
        </p:nvSpPr>
        <p:spPr>
          <a:xfrm>
            <a:off x="11635740" y="28422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49" name="01-ellipse-347"/>
          <p:cNvSpPr/>
          <p:nvPr/>
        </p:nvSpPr>
        <p:spPr>
          <a:xfrm>
            <a:off x="11635740" y="30556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50" name="01-ellipse-348"/>
          <p:cNvSpPr/>
          <p:nvPr/>
        </p:nvSpPr>
        <p:spPr>
          <a:xfrm>
            <a:off x="11635740" y="32689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51" name="01-ellipse-349"/>
          <p:cNvSpPr/>
          <p:nvPr/>
        </p:nvSpPr>
        <p:spPr>
          <a:xfrm>
            <a:off x="11635740" y="34823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52" name="01-ellipse-350"/>
          <p:cNvSpPr/>
          <p:nvPr/>
        </p:nvSpPr>
        <p:spPr>
          <a:xfrm>
            <a:off x="11635740" y="36957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53" name="01-ellipse-351"/>
          <p:cNvSpPr/>
          <p:nvPr/>
        </p:nvSpPr>
        <p:spPr>
          <a:xfrm>
            <a:off x="11635740" y="39090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54" name="01-ellipse-352"/>
          <p:cNvSpPr/>
          <p:nvPr/>
        </p:nvSpPr>
        <p:spPr>
          <a:xfrm>
            <a:off x="11635740" y="41224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55" name="01-ellipse-353"/>
          <p:cNvSpPr/>
          <p:nvPr/>
        </p:nvSpPr>
        <p:spPr>
          <a:xfrm>
            <a:off x="11635740" y="43357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56" name="01-ellipse-354"/>
          <p:cNvSpPr/>
          <p:nvPr/>
        </p:nvSpPr>
        <p:spPr>
          <a:xfrm>
            <a:off x="11635740" y="454914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57" name="01-ellipse-355"/>
          <p:cNvSpPr/>
          <p:nvPr/>
        </p:nvSpPr>
        <p:spPr>
          <a:xfrm>
            <a:off x="11635740" y="476250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58" name="01-ellipse-356"/>
          <p:cNvSpPr/>
          <p:nvPr/>
        </p:nvSpPr>
        <p:spPr>
          <a:xfrm>
            <a:off x="11635740" y="497586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59" name="01-ellipse-357"/>
          <p:cNvSpPr/>
          <p:nvPr/>
        </p:nvSpPr>
        <p:spPr>
          <a:xfrm>
            <a:off x="11635740" y="518922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60" name="01-ellipse-358"/>
          <p:cNvSpPr/>
          <p:nvPr/>
        </p:nvSpPr>
        <p:spPr>
          <a:xfrm>
            <a:off x="11635740" y="5402580"/>
            <a:ext cx="15240" cy="15240"/>
          </a:xfrm>
          <a:prstGeom prst="ellipse">
            <a:avLst/>
          </a:prstGeom>
          <a:solidFill>
            <a:srgbClr val="334138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61" name="01-text-359"/>
          <p:cNvSpPr/>
          <p:nvPr/>
        </p:nvSpPr>
        <p:spPr>
          <a:xfrm>
            <a:off x="8077200" y="1593473"/>
            <a:ext cx="1202291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DATA FLOW</a:t>
            </a:r>
            <a:endParaRPr lang="ru-RU" sz="960" dirty="0"/>
          </a:p>
        </p:txBody>
      </p:sp>
      <p:sp>
        <p:nvSpPr>
          <p:cNvPr id="362" name="01-rect-360"/>
          <p:cNvSpPr/>
          <p:nvPr/>
        </p:nvSpPr>
        <p:spPr>
          <a:xfrm>
            <a:off x="8046720" y="2133600"/>
            <a:ext cx="990600" cy="320040"/>
          </a:xfrm>
          <a:prstGeom prst="rect">
            <a:avLst/>
          </a:prstGeom>
          <a:solidFill>
            <a:srgbClr val="1C2A22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363" name="01-text-361"/>
          <p:cNvSpPr/>
          <p:nvPr/>
        </p:nvSpPr>
        <p:spPr>
          <a:xfrm>
            <a:off x="8309447" y="2243134"/>
            <a:ext cx="465147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020" dirty="0">
                <a:solidFill>
                  <a:srgbClr val="EAB2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endParaRPr lang="ru-RU" sz="1020" dirty="0"/>
          </a:p>
        </p:txBody>
      </p:sp>
      <p:sp>
        <p:nvSpPr>
          <p:cNvPr id="364" name="01-line-362"/>
          <p:cNvSpPr/>
          <p:nvPr/>
        </p:nvSpPr>
        <p:spPr>
          <a:xfrm>
            <a:off x="8542020" y="2453640"/>
            <a:ext cx="0" cy="350520"/>
          </a:xfrm>
          <a:prstGeom prst="line">
            <a:avLst/>
          </a:prstGeom>
          <a:noFill/>
          <a:ln w="15240">
            <a:solidFill>
              <a:srgbClr val="334138"/>
            </a:solidFill>
            <a:prstDash val="solid"/>
          </a:ln>
        </p:spPr>
      </p:sp>
      <p:sp>
        <p:nvSpPr>
          <p:cNvPr id="365" name="01-line-363"/>
          <p:cNvSpPr/>
          <p:nvPr/>
        </p:nvSpPr>
        <p:spPr>
          <a:xfrm>
            <a:off x="8542020" y="2804160"/>
            <a:ext cx="1211580" cy="0"/>
          </a:xfrm>
          <a:prstGeom prst="line">
            <a:avLst/>
          </a:prstGeom>
          <a:noFill/>
          <a:ln w="15240">
            <a:solidFill>
              <a:srgbClr val="334138"/>
            </a:solidFill>
            <a:prstDash val="solid"/>
          </a:ln>
        </p:spPr>
      </p:sp>
      <p:sp>
        <p:nvSpPr>
          <p:cNvPr id="366" name="01-rect-364"/>
          <p:cNvSpPr/>
          <p:nvPr/>
        </p:nvSpPr>
        <p:spPr>
          <a:xfrm>
            <a:off x="9296400" y="2133600"/>
            <a:ext cx="990600" cy="320040"/>
          </a:xfrm>
          <a:prstGeom prst="rect">
            <a:avLst/>
          </a:prstGeom>
          <a:solidFill>
            <a:srgbClr val="1C2A22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367" name="01-text-365"/>
          <p:cNvSpPr/>
          <p:nvPr/>
        </p:nvSpPr>
        <p:spPr>
          <a:xfrm>
            <a:off x="9485412" y="2243134"/>
            <a:ext cx="612576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020" dirty="0">
                <a:solidFill>
                  <a:srgbClr val="EAB2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PASSPORT</a:t>
            </a:r>
            <a:endParaRPr lang="ru-RU" sz="1020" dirty="0"/>
          </a:p>
        </p:txBody>
      </p:sp>
      <p:sp>
        <p:nvSpPr>
          <p:cNvPr id="368" name="01-line-366"/>
          <p:cNvSpPr/>
          <p:nvPr/>
        </p:nvSpPr>
        <p:spPr>
          <a:xfrm>
            <a:off x="9791700" y="2453640"/>
            <a:ext cx="0" cy="350520"/>
          </a:xfrm>
          <a:prstGeom prst="line">
            <a:avLst/>
          </a:prstGeom>
          <a:noFill/>
          <a:ln w="15240">
            <a:solidFill>
              <a:srgbClr val="334138"/>
            </a:solidFill>
            <a:prstDash val="solid"/>
          </a:ln>
        </p:spPr>
      </p:sp>
      <p:sp>
        <p:nvSpPr>
          <p:cNvPr id="369" name="01-line-367"/>
          <p:cNvSpPr/>
          <p:nvPr/>
        </p:nvSpPr>
        <p:spPr>
          <a:xfrm flipH="1">
            <a:off x="9753600" y="2804160"/>
            <a:ext cx="38100" cy="0"/>
          </a:xfrm>
          <a:prstGeom prst="line">
            <a:avLst/>
          </a:prstGeom>
          <a:noFill/>
          <a:ln w="15240">
            <a:solidFill>
              <a:srgbClr val="334138"/>
            </a:solidFill>
            <a:prstDash val="solid"/>
          </a:ln>
        </p:spPr>
      </p:sp>
      <p:sp>
        <p:nvSpPr>
          <p:cNvPr id="370" name="01-rect-368"/>
          <p:cNvSpPr/>
          <p:nvPr/>
        </p:nvSpPr>
        <p:spPr>
          <a:xfrm>
            <a:off x="10546080" y="2133600"/>
            <a:ext cx="990600" cy="320040"/>
          </a:xfrm>
          <a:prstGeom prst="rect">
            <a:avLst/>
          </a:prstGeom>
          <a:solidFill>
            <a:srgbClr val="1C2A22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371" name="01-text-369"/>
          <p:cNvSpPr/>
          <p:nvPr/>
        </p:nvSpPr>
        <p:spPr>
          <a:xfrm>
            <a:off x="10845664" y="2243134"/>
            <a:ext cx="391432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020" dirty="0">
                <a:solidFill>
                  <a:srgbClr val="EAB2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ru-RU" sz="1020" dirty="0"/>
          </a:p>
        </p:txBody>
      </p:sp>
      <p:sp>
        <p:nvSpPr>
          <p:cNvPr id="372" name="01-line-370"/>
          <p:cNvSpPr/>
          <p:nvPr/>
        </p:nvSpPr>
        <p:spPr>
          <a:xfrm>
            <a:off x="11041380" y="2453640"/>
            <a:ext cx="0" cy="350520"/>
          </a:xfrm>
          <a:prstGeom prst="line">
            <a:avLst/>
          </a:prstGeom>
          <a:noFill/>
          <a:ln w="15240">
            <a:solidFill>
              <a:srgbClr val="334138"/>
            </a:solidFill>
            <a:prstDash val="solid"/>
          </a:ln>
        </p:spPr>
      </p:sp>
      <p:sp>
        <p:nvSpPr>
          <p:cNvPr id="373" name="01-line-371"/>
          <p:cNvSpPr/>
          <p:nvPr/>
        </p:nvSpPr>
        <p:spPr>
          <a:xfrm flipH="1">
            <a:off x="9753600" y="2804160"/>
            <a:ext cx="1287780" cy="0"/>
          </a:xfrm>
          <a:prstGeom prst="line">
            <a:avLst/>
          </a:prstGeom>
          <a:noFill/>
          <a:ln w="15240">
            <a:solidFill>
              <a:srgbClr val="334138"/>
            </a:solidFill>
            <a:prstDash val="solid"/>
          </a:ln>
        </p:spPr>
      </p:sp>
      <p:sp>
        <p:nvSpPr>
          <p:cNvPr id="374" name="01-line-372"/>
          <p:cNvSpPr/>
          <p:nvPr/>
        </p:nvSpPr>
        <p:spPr>
          <a:xfrm>
            <a:off x="9753600" y="2804160"/>
            <a:ext cx="0" cy="236220"/>
          </a:xfrm>
          <a:prstGeom prst="line">
            <a:avLst/>
          </a:prstGeom>
          <a:noFill/>
          <a:ln w="15240">
            <a:solidFill>
              <a:srgbClr val="C0F0C5"/>
            </a:solidFill>
            <a:prstDash val="solid"/>
          </a:ln>
        </p:spPr>
      </p:sp>
      <p:sp>
        <p:nvSpPr>
          <p:cNvPr id="375" name="01-rect-373"/>
          <p:cNvSpPr/>
          <p:nvPr/>
        </p:nvSpPr>
        <p:spPr>
          <a:xfrm>
            <a:off x="8991600" y="3040380"/>
            <a:ext cx="1584960" cy="1272540"/>
          </a:xfrm>
          <a:prstGeom prst="rect">
            <a:avLst/>
          </a:prstGeom>
          <a:solidFill>
            <a:srgbClr val="304B36"/>
          </a:solidFill>
          <a:ln w="15240">
            <a:solidFill>
              <a:srgbClr val="6F9271"/>
            </a:solidFill>
            <a:prstDash val="solid"/>
          </a:ln>
        </p:spPr>
      </p:sp>
      <p:sp>
        <p:nvSpPr>
          <p:cNvPr id="376" name="01-rect-374"/>
          <p:cNvSpPr/>
          <p:nvPr/>
        </p:nvSpPr>
        <p:spPr>
          <a:xfrm>
            <a:off x="9090660" y="3139440"/>
            <a:ext cx="1386840" cy="1074420"/>
          </a:xfrm>
          <a:prstGeom prst="rect">
            <a:avLst/>
          </a:prstGeom>
          <a:solidFill>
            <a:srgbClr val="253C2B"/>
          </a:solidFill>
          <a:ln w="15240">
            <a:solidFill>
              <a:srgbClr val="506E51"/>
            </a:solidFill>
            <a:prstDash val="solid"/>
          </a:ln>
        </p:spPr>
      </p:sp>
      <p:sp>
        <p:nvSpPr>
          <p:cNvPr id="377" name="01-ellipse-375"/>
          <p:cNvSpPr/>
          <p:nvPr/>
        </p:nvSpPr>
        <p:spPr>
          <a:xfrm>
            <a:off x="9456420" y="3329940"/>
            <a:ext cx="655320" cy="655320"/>
          </a:xfrm>
          <a:prstGeom prst="ellipse">
            <a:avLst/>
          </a:prstGeom>
          <a:solidFill>
            <a:srgbClr val="1C2A22"/>
          </a:solidFill>
          <a:ln w="15240">
            <a:solidFill>
              <a:srgbClr val="C0F0C5"/>
            </a:solidFill>
            <a:prstDash val="solid"/>
          </a:ln>
        </p:spPr>
      </p:sp>
      <p:sp>
        <p:nvSpPr>
          <p:cNvPr id="378" name="01-line-376"/>
          <p:cNvSpPr/>
          <p:nvPr/>
        </p:nvSpPr>
        <p:spPr>
          <a:xfrm>
            <a:off x="9563100" y="3657600"/>
            <a:ext cx="441960" cy="0"/>
          </a:xfrm>
          <a:prstGeom prst="line">
            <a:avLst/>
          </a:prstGeom>
          <a:noFill/>
          <a:ln w="22860">
            <a:solidFill>
              <a:srgbClr val="C0F0C5"/>
            </a:solidFill>
            <a:prstDash val="solid"/>
          </a:ln>
        </p:spPr>
      </p:sp>
      <p:sp>
        <p:nvSpPr>
          <p:cNvPr id="379" name="01-line-377"/>
          <p:cNvSpPr/>
          <p:nvPr/>
        </p:nvSpPr>
        <p:spPr>
          <a:xfrm>
            <a:off x="9784080" y="3436620"/>
            <a:ext cx="0" cy="441960"/>
          </a:xfrm>
          <a:prstGeom prst="line">
            <a:avLst/>
          </a:prstGeom>
          <a:noFill/>
          <a:ln w="22860">
            <a:solidFill>
              <a:srgbClr val="C0F0C5"/>
            </a:solidFill>
            <a:prstDash val="solid"/>
          </a:ln>
        </p:spPr>
      </p:sp>
      <p:sp>
        <p:nvSpPr>
          <p:cNvPr id="380" name="01-line-378"/>
          <p:cNvSpPr/>
          <p:nvPr/>
        </p:nvSpPr>
        <p:spPr>
          <a:xfrm>
            <a:off x="9624060" y="3497580"/>
            <a:ext cx="320040" cy="320040"/>
          </a:xfrm>
          <a:prstGeom prst="line">
            <a:avLst/>
          </a:prstGeom>
          <a:noFill/>
          <a:ln w="22860">
            <a:solidFill>
              <a:srgbClr val="C0F0C5"/>
            </a:solidFill>
            <a:prstDash val="solid"/>
          </a:ln>
        </p:spPr>
      </p:sp>
      <p:sp>
        <p:nvSpPr>
          <p:cNvPr id="381" name="01-line-379"/>
          <p:cNvSpPr/>
          <p:nvPr/>
        </p:nvSpPr>
        <p:spPr>
          <a:xfrm>
            <a:off x="9784080" y="4312920"/>
            <a:ext cx="0" cy="441960"/>
          </a:xfrm>
          <a:prstGeom prst="line">
            <a:avLst/>
          </a:prstGeom>
          <a:noFill/>
          <a:ln w="15240">
            <a:solidFill>
              <a:srgbClr val="C0F0C5"/>
            </a:solidFill>
            <a:prstDash val="solid"/>
          </a:ln>
        </p:spPr>
      </p:sp>
      <p:sp>
        <p:nvSpPr>
          <p:cNvPr id="382" name="01-rect-380"/>
          <p:cNvSpPr/>
          <p:nvPr/>
        </p:nvSpPr>
        <p:spPr>
          <a:xfrm>
            <a:off x="8564880" y="4754880"/>
            <a:ext cx="2438400" cy="342900"/>
          </a:xfrm>
          <a:prstGeom prst="rect">
            <a:avLst/>
          </a:prstGeom>
          <a:solidFill>
            <a:srgbClr val="111B17"/>
          </a:solidFill>
          <a:ln w="7620">
            <a:solidFill>
              <a:srgbClr val="C0F0C5"/>
            </a:solidFill>
            <a:prstDash val="solid"/>
          </a:ln>
        </p:spPr>
      </p:sp>
      <p:sp>
        <p:nvSpPr>
          <p:cNvPr id="383" name="01-text-381"/>
          <p:cNvSpPr/>
          <p:nvPr/>
        </p:nvSpPr>
        <p:spPr>
          <a:xfrm>
            <a:off x="9124396" y="4853319"/>
            <a:ext cx="1319367" cy="22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38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⟦PD:PERSON:…⟧</a:t>
            </a:r>
            <a:endParaRPr lang="ru-RU" sz="1380" dirty="0"/>
          </a:p>
        </p:txBody>
      </p:sp>
      <p:sp>
        <p:nvSpPr>
          <p:cNvPr id="384" name="01-line-382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385" name="01-text-383"/>
          <p:cNvSpPr/>
          <p:nvPr/>
        </p:nvSpPr>
        <p:spPr>
          <a:xfrm>
            <a:off x="487680" y="6475579"/>
            <a:ext cx="4459129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Срез исходников: 15eea67 · experiment/rubert-tensorrt · существующий web-стиль</a:t>
            </a:r>
            <a:endParaRPr lang="ru-RU" sz="900" dirty="0"/>
          </a:p>
        </p:txBody>
      </p:sp>
      <p:sp>
        <p:nvSpPr>
          <p:cNvPr id="386" name="01-text-384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16</a:t>
            </a:r>
            <a:endParaRPr lang="ru-RU" sz="9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2-rect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02-line-1"/>
          <p:cNvSpPr/>
          <p:nvPr/>
        </p:nvSpPr>
        <p:spPr>
          <a:xfrm>
            <a:off x="487680" y="6858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4" name="02-rect-2"/>
          <p:cNvSpPr/>
          <p:nvPr/>
        </p:nvSpPr>
        <p:spPr>
          <a:xfrm>
            <a:off x="495300" y="25908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5" name="02-rect-3"/>
          <p:cNvSpPr/>
          <p:nvPr/>
        </p:nvSpPr>
        <p:spPr>
          <a:xfrm>
            <a:off x="624840" y="259080"/>
            <a:ext cx="91440" cy="91440"/>
          </a:xfrm>
          <a:prstGeom prst="rect">
            <a:avLst/>
          </a:prstGeom>
          <a:solidFill>
            <a:srgbClr val="C0F0C5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6" name="02-rect-4"/>
          <p:cNvSpPr/>
          <p:nvPr/>
        </p:nvSpPr>
        <p:spPr>
          <a:xfrm>
            <a:off x="49530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7" name="02-rect-5"/>
          <p:cNvSpPr/>
          <p:nvPr/>
        </p:nvSpPr>
        <p:spPr>
          <a:xfrm>
            <a:off x="62484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8" name="02-text-6"/>
          <p:cNvSpPr/>
          <p:nvPr/>
        </p:nvSpPr>
        <p:spPr>
          <a:xfrm>
            <a:off x="845820" y="217535"/>
            <a:ext cx="703916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60" b="1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СЕЙФ</a:t>
            </a:r>
            <a:endParaRPr lang="ru-RU" sz="1860" dirty="0"/>
          </a:p>
        </p:txBody>
      </p:sp>
      <p:sp>
        <p:nvSpPr>
          <p:cNvPr id="9" name="02-text-7"/>
          <p:cNvSpPr/>
          <p:nvPr/>
        </p:nvSpPr>
        <p:spPr>
          <a:xfrm>
            <a:off x="2179320" y="351413"/>
            <a:ext cx="175731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АРХИТЕКТУРНАЯ ОЦЕНКА</a:t>
            </a:r>
            <a:endParaRPr lang="ru-RU" sz="960" dirty="0"/>
          </a:p>
        </p:txBody>
      </p:sp>
      <p:sp>
        <p:nvSpPr>
          <p:cNvPr id="10" name="02-text-8"/>
          <p:cNvSpPr/>
          <p:nvPr/>
        </p:nvSpPr>
        <p:spPr>
          <a:xfrm>
            <a:off x="10987677" y="351413"/>
            <a:ext cx="71664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960" dirty="0"/>
          </a:p>
        </p:txBody>
      </p:sp>
      <p:sp>
        <p:nvSpPr>
          <p:cNvPr id="11" name="02-text-9"/>
          <p:cNvSpPr/>
          <p:nvPr/>
        </p:nvSpPr>
        <p:spPr>
          <a:xfrm>
            <a:off x="487680" y="841340"/>
            <a:ext cx="8372272" cy="60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4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Удачная основа. Чёткие границы роста.</a:t>
            </a:r>
            <a:endParaRPr lang="ru-RU" sz="3480" dirty="0"/>
          </a:p>
        </p:txBody>
      </p:sp>
      <p:sp>
        <p:nvSpPr>
          <p:cNvPr id="12" name="02-text-10"/>
          <p:cNvSpPr/>
          <p:nvPr/>
        </p:nvSpPr>
        <p:spPr>
          <a:xfrm>
            <a:off x="487680" y="1545826"/>
            <a:ext cx="9638992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Сильный демо-прокси; для пилота важнее закрыть измеримые пробелы, чем добавлять сервисы.</a:t>
            </a:r>
            <a:endParaRPr lang="ru-RU" sz="1620" dirty="0"/>
          </a:p>
        </p:txBody>
      </p:sp>
      <p:sp>
        <p:nvSpPr>
          <p:cNvPr id="13" name="02-rect-11"/>
          <p:cNvSpPr/>
          <p:nvPr/>
        </p:nvSpPr>
        <p:spPr>
          <a:xfrm>
            <a:off x="487680" y="2225040"/>
            <a:ext cx="3566160" cy="285750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14" name="02-text-12"/>
          <p:cNvSpPr/>
          <p:nvPr/>
        </p:nvSpPr>
        <p:spPr>
          <a:xfrm>
            <a:off x="701040" y="2464114"/>
            <a:ext cx="1128577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РАЗДЕЛЕНИЕ</a:t>
            </a:r>
            <a:endParaRPr lang="ru-RU" sz="1020" dirty="0"/>
          </a:p>
        </p:txBody>
      </p:sp>
      <p:sp>
        <p:nvSpPr>
          <p:cNvPr id="15" name="02-text-13"/>
          <p:cNvSpPr/>
          <p:nvPr/>
        </p:nvSpPr>
        <p:spPr>
          <a:xfrm>
            <a:off x="701040" y="2745566"/>
            <a:ext cx="2540281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Логика по границам</a:t>
            </a:r>
            <a:endParaRPr lang="ru-RU" sz="2040" dirty="0"/>
          </a:p>
        </p:txBody>
      </p:sp>
      <p:sp>
        <p:nvSpPr>
          <p:cNvPr id="16" name="02-text-14"/>
          <p:cNvSpPr/>
          <p:nvPr/>
        </p:nvSpPr>
        <p:spPr>
          <a:xfrm>
            <a:off x="701040" y="3223431"/>
            <a:ext cx="3146155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и правила — отдельно от NER.</a:t>
            </a:r>
            <a:endParaRPr lang="ru-RU" sz="1500" dirty="0"/>
          </a:p>
        </p:txBody>
      </p:sp>
      <p:sp>
        <p:nvSpPr>
          <p:cNvPr id="17" name="02-text-15"/>
          <p:cNvSpPr/>
          <p:nvPr/>
        </p:nvSpPr>
        <p:spPr>
          <a:xfrm>
            <a:off x="701040" y="3497751"/>
            <a:ext cx="2474457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Хранилище — вне модели.</a:t>
            </a:r>
            <a:endParaRPr lang="ru-RU" sz="1500" dirty="0"/>
          </a:p>
        </p:txBody>
      </p:sp>
      <p:sp>
        <p:nvSpPr>
          <p:cNvPr id="18" name="02-text-16"/>
          <p:cNvSpPr/>
          <p:nvPr/>
        </p:nvSpPr>
        <p:spPr>
          <a:xfrm>
            <a:off x="701040" y="3772071"/>
            <a:ext cx="2542329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вызывает потребитель.</a:t>
            </a:r>
            <a:endParaRPr lang="ru-RU" sz="1500" dirty="0"/>
          </a:p>
        </p:txBody>
      </p:sp>
      <p:sp>
        <p:nvSpPr>
          <p:cNvPr id="19" name="02-text-17"/>
          <p:cNvSpPr/>
          <p:nvPr/>
        </p:nvSpPr>
        <p:spPr>
          <a:xfrm>
            <a:off x="701040" y="4046391"/>
            <a:ext cx="2765972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Профили можно менять явно.</a:t>
            </a:r>
            <a:endParaRPr lang="ru-RU" sz="1500" dirty="0"/>
          </a:p>
        </p:txBody>
      </p:sp>
      <p:sp>
        <p:nvSpPr>
          <p:cNvPr id="20" name="02-rect-18"/>
          <p:cNvSpPr/>
          <p:nvPr/>
        </p:nvSpPr>
        <p:spPr>
          <a:xfrm>
            <a:off x="4221480" y="2225040"/>
            <a:ext cx="3566160" cy="285750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21" name="02-text-19"/>
          <p:cNvSpPr/>
          <p:nvPr/>
        </p:nvSpPr>
        <p:spPr>
          <a:xfrm>
            <a:off x="4434840" y="2464114"/>
            <a:ext cx="981148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КОНТРОЛЬ</a:t>
            </a:r>
            <a:endParaRPr lang="ru-RU" sz="1020" dirty="0"/>
          </a:p>
        </p:txBody>
      </p:sp>
      <p:sp>
        <p:nvSpPr>
          <p:cNvPr id="22" name="02-text-20"/>
          <p:cNvSpPr/>
          <p:nvPr/>
        </p:nvSpPr>
        <p:spPr>
          <a:xfrm>
            <a:off x="4434840" y="2745566"/>
            <a:ext cx="2750557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Прозрачные решения</a:t>
            </a:r>
            <a:endParaRPr lang="ru-RU" sz="2040" dirty="0"/>
          </a:p>
        </p:txBody>
      </p:sp>
      <p:sp>
        <p:nvSpPr>
          <p:cNvPr id="23" name="02-text-21"/>
          <p:cNvSpPr/>
          <p:nvPr/>
        </p:nvSpPr>
        <p:spPr>
          <a:xfrm>
            <a:off x="4434840" y="3223431"/>
            <a:ext cx="2401000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Политика на потребителя.</a:t>
            </a:r>
            <a:endParaRPr lang="ru-RU" sz="1500" dirty="0"/>
          </a:p>
        </p:txBody>
      </p:sp>
      <p:sp>
        <p:nvSpPr>
          <p:cNvPr id="24" name="02-text-22"/>
          <p:cNvSpPr/>
          <p:nvPr/>
        </p:nvSpPr>
        <p:spPr>
          <a:xfrm>
            <a:off x="4434840" y="3497751"/>
            <a:ext cx="2932236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Причины и Unicode-диапазоны.</a:t>
            </a:r>
            <a:endParaRPr lang="ru-RU" sz="1500" dirty="0"/>
          </a:p>
        </p:txBody>
      </p:sp>
      <p:sp>
        <p:nvSpPr>
          <p:cNvPr id="25" name="02-text-23"/>
          <p:cNvSpPr/>
          <p:nvPr/>
        </p:nvSpPr>
        <p:spPr>
          <a:xfrm>
            <a:off x="4434840" y="3772071"/>
            <a:ext cx="2566975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Ошибка NER не скрывается.</a:t>
            </a:r>
            <a:endParaRPr lang="ru-RU" sz="1500" dirty="0"/>
          </a:p>
        </p:txBody>
      </p:sp>
      <p:sp>
        <p:nvSpPr>
          <p:cNvPr id="26" name="02-text-24"/>
          <p:cNvSpPr/>
          <p:nvPr/>
        </p:nvSpPr>
        <p:spPr>
          <a:xfrm>
            <a:off x="4434840" y="4046391"/>
            <a:ext cx="2725826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Восстановление проверяется.</a:t>
            </a:r>
            <a:endParaRPr lang="ru-RU" sz="1500" dirty="0"/>
          </a:p>
        </p:txBody>
      </p:sp>
      <p:sp>
        <p:nvSpPr>
          <p:cNvPr id="27" name="02-rect-25"/>
          <p:cNvSpPr/>
          <p:nvPr/>
        </p:nvSpPr>
        <p:spPr>
          <a:xfrm>
            <a:off x="7955280" y="2225040"/>
            <a:ext cx="3749040" cy="285750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28" name="02-text-26"/>
          <p:cNvSpPr/>
          <p:nvPr/>
        </p:nvSpPr>
        <p:spPr>
          <a:xfrm>
            <a:off x="8168640" y="2464114"/>
            <a:ext cx="1202291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EAB2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ОГРАНИЧЕНИЯ</a:t>
            </a:r>
            <a:endParaRPr lang="ru-RU" sz="1020" dirty="0"/>
          </a:p>
        </p:txBody>
      </p:sp>
      <p:sp>
        <p:nvSpPr>
          <p:cNvPr id="29" name="02-text-27"/>
          <p:cNvSpPr/>
          <p:nvPr/>
        </p:nvSpPr>
        <p:spPr>
          <a:xfrm>
            <a:off x="8168640" y="2745566"/>
            <a:ext cx="2870883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Нужен следующий шаг</a:t>
            </a:r>
            <a:endParaRPr lang="ru-RU" sz="2040" dirty="0"/>
          </a:p>
        </p:txBody>
      </p:sp>
      <p:sp>
        <p:nvSpPr>
          <p:cNvPr id="30" name="02-text-28"/>
          <p:cNvSpPr/>
          <p:nvPr/>
        </p:nvSpPr>
        <p:spPr>
          <a:xfrm>
            <a:off x="8168640" y="3223431"/>
            <a:ext cx="3047379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NER ограничивает GPU-профиль.</a:t>
            </a:r>
            <a:endParaRPr lang="ru-RU" sz="1500" dirty="0"/>
          </a:p>
        </p:txBody>
      </p:sp>
      <p:sp>
        <p:nvSpPr>
          <p:cNvPr id="31" name="02-text-29"/>
          <p:cNvSpPr/>
          <p:nvPr/>
        </p:nvSpPr>
        <p:spPr>
          <a:xfrm>
            <a:off x="8168640" y="3497751"/>
            <a:ext cx="2715717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Границы сущностей неточны.</a:t>
            </a:r>
            <a:endParaRPr lang="ru-RU" sz="1500" dirty="0"/>
          </a:p>
        </p:txBody>
      </p:sp>
      <p:sp>
        <p:nvSpPr>
          <p:cNvPr id="32" name="02-text-30"/>
          <p:cNvSpPr/>
          <p:nvPr/>
        </p:nvSpPr>
        <p:spPr>
          <a:xfrm>
            <a:off x="8168640" y="3772071"/>
            <a:ext cx="2987786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 уже изучен разработкой.</a:t>
            </a:r>
            <a:endParaRPr lang="ru-RU" sz="1500" dirty="0"/>
          </a:p>
        </p:txBody>
      </p:sp>
      <p:sp>
        <p:nvSpPr>
          <p:cNvPr id="33" name="02-text-31"/>
          <p:cNvSpPr/>
          <p:nvPr/>
        </p:nvSpPr>
        <p:spPr>
          <a:xfrm>
            <a:off x="8168640" y="4046391"/>
            <a:ext cx="2466081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 задана конфигурацией,</a:t>
            </a:r>
            <a:endParaRPr lang="ru-RU" sz="1500" dirty="0"/>
          </a:p>
        </p:txBody>
      </p:sp>
      <p:sp>
        <p:nvSpPr>
          <p:cNvPr id="34" name="02-text-32"/>
          <p:cNvSpPr/>
          <p:nvPr/>
        </p:nvSpPr>
        <p:spPr>
          <a:xfrm>
            <a:off x="8168640" y="4320711"/>
            <a:ext cx="2544255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 не доказывает zero-RPO.</a:t>
            </a:r>
            <a:endParaRPr lang="ru-RU" sz="1500" dirty="0"/>
          </a:p>
        </p:txBody>
      </p:sp>
      <p:sp>
        <p:nvSpPr>
          <p:cNvPr id="35" name="02-text-33"/>
          <p:cNvSpPr/>
          <p:nvPr/>
        </p:nvSpPr>
        <p:spPr>
          <a:xfrm>
            <a:off x="487680" y="5656894"/>
            <a:ext cx="538861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ВЕРДИКТ</a:t>
            </a:r>
            <a:endParaRPr lang="ru-RU" sz="1020" dirty="0"/>
          </a:p>
        </p:txBody>
      </p:sp>
      <p:sp>
        <p:nvSpPr>
          <p:cNvPr id="36" name="02-text-34"/>
          <p:cNvSpPr/>
          <p:nvPr/>
        </p:nvSpPr>
        <p:spPr>
          <a:xfrm>
            <a:off x="1767840" y="5543915"/>
            <a:ext cx="7817099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6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Развивать текущую модульную схему и измерять каждое изменение.</a:t>
            </a:r>
            <a:endParaRPr lang="ru-RU" sz="1860" dirty="0"/>
          </a:p>
        </p:txBody>
      </p:sp>
      <p:sp>
        <p:nvSpPr>
          <p:cNvPr id="37" name="02-line-35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38" name="02-text-36"/>
          <p:cNvSpPr/>
          <p:nvPr/>
        </p:nvSpPr>
        <p:spPr>
          <a:xfrm>
            <a:off x="487680" y="6475579"/>
            <a:ext cx="4370634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Оценка по исходникам · подробные доказательства: architecture-assessment.md</a:t>
            </a:r>
            <a:endParaRPr lang="ru-RU" sz="900" dirty="0"/>
          </a:p>
        </p:txBody>
      </p:sp>
      <p:sp>
        <p:nvSpPr>
          <p:cNvPr id="39" name="02-text-37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16</a:t>
            </a:r>
            <a:endParaRPr lang="ru-RU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-rect-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22"/>
            </a:avLst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03-rect-1"/>
          <p:cNvSpPr/>
          <p:nvPr/>
        </p:nvSpPr>
        <p:spPr>
          <a:xfrm>
            <a:off x="487680" y="281940"/>
            <a:ext cx="60960" cy="60960"/>
          </a:xfrm>
          <a:prstGeom prst="roundRect">
            <a:avLst>
              <a:gd name="adj" fmla="val 25000"/>
            </a:avLst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" name="03-text-2"/>
          <p:cNvSpPr/>
          <p:nvPr/>
        </p:nvSpPr>
        <p:spPr>
          <a:xfrm>
            <a:off x="655320" y="261934"/>
            <a:ext cx="1617868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spc="120" kern="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СЕЙФ / АРХИТЕКТУРА</a:t>
            </a:r>
            <a:endParaRPr lang="ru-RU" sz="1020" dirty="0"/>
          </a:p>
        </p:txBody>
      </p:sp>
      <p:sp>
        <p:nvSpPr>
          <p:cNvPr id="5" name="03-text-3"/>
          <p:cNvSpPr/>
          <p:nvPr/>
        </p:nvSpPr>
        <p:spPr>
          <a:xfrm>
            <a:off x="10944315" y="261934"/>
            <a:ext cx="760005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1020" dirty="0"/>
          </a:p>
        </p:txBody>
      </p:sp>
      <p:sp>
        <p:nvSpPr>
          <p:cNvPr id="6" name="03-text-4"/>
          <p:cNvSpPr/>
          <p:nvPr/>
        </p:nvSpPr>
        <p:spPr>
          <a:xfrm>
            <a:off x="487680" y="445919"/>
            <a:ext cx="5873652" cy="461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6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данных до обращения к LLM</a:t>
            </a:r>
            <a:endParaRPr lang="ru-RU" sz="2640" dirty="0"/>
          </a:p>
        </p:txBody>
      </p:sp>
      <p:sp>
        <p:nvSpPr>
          <p:cNvPr id="7" name="03-text-5"/>
          <p:cNvSpPr/>
          <p:nvPr/>
        </p:nvSpPr>
        <p:spPr>
          <a:xfrm>
            <a:off x="487680" y="955685"/>
            <a:ext cx="6647226" cy="217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Путь нового payload_id. Повтор исходного запроса может вернуть сохранённый результат.</a:t>
            </a:r>
            <a:endParaRPr lang="ru-RU" sz="1200" dirty="0"/>
          </a:p>
        </p:txBody>
      </p:sp>
      <p:sp>
        <p:nvSpPr>
          <p:cNvPr id="8" name="03-rect-6"/>
          <p:cNvSpPr/>
          <p:nvPr/>
        </p:nvSpPr>
        <p:spPr>
          <a:xfrm>
            <a:off x="2362200" y="1402080"/>
            <a:ext cx="9342120" cy="4312920"/>
          </a:xfrm>
          <a:prstGeom prst="roundRect">
            <a:avLst>
              <a:gd name="adj" fmla="val 353"/>
            </a:avLst>
          </a:prstGeom>
          <a:solidFill>
            <a:srgbClr val="17231D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9" name="03-text-7"/>
          <p:cNvSpPr/>
          <p:nvPr/>
        </p:nvSpPr>
        <p:spPr>
          <a:xfrm>
            <a:off x="2545080" y="1549714"/>
            <a:ext cx="833719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КОНТУР SEIF</a:t>
            </a:r>
            <a:endParaRPr lang="ru-RU" sz="1020" dirty="0"/>
          </a:p>
        </p:txBody>
      </p:sp>
      <p:sp>
        <p:nvSpPr>
          <p:cNvPr id="10" name="03-rect-8"/>
          <p:cNvSpPr/>
          <p:nvPr/>
        </p:nvSpPr>
        <p:spPr>
          <a:xfrm>
            <a:off x="487680" y="2011680"/>
            <a:ext cx="1600200" cy="1143000"/>
          </a:xfrm>
          <a:prstGeom prst="roundRect">
            <a:avLst>
              <a:gd name="adj" fmla="val 1333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11" name="03-rect-9"/>
          <p:cNvSpPr/>
          <p:nvPr/>
        </p:nvSpPr>
        <p:spPr>
          <a:xfrm>
            <a:off x="487680" y="2011680"/>
            <a:ext cx="22860" cy="114300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2" name="03-text-10"/>
          <p:cNvSpPr/>
          <p:nvPr/>
        </p:nvSpPr>
        <p:spPr>
          <a:xfrm>
            <a:off x="670560" y="2079226"/>
            <a:ext cx="1288756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</a:t>
            </a:r>
            <a:endParaRPr lang="ru-RU" sz="1620" dirty="0"/>
          </a:p>
        </p:txBody>
      </p:sp>
      <p:sp>
        <p:nvSpPr>
          <p:cNvPr id="13" name="03-text-11"/>
          <p:cNvSpPr/>
          <p:nvPr/>
        </p:nvSpPr>
        <p:spPr>
          <a:xfrm>
            <a:off x="670560" y="2404088"/>
            <a:ext cx="1083571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исходный текст</a:t>
            </a:r>
            <a:endParaRPr lang="ru-RU" sz="1140" dirty="0"/>
          </a:p>
        </p:txBody>
      </p:sp>
      <p:sp>
        <p:nvSpPr>
          <p:cNvPr id="14" name="03-text-12"/>
          <p:cNvSpPr/>
          <p:nvPr/>
        </p:nvSpPr>
        <p:spPr>
          <a:xfrm>
            <a:off x="670560" y="2617448"/>
            <a:ext cx="1000672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ключ системы</a:t>
            </a:r>
            <a:endParaRPr lang="ru-RU" sz="1140" dirty="0"/>
          </a:p>
        </p:txBody>
      </p:sp>
      <p:sp>
        <p:nvSpPr>
          <p:cNvPr id="15" name="03-rect-13"/>
          <p:cNvSpPr/>
          <p:nvPr/>
        </p:nvSpPr>
        <p:spPr>
          <a:xfrm>
            <a:off x="2667000" y="1905000"/>
            <a:ext cx="2057400" cy="1203960"/>
          </a:xfrm>
          <a:prstGeom prst="roundRect">
            <a:avLst>
              <a:gd name="adj" fmla="val 1266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16" name="03-rect-14"/>
          <p:cNvSpPr/>
          <p:nvPr/>
        </p:nvSpPr>
        <p:spPr>
          <a:xfrm>
            <a:off x="2667000" y="1905000"/>
            <a:ext cx="22860" cy="120396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7" name="03-text-15"/>
          <p:cNvSpPr/>
          <p:nvPr/>
        </p:nvSpPr>
        <p:spPr>
          <a:xfrm>
            <a:off x="2849880" y="2020193"/>
            <a:ext cx="647265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ВХОД</a:t>
            </a:r>
            <a:endParaRPr lang="ru-RU" sz="960" dirty="0"/>
          </a:p>
        </p:txBody>
      </p:sp>
      <p:sp>
        <p:nvSpPr>
          <p:cNvPr id="18" name="03-text-16"/>
          <p:cNvSpPr/>
          <p:nvPr/>
        </p:nvSpPr>
        <p:spPr>
          <a:xfrm>
            <a:off x="2849880" y="2140186"/>
            <a:ext cx="710967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ru-RU" sz="1620" dirty="0"/>
          </a:p>
        </p:txBody>
      </p:sp>
      <p:sp>
        <p:nvSpPr>
          <p:cNvPr id="19" name="03-text-17"/>
          <p:cNvSpPr/>
          <p:nvPr/>
        </p:nvSpPr>
        <p:spPr>
          <a:xfrm>
            <a:off x="2849880" y="2465048"/>
            <a:ext cx="1120082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+ API key</a:t>
            </a:r>
            <a:endParaRPr lang="ru-RU" sz="1140" dirty="0"/>
          </a:p>
        </p:txBody>
      </p:sp>
      <p:sp>
        <p:nvSpPr>
          <p:cNvPr id="20" name="03-text-18"/>
          <p:cNvSpPr/>
          <p:nvPr/>
        </p:nvSpPr>
        <p:spPr>
          <a:xfrm>
            <a:off x="2849880" y="2678408"/>
            <a:ext cx="1450287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лимиты и валидация</a:t>
            </a:r>
            <a:endParaRPr lang="ru-RU" sz="1140" dirty="0"/>
          </a:p>
        </p:txBody>
      </p:sp>
      <p:sp>
        <p:nvSpPr>
          <p:cNvPr id="21" name="03-rect-19"/>
          <p:cNvSpPr/>
          <p:nvPr/>
        </p:nvSpPr>
        <p:spPr>
          <a:xfrm>
            <a:off x="5219700" y="1905000"/>
            <a:ext cx="2209800" cy="1203960"/>
          </a:xfrm>
          <a:prstGeom prst="roundRect">
            <a:avLst>
              <a:gd name="adj" fmla="val 1266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22" name="03-rect-20"/>
          <p:cNvSpPr/>
          <p:nvPr/>
        </p:nvSpPr>
        <p:spPr>
          <a:xfrm>
            <a:off x="5219700" y="1905000"/>
            <a:ext cx="22860" cy="120396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3" name="03-text-21"/>
          <p:cNvSpPr/>
          <p:nvPr/>
        </p:nvSpPr>
        <p:spPr>
          <a:xfrm>
            <a:off x="5402580" y="2020193"/>
            <a:ext cx="786021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DETECT</a:t>
            </a:r>
            <a:endParaRPr lang="ru-RU" sz="960" dirty="0"/>
          </a:p>
        </p:txBody>
      </p:sp>
      <p:sp>
        <p:nvSpPr>
          <p:cNvPr id="24" name="03-text-22"/>
          <p:cNvSpPr/>
          <p:nvPr/>
        </p:nvSpPr>
        <p:spPr>
          <a:xfrm>
            <a:off x="5402580" y="2140186"/>
            <a:ext cx="865266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Правила</a:t>
            </a:r>
            <a:endParaRPr lang="ru-RU" sz="1620" dirty="0"/>
          </a:p>
        </p:txBody>
      </p:sp>
      <p:sp>
        <p:nvSpPr>
          <p:cNvPr id="25" name="03-text-23"/>
          <p:cNvSpPr/>
          <p:nvPr/>
        </p:nvSpPr>
        <p:spPr>
          <a:xfrm>
            <a:off x="5402580" y="2465048"/>
            <a:ext cx="1334317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РФ / СНГ · контекст</a:t>
            </a:r>
            <a:endParaRPr lang="ru-RU" sz="1140" dirty="0"/>
          </a:p>
        </p:txBody>
      </p:sp>
      <p:sp>
        <p:nvSpPr>
          <p:cNvPr id="26" name="03-text-24"/>
          <p:cNvSpPr/>
          <p:nvPr/>
        </p:nvSpPr>
        <p:spPr>
          <a:xfrm>
            <a:off x="5402580" y="2678408"/>
            <a:ext cx="1331536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проверки формата</a:t>
            </a:r>
            <a:endParaRPr lang="ru-RU" sz="1140" dirty="0"/>
          </a:p>
        </p:txBody>
      </p:sp>
      <p:sp>
        <p:nvSpPr>
          <p:cNvPr id="27" name="03-rect-25"/>
          <p:cNvSpPr/>
          <p:nvPr/>
        </p:nvSpPr>
        <p:spPr>
          <a:xfrm>
            <a:off x="7924800" y="1905000"/>
            <a:ext cx="3429000" cy="1203960"/>
          </a:xfrm>
          <a:prstGeom prst="roundRect">
            <a:avLst>
              <a:gd name="adj" fmla="val 1266"/>
            </a:avLst>
          </a:prstGeom>
          <a:solidFill>
            <a:srgbClr val="1C2A22"/>
          </a:solidFill>
          <a:ln w="9144">
            <a:solidFill>
              <a:srgbClr val="C0F0C5"/>
            </a:solidFill>
            <a:prstDash val="dash"/>
          </a:ln>
        </p:spPr>
      </p:sp>
      <p:sp>
        <p:nvSpPr>
          <p:cNvPr id="28" name="03-rect-26"/>
          <p:cNvSpPr/>
          <p:nvPr/>
        </p:nvSpPr>
        <p:spPr>
          <a:xfrm>
            <a:off x="7924800" y="1905000"/>
            <a:ext cx="22860" cy="120396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9" name="03-text-27"/>
          <p:cNvSpPr/>
          <p:nvPr/>
        </p:nvSpPr>
        <p:spPr>
          <a:xfrm>
            <a:off x="8107680" y="2020193"/>
            <a:ext cx="113291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ОПЦИОНАЛЬНО</a:t>
            </a:r>
            <a:endParaRPr lang="ru-RU" sz="960" dirty="0"/>
          </a:p>
        </p:txBody>
      </p:sp>
      <p:sp>
        <p:nvSpPr>
          <p:cNvPr id="30" name="03-text-28"/>
          <p:cNvSpPr/>
          <p:nvPr/>
        </p:nvSpPr>
        <p:spPr>
          <a:xfrm>
            <a:off x="8107680" y="2140186"/>
            <a:ext cx="1114286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NER</a:t>
            </a:r>
            <a:endParaRPr lang="ru-RU" sz="1620" dirty="0"/>
          </a:p>
        </p:txBody>
      </p:sp>
      <p:sp>
        <p:nvSpPr>
          <p:cNvPr id="31" name="03-text-29"/>
          <p:cNvSpPr/>
          <p:nvPr/>
        </p:nvSpPr>
        <p:spPr>
          <a:xfrm>
            <a:off x="8107680" y="2465048"/>
            <a:ext cx="1712227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 spaCy / GPU RuBERT</a:t>
            </a:r>
            <a:endParaRPr lang="ru-RU" sz="1140" dirty="0"/>
          </a:p>
        </p:txBody>
      </p:sp>
      <p:sp>
        <p:nvSpPr>
          <p:cNvPr id="32" name="03-text-30"/>
          <p:cNvSpPr/>
          <p:nvPr/>
        </p:nvSpPr>
        <p:spPr>
          <a:xfrm>
            <a:off x="8107680" y="2678408"/>
            <a:ext cx="2250741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исходный текст → PII-кандидаты</a:t>
            </a:r>
            <a:endParaRPr lang="ru-RU" sz="1140" dirty="0"/>
          </a:p>
        </p:txBody>
      </p:sp>
      <p:sp>
        <p:nvSpPr>
          <p:cNvPr id="33" name="03-rect-31"/>
          <p:cNvSpPr/>
          <p:nvPr/>
        </p:nvSpPr>
        <p:spPr>
          <a:xfrm>
            <a:off x="7924800" y="3939540"/>
            <a:ext cx="3429000" cy="1203960"/>
          </a:xfrm>
          <a:prstGeom prst="roundRect">
            <a:avLst>
              <a:gd name="adj" fmla="val 1266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34" name="03-rect-32"/>
          <p:cNvSpPr/>
          <p:nvPr/>
        </p:nvSpPr>
        <p:spPr>
          <a:xfrm>
            <a:off x="7924800" y="3939540"/>
            <a:ext cx="22860" cy="120396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5" name="03-text-33"/>
          <p:cNvSpPr/>
          <p:nvPr/>
        </p:nvSpPr>
        <p:spPr>
          <a:xfrm>
            <a:off x="8107680" y="4054733"/>
            <a:ext cx="134104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MERGE + SELECT</a:t>
            </a:r>
            <a:endParaRPr lang="ru-RU" sz="960" dirty="0"/>
          </a:p>
        </p:txBody>
      </p:sp>
      <p:sp>
        <p:nvSpPr>
          <p:cNvPr id="36" name="03-text-34"/>
          <p:cNvSpPr/>
          <p:nvPr/>
        </p:nvSpPr>
        <p:spPr>
          <a:xfrm>
            <a:off x="8107680" y="4174726"/>
            <a:ext cx="2055468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Контекст + политика</a:t>
            </a:r>
            <a:endParaRPr lang="ru-RU" sz="1620" dirty="0"/>
          </a:p>
        </p:txBody>
      </p:sp>
      <p:sp>
        <p:nvSpPr>
          <p:cNvPr id="37" name="03-text-35"/>
          <p:cNvSpPr/>
          <p:nvPr/>
        </p:nvSpPr>
        <p:spPr>
          <a:xfrm>
            <a:off x="8107680" y="4499588"/>
            <a:ext cx="2451001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пересечения и границы сущностей</a:t>
            </a:r>
            <a:endParaRPr lang="ru-RU" sz="1140" dirty="0"/>
          </a:p>
        </p:txBody>
      </p:sp>
      <p:sp>
        <p:nvSpPr>
          <p:cNvPr id="38" name="03-text-36"/>
          <p:cNvSpPr/>
          <p:nvPr/>
        </p:nvSpPr>
        <p:spPr>
          <a:xfrm>
            <a:off x="8107680" y="4712948"/>
            <a:ext cx="2357054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типы и режим из политики tenant</a:t>
            </a:r>
            <a:endParaRPr lang="ru-RU" sz="1140" dirty="0"/>
          </a:p>
        </p:txBody>
      </p:sp>
      <p:sp>
        <p:nvSpPr>
          <p:cNvPr id="39" name="03-rect-37"/>
          <p:cNvSpPr/>
          <p:nvPr/>
        </p:nvSpPr>
        <p:spPr>
          <a:xfrm>
            <a:off x="5219700" y="3939540"/>
            <a:ext cx="2209800" cy="1203960"/>
          </a:xfrm>
          <a:prstGeom prst="roundRect">
            <a:avLst>
              <a:gd name="adj" fmla="val 1266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40" name="03-rect-38"/>
          <p:cNvSpPr/>
          <p:nvPr/>
        </p:nvSpPr>
        <p:spPr>
          <a:xfrm>
            <a:off x="5219700" y="3939540"/>
            <a:ext cx="22860" cy="120396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1" name="03-text-39"/>
          <p:cNvSpPr/>
          <p:nvPr/>
        </p:nvSpPr>
        <p:spPr>
          <a:xfrm>
            <a:off x="5402580" y="4054733"/>
            <a:ext cx="994156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TRANSFORM</a:t>
            </a:r>
            <a:endParaRPr lang="ru-RU" sz="960" dirty="0"/>
          </a:p>
        </p:txBody>
      </p:sp>
      <p:sp>
        <p:nvSpPr>
          <p:cNvPr id="42" name="03-text-40"/>
          <p:cNvSpPr/>
          <p:nvPr/>
        </p:nvSpPr>
        <p:spPr>
          <a:xfrm>
            <a:off x="5402580" y="4174726"/>
            <a:ext cx="1691660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Преобразование</a:t>
            </a:r>
            <a:endParaRPr lang="ru-RU" sz="1620" dirty="0"/>
          </a:p>
        </p:txBody>
      </p:sp>
      <p:sp>
        <p:nvSpPr>
          <p:cNvPr id="43" name="03-text-41"/>
          <p:cNvSpPr/>
          <p:nvPr/>
        </p:nvSpPr>
        <p:spPr>
          <a:xfrm>
            <a:off x="5402580" y="4499588"/>
            <a:ext cx="1562746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 · token · synthetic</a:t>
            </a:r>
            <a:endParaRPr lang="ru-RU" sz="1140" dirty="0"/>
          </a:p>
        </p:txBody>
      </p:sp>
      <p:sp>
        <p:nvSpPr>
          <p:cNvPr id="44" name="03-text-42"/>
          <p:cNvSpPr/>
          <p:nvPr/>
        </p:nvSpPr>
        <p:spPr>
          <a:xfrm>
            <a:off x="5402580" y="4712948"/>
            <a:ext cx="1071864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текст + замены</a:t>
            </a:r>
            <a:endParaRPr lang="ru-RU" sz="1140" dirty="0"/>
          </a:p>
        </p:txBody>
      </p:sp>
      <p:sp>
        <p:nvSpPr>
          <p:cNvPr id="45" name="03-rect-43"/>
          <p:cNvSpPr/>
          <p:nvPr/>
        </p:nvSpPr>
        <p:spPr>
          <a:xfrm>
            <a:off x="2667000" y="3939540"/>
            <a:ext cx="2057400" cy="1203960"/>
          </a:xfrm>
          <a:prstGeom prst="roundRect">
            <a:avLst>
              <a:gd name="adj" fmla="val 1266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46" name="03-rect-44"/>
          <p:cNvSpPr/>
          <p:nvPr/>
        </p:nvSpPr>
        <p:spPr>
          <a:xfrm>
            <a:off x="2667000" y="3939540"/>
            <a:ext cx="22860" cy="120396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7" name="03-text-45"/>
          <p:cNvSpPr/>
          <p:nvPr/>
        </p:nvSpPr>
        <p:spPr>
          <a:xfrm>
            <a:off x="2849880" y="4054733"/>
            <a:ext cx="1063535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СОХРАНЕНИЕ</a:t>
            </a:r>
            <a:endParaRPr lang="ru-RU" sz="960" dirty="0"/>
          </a:p>
        </p:txBody>
      </p:sp>
      <p:sp>
        <p:nvSpPr>
          <p:cNvPr id="48" name="03-text-46"/>
          <p:cNvSpPr/>
          <p:nvPr/>
        </p:nvSpPr>
        <p:spPr>
          <a:xfrm>
            <a:off x="2849880" y="4174726"/>
            <a:ext cx="1473520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vault</a:t>
            </a:r>
            <a:endParaRPr lang="ru-RU" sz="1620" dirty="0"/>
          </a:p>
        </p:txBody>
      </p:sp>
      <p:sp>
        <p:nvSpPr>
          <p:cNvPr id="49" name="03-text-47"/>
          <p:cNvSpPr/>
          <p:nvPr/>
        </p:nvSpPr>
        <p:spPr>
          <a:xfrm>
            <a:off x="2849880" y="4499588"/>
            <a:ext cx="1007111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AES-GCM · TTL</a:t>
            </a:r>
            <a:endParaRPr lang="ru-RU" sz="1140" dirty="0"/>
          </a:p>
        </p:txBody>
      </p:sp>
      <p:sp>
        <p:nvSpPr>
          <p:cNvPr id="50" name="03-text-48"/>
          <p:cNvSpPr/>
          <p:nvPr/>
        </p:nvSpPr>
        <p:spPr>
          <a:xfrm>
            <a:off x="2849880" y="4712948"/>
            <a:ext cx="840289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/ RAM</a:t>
            </a:r>
            <a:endParaRPr lang="ru-RU" sz="1140" dirty="0"/>
          </a:p>
        </p:txBody>
      </p:sp>
      <p:sp>
        <p:nvSpPr>
          <p:cNvPr id="51" name="03-line-49"/>
          <p:cNvSpPr/>
          <p:nvPr/>
        </p:nvSpPr>
        <p:spPr>
          <a:xfrm>
            <a:off x="2087880" y="2575560"/>
            <a:ext cx="57912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52" name="03-line-50"/>
          <p:cNvSpPr/>
          <p:nvPr/>
        </p:nvSpPr>
        <p:spPr>
          <a:xfrm>
            <a:off x="4724400" y="2499360"/>
            <a:ext cx="49530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53" name="03-line-51"/>
          <p:cNvSpPr/>
          <p:nvPr/>
        </p:nvSpPr>
        <p:spPr>
          <a:xfrm>
            <a:off x="7429500" y="2499360"/>
            <a:ext cx="49530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dash"/>
            <a:tailEnd type="arrow"/>
          </a:ln>
        </p:spPr>
      </p:sp>
      <p:sp>
        <p:nvSpPr>
          <p:cNvPr id="54" name="03-line-52"/>
          <p:cNvSpPr/>
          <p:nvPr/>
        </p:nvSpPr>
        <p:spPr>
          <a:xfrm>
            <a:off x="9639300" y="3108960"/>
            <a:ext cx="0" cy="830580"/>
          </a:xfrm>
          <a:prstGeom prst="line">
            <a:avLst/>
          </a:prstGeom>
          <a:noFill/>
          <a:ln w="12954">
            <a:solidFill>
              <a:srgbClr val="C0F0C5"/>
            </a:solidFill>
            <a:prstDash val="dash"/>
            <a:tailEnd type="arrow"/>
          </a:ln>
        </p:spPr>
      </p:sp>
      <p:sp>
        <p:nvSpPr>
          <p:cNvPr id="55" name="03-line-53"/>
          <p:cNvSpPr/>
          <p:nvPr/>
        </p:nvSpPr>
        <p:spPr>
          <a:xfrm>
            <a:off x="6324600" y="3108960"/>
            <a:ext cx="0" cy="40386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</a:ln>
        </p:spPr>
      </p:sp>
      <p:sp>
        <p:nvSpPr>
          <p:cNvPr id="56" name="03-line-54"/>
          <p:cNvSpPr/>
          <p:nvPr/>
        </p:nvSpPr>
        <p:spPr>
          <a:xfrm>
            <a:off x="6324600" y="3512820"/>
            <a:ext cx="287274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</a:ln>
        </p:spPr>
      </p:sp>
      <p:sp>
        <p:nvSpPr>
          <p:cNvPr id="57" name="03-line-55"/>
          <p:cNvSpPr/>
          <p:nvPr/>
        </p:nvSpPr>
        <p:spPr>
          <a:xfrm>
            <a:off x="9197340" y="3512820"/>
            <a:ext cx="0" cy="42672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58" name="03-text-56"/>
          <p:cNvSpPr/>
          <p:nvPr/>
        </p:nvSpPr>
        <p:spPr>
          <a:xfrm>
            <a:off x="6553200" y="3309934"/>
            <a:ext cx="1718293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без NER: только правила</a:t>
            </a:r>
            <a:endParaRPr lang="ru-RU" sz="1020" dirty="0"/>
          </a:p>
        </p:txBody>
      </p:sp>
      <p:sp>
        <p:nvSpPr>
          <p:cNvPr id="59" name="03-line-57"/>
          <p:cNvSpPr/>
          <p:nvPr/>
        </p:nvSpPr>
        <p:spPr>
          <a:xfrm flipH="1">
            <a:off x="7429500" y="4526280"/>
            <a:ext cx="49530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60" name="03-line-58"/>
          <p:cNvSpPr/>
          <p:nvPr/>
        </p:nvSpPr>
        <p:spPr>
          <a:xfrm flipH="1">
            <a:off x="4724400" y="4526280"/>
            <a:ext cx="49530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61" name="03-line-59"/>
          <p:cNvSpPr/>
          <p:nvPr/>
        </p:nvSpPr>
        <p:spPr>
          <a:xfrm flipH="1">
            <a:off x="2263140" y="4526280"/>
            <a:ext cx="40386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</a:ln>
        </p:spPr>
      </p:sp>
      <p:sp>
        <p:nvSpPr>
          <p:cNvPr id="62" name="03-line-60"/>
          <p:cNvSpPr/>
          <p:nvPr/>
        </p:nvSpPr>
        <p:spPr>
          <a:xfrm flipV="1">
            <a:off x="2263140" y="3550920"/>
            <a:ext cx="0" cy="97536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</a:ln>
        </p:spPr>
      </p:sp>
      <p:sp>
        <p:nvSpPr>
          <p:cNvPr id="63" name="03-line-61"/>
          <p:cNvSpPr/>
          <p:nvPr/>
        </p:nvSpPr>
        <p:spPr>
          <a:xfrm flipH="1">
            <a:off x="1287780" y="3550920"/>
            <a:ext cx="97536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</a:ln>
        </p:spPr>
      </p:sp>
      <p:sp>
        <p:nvSpPr>
          <p:cNvPr id="64" name="03-line-62"/>
          <p:cNvSpPr/>
          <p:nvPr/>
        </p:nvSpPr>
        <p:spPr>
          <a:xfrm flipV="1">
            <a:off x="1287780" y="3154680"/>
            <a:ext cx="0" cy="39624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65" name="03-text-63"/>
          <p:cNvSpPr/>
          <p:nvPr/>
        </p:nvSpPr>
        <p:spPr>
          <a:xfrm>
            <a:off x="510540" y="3690934"/>
            <a:ext cx="1202291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защищённый текст</a:t>
            </a:r>
            <a:endParaRPr lang="ru-RU" sz="1020" dirty="0"/>
          </a:p>
        </p:txBody>
      </p:sp>
      <p:sp>
        <p:nvSpPr>
          <p:cNvPr id="66" name="03-rect-64"/>
          <p:cNvSpPr/>
          <p:nvPr/>
        </p:nvSpPr>
        <p:spPr>
          <a:xfrm>
            <a:off x="487680" y="4937760"/>
            <a:ext cx="1600200" cy="784860"/>
          </a:xfrm>
          <a:prstGeom prst="roundRect">
            <a:avLst>
              <a:gd name="adj" fmla="val 1942"/>
            </a:avLst>
          </a:prstGeom>
          <a:solidFill>
            <a:srgbClr val="1C2A22"/>
          </a:solidFill>
          <a:ln w="9144">
            <a:solidFill>
              <a:srgbClr val="EAB291"/>
            </a:solidFill>
            <a:prstDash val="solid"/>
          </a:ln>
        </p:spPr>
      </p:sp>
      <p:sp>
        <p:nvSpPr>
          <p:cNvPr id="67" name="03-rect-65"/>
          <p:cNvSpPr/>
          <p:nvPr/>
        </p:nvSpPr>
        <p:spPr>
          <a:xfrm>
            <a:off x="487680" y="4937760"/>
            <a:ext cx="22860" cy="784860"/>
          </a:xfrm>
          <a:prstGeom prst="rect">
            <a:avLst/>
          </a:prstGeom>
          <a:solidFill>
            <a:srgbClr val="EAB291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68" name="03-text-66"/>
          <p:cNvSpPr/>
          <p:nvPr/>
        </p:nvSpPr>
        <p:spPr>
          <a:xfrm>
            <a:off x="670560" y="5005306"/>
            <a:ext cx="1336585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Внешняя LLM</a:t>
            </a:r>
            <a:endParaRPr lang="ru-RU" sz="1620" dirty="0"/>
          </a:p>
        </p:txBody>
      </p:sp>
      <p:sp>
        <p:nvSpPr>
          <p:cNvPr id="69" name="03-text-67"/>
          <p:cNvSpPr/>
          <p:nvPr/>
        </p:nvSpPr>
        <p:spPr>
          <a:xfrm>
            <a:off x="670560" y="5330168"/>
            <a:ext cx="1351072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вызов приложения</a:t>
            </a:r>
            <a:endParaRPr lang="ru-RU" sz="1140" dirty="0"/>
          </a:p>
        </p:txBody>
      </p:sp>
      <p:sp>
        <p:nvSpPr>
          <p:cNvPr id="70" name="03-line-68"/>
          <p:cNvSpPr/>
          <p:nvPr/>
        </p:nvSpPr>
        <p:spPr>
          <a:xfrm flipH="1">
            <a:off x="266700" y="2819400"/>
            <a:ext cx="220980" cy="0"/>
          </a:xfrm>
          <a:prstGeom prst="line">
            <a:avLst/>
          </a:prstGeom>
          <a:noFill/>
          <a:ln w="12954">
            <a:solidFill>
              <a:srgbClr val="EAB291"/>
            </a:solidFill>
            <a:prstDash val="solid"/>
          </a:ln>
        </p:spPr>
      </p:sp>
      <p:sp>
        <p:nvSpPr>
          <p:cNvPr id="71" name="03-line-69"/>
          <p:cNvSpPr/>
          <p:nvPr/>
        </p:nvSpPr>
        <p:spPr>
          <a:xfrm>
            <a:off x="266700" y="2819400"/>
            <a:ext cx="0" cy="2514600"/>
          </a:xfrm>
          <a:prstGeom prst="line">
            <a:avLst/>
          </a:prstGeom>
          <a:noFill/>
          <a:ln w="12954">
            <a:solidFill>
              <a:srgbClr val="EAB291"/>
            </a:solidFill>
            <a:prstDash val="solid"/>
          </a:ln>
        </p:spPr>
      </p:sp>
      <p:sp>
        <p:nvSpPr>
          <p:cNvPr id="72" name="03-line-70"/>
          <p:cNvSpPr/>
          <p:nvPr/>
        </p:nvSpPr>
        <p:spPr>
          <a:xfrm>
            <a:off x="266700" y="5334000"/>
            <a:ext cx="220980" cy="0"/>
          </a:xfrm>
          <a:prstGeom prst="line">
            <a:avLst/>
          </a:prstGeom>
          <a:noFill/>
          <a:ln w="12954">
            <a:solidFill>
              <a:srgbClr val="EAB291"/>
            </a:solidFill>
            <a:prstDash val="solid"/>
            <a:tailEnd type="arrow"/>
          </a:ln>
        </p:spPr>
      </p:sp>
      <p:sp>
        <p:nvSpPr>
          <p:cNvPr id="73" name="03-text-71"/>
          <p:cNvSpPr/>
          <p:nvPr/>
        </p:nvSpPr>
        <p:spPr>
          <a:xfrm>
            <a:off x="487680" y="5939165"/>
            <a:ext cx="7591627" cy="217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Политика выбирает, какие сущности защищать. Качество детектора определяет полноту маскирования.</a:t>
            </a:r>
            <a:endParaRPr lang="ru-RU" sz="1200" dirty="0"/>
          </a:p>
        </p:txBody>
      </p:sp>
      <p:sp>
        <p:nvSpPr>
          <p:cNvPr id="74" name="03-line-72"/>
          <p:cNvSpPr/>
          <p:nvPr/>
        </p:nvSpPr>
        <p:spPr>
          <a:xfrm>
            <a:off x="8740140" y="5486400"/>
            <a:ext cx="28956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</a:ln>
        </p:spPr>
      </p:sp>
      <p:sp>
        <p:nvSpPr>
          <p:cNvPr id="75" name="03-text-73"/>
          <p:cNvSpPr/>
          <p:nvPr/>
        </p:nvSpPr>
        <p:spPr>
          <a:xfrm>
            <a:off x="9121140" y="5392333"/>
            <a:ext cx="320991" cy="18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ядро</a:t>
            </a:r>
            <a:endParaRPr lang="ru-RU" sz="1020" dirty="0"/>
          </a:p>
        </p:txBody>
      </p:sp>
      <p:sp>
        <p:nvSpPr>
          <p:cNvPr id="76" name="03-line-74"/>
          <p:cNvSpPr/>
          <p:nvPr/>
        </p:nvSpPr>
        <p:spPr>
          <a:xfrm>
            <a:off x="10165080" y="5486400"/>
            <a:ext cx="28956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dash"/>
          </a:ln>
        </p:spPr>
      </p:sp>
      <p:sp>
        <p:nvSpPr>
          <p:cNvPr id="77" name="03-text-75"/>
          <p:cNvSpPr/>
          <p:nvPr/>
        </p:nvSpPr>
        <p:spPr>
          <a:xfrm>
            <a:off x="10546080" y="5392333"/>
            <a:ext cx="404591" cy="18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опция</a:t>
            </a:r>
            <a:endParaRPr lang="ru-RU" sz="1020" dirty="0"/>
          </a:p>
        </p:txBody>
      </p:sp>
      <p:sp>
        <p:nvSpPr>
          <p:cNvPr id="78" name="03-rect-76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79" name="03-line-77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80" name="03-text-78"/>
          <p:cNvSpPr/>
          <p:nvPr/>
        </p:nvSpPr>
        <p:spPr>
          <a:xfrm>
            <a:off x="487680" y="6475579"/>
            <a:ext cx="3996613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Источники: seif/app.py · seif/ner.py · seif/vault.py · scripts/client_example.py</a:t>
            </a:r>
            <a:endParaRPr lang="ru-RU" sz="900" dirty="0"/>
          </a:p>
        </p:txBody>
      </p:sp>
      <p:sp>
        <p:nvSpPr>
          <p:cNvPr id="81" name="03-text-79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16</a:t>
            </a:r>
            <a:endParaRPr lang="ru-RU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4-rect-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22"/>
            </a:avLst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04-rect-1"/>
          <p:cNvSpPr/>
          <p:nvPr/>
        </p:nvSpPr>
        <p:spPr>
          <a:xfrm>
            <a:off x="487680" y="281940"/>
            <a:ext cx="60960" cy="60960"/>
          </a:xfrm>
          <a:prstGeom prst="roundRect">
            <a:avLst>
              <a:gd name="adj" fmla="val 25000"/>
            </a:avLst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" name="04-text-2"/>
          <p:cNvSpPr/>
          <p:nvPr/>
        </p:nvSpPr>
        <p:spPr>
          <a:xfrm>
            <a:off x="655320" y="261934"/>
            <a:ext cx="1617868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spc="120" kern="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СЕЙФ / АРХИТЕКТУРА</a:t>
            </a:r>
            <a:endParaRPr lang="ru-RU" sz="1020" dirty="0"/>
          </a:p>
        </p:txBody>
      </p:sp>
      <p:sp>
        <p:nvSpPr>
          <p:cNvPr id="5" name="04-text-3"/>
          <p:cNvSpPr/>
          <p:nvPr/>
        </p:nvSpPr>
        <p:spPr>
          <a:xfrm>
            <a:off x="10944315" y="261934"/>
            <a:ext cx="760005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1020" dirty="0"/>
          </a:p>
        </p:txBody>
      </p:sp>
      <p:sp>
        <p:nvSpPr>
          <p:cNvPr id="6" name="04-text-4"/>
          <p:cNvSpPr/>
          <p:nvPr/>
        </p:nvSpPr>
        <p:spPr>
          <a:xfrm>
            <a:off x="487680" y="445919"/>
            <a:ext cx="7910669" cy="461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6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Обратимость без передачи таблицы замен в LLM</a:t>
            </a:r>
            <a:endParaRPr lang="ru-RU" sz="2640" dirty="0"/>
          </a:p>
        </p:txBody>
      </p:sp>
      <p:sp>
        <p:nvSpPr>
          <p:cNvPr id="7" name="04-text-5"/>
          <p:cNvSpPr/>
          <p:nvPr/>
        </p:nvSpPr>
        <p:spPr>
          <a:xfrm>
            <a:off x="487680" y="955685"/>
            <a:ext cx="7892385" cy="217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Token-режим: восстановление ответа разрешает политика системы, а соответствия живут до истечения TTL.</a:t>
            </a:r>
            <a:endParaRPr lang="ru-RU" sz="1200" dirty="0"/>
          </a:p>
        </p:txBody>
      </p:sp>
      <p:sp>
        <p:nvSpPr>
          <p:cNvPr id="8" name="04-rect-6"/>
          <p:cNvSpPr/>
          <p:nvPr/>
        </p:nvSpPr>
        <p:spPr>
          <a:xfrm>
            <a:off x="487680" y="1402080"/>
            <a:ext cx="1798320" cy="716280"/>
          </a:xfrm>
          <a:prstGeom prst="roundRect">
            <a:avLst>
              <a:gd name="adj" fmla="val 2128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9" name="04-rect-7"/>
          <p:cNvSpPr/>
          <p:nvPr/>
        </p:nvSpPr>
        <p:spPr>
          <a:xfrm>
            <a:off x="487680" y="1402080"/>
            <a:ext cx="22860" cy="71628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0" name="04-text-8"/>
          <p:cNvSpPr/>
          <p:nvPr/>
        </p:nvSpPr>
        <p:spPr>
          <a:xfrm>
            <a:off x="670560" y="1469626"/>
            <a:ext cx="1288756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</a:t>
            </a:r>
            <a:endParaRPr lang="ru-RU" sz="1620" dirty="0"/>
          </a:p>
        </p:txBody>
      </p:sp>
      <p:sp>
        <p:nvSpPr>
          <p:cNvPr id="11" name="04-text-9"/>
          <p:cNvSpPr/>
          <p:nvPr/>
        </p:nvSpPr>
        <p:spPr>
          <a:xfrm>
            <a:off x="670560" y="1794488"/>
            <a:ext cx="1345365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+ payload_id</a:t>
            </a:r>
            <a:endParaRPr lang="ru-RU" sz="1140" dirty="0"/>
          </a:p>
        </p:txBody>
      </p:sp>
      <p:sp>
        <p:nvSpPr>
          <p:cNvPr id="12" name="04-rect-10"/>
          <p:cNvSpPr/>
          <p:nvPr/>
        </p:nvSpPr>
        <p:spPr>
          <a:xfrm>
            <a:off x="3406140" y="1402080"/>
            <a:ext cx="2179320" cy="716280"/>
          </a:xfrm>
          <a:prstGeom prst="roundRect">
            <a:avLst>
              <a:gd name="adj" fmla="val 2128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13" name="04-rect-11"/>
          <p:cNvSpPr/>
          <p:nvPr/>
        </p:nvSpPr>
        <p:spPr>
          <a:xfrm>
            <a:off x="3406140" y="1402080"/>
            <a:ext cx="22860" cy="71628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4" name="04-text-12"/>
          <p:cNvSpPr/>
          <p:nvPr/>
        </p:nvSpPr>
        <p:spPr>
          <a:xfrm>
            <a:off x="3589020" y="1469626"/>
            <a:ext cx="775951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SEIF</a:t>
            </a:r>
            <a:endParaRPr lang="ru-RU" sz="1620" dirty="0"/>
          </a:p>
        </p:txBody>
      </p:sp>
      <p:sp>
        <p:nvSpPr>
          <p:cNvPr id="15" name="04-text-13"/>
          <p:cNvSpPr/>
          <p:nvPr/>
        </p:nvSpPr>
        <p:spPr>
          <a:xfrm>
            <a:off x="3589020" y="1794488"/>
            <a:ext cx="1103546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 / restore</a:t>
            </a:r>
            <a:endParaRPr lang="ru-RU" sz="1140" dirty="0"/>
          </a:p>
        </p:txBody>
      </p:sp>
      <p:sp>
        <p:nvSpPr>
          <p:cNvPr id="16" name="04-rect-14"/>
          <p:cNvSpPr/>
          <p:nvPr/>
        </p:nvSpPr>
        <p:spPr>
          <a:xfrm>
            <a:off x="6537960" y="1402080"/>
            <a:ext cx="2179320" cy="716280"/>
          </a:xfrm>
          <a:prstGeom prst="roundRect">
            <a:avLst>
              <a:gd name="adj" fmla="val 2128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17" name="04-rect-15"/>
          <p:cNvSpPr/>
          <p:nvPr/>
        </p:nvSpPr>
        <p:spPr>
          <a:xfrm>
            <a:off x="6537960" y="1402080"/>
            <a:ext cx="22860" cy="71628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8" name="04-text-16"/>
          <p:cNvSpPr/>
          <p:nvPr/>
        </p:nvSpPr>
        <p:spPr>
          <a:xfrm>
            <a:off x="6720840" y="1469626"/>
            <a:ext cx="1174488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vault</a:t>
            </a:r>
            <a:endParaRPr lang="ru-RU" sz="1620" dirty="0"/>
          </a:p>
        </p:txBody>
      </p:sp>
      <p:sp>
        <p:nvSpPr>
          <p:cNvPr id="19" name="04-text-17"/>
          <p:cNvSpPr/>
          <p:nvPr/>
        </p:nvSpPr>
        <p:spPr>
          <a:xfrm>
            <a:off x="6720840" y="1794488"/>
            <a:ext cx="1077132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AES-GCM + TTL</a:t>
            </a:r>
            <a:endParaRPr lang="ru-RU" sz="1140" dirty="0"/>
          </a:p>
        </p:txBody>
      </p:sp>
      <p:sp>
        <p:nvSpPr>
          <p:cNvPr id="20" name="04-rect-18"/>
          <p:cNvSpPr/>
          <p:nvPr/>
        </p:nvSpPr>
        <p:spPr>
          <a:xfrm>
            <a:off x="9700260" y="1402080"/>
            <a:ext cx="2004060" cy="716280"/>
          </a:xfrm>
          <a:prstGeom prst="roundRect">
            <a:avLst>
              <a:gd name="adj" fmla="val 2128"/>
            </a:avLst>
          </a:prstGeom>
          <a:solidFill>
            <a:srgbClr val="1C2A22"/>
          </a:solidFill>
          <a:ln w="9144">
            <a:solidFill>
              <a:srgbClr val="EAB291"/>
            </a:solidFill>
            <a:prstDash val="solid"/>
          </a:ln>
        </p:spPr>
      </p:sp>
      <p:sp>
        <p:nvSpPr>
          <p:cNvPr id="21" name="04-rect-19"/>
          <p:cNvSpPr/>
          <p:nvPr/>
        </p:nvSpPr>
        <p:spPr>
          <a:xfrm>
            <a:off x="9700260" y="1402080"/>
            <a:ext cx="22860" cy="716280"/>
          </a:xfrm>
          <a:prstGeom prst="rect">
            <a:avLst/>
          </a:prstGeom>
          <a:solidFill>
            <a:srgbClr val="EAB291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2" name="04-text-20"/>
          <p:cNvSpPr/>
          <p:nvPr/>
        </p:nvSpPr>
        <p:spPr>
          <a:xfrm>
            <a:off x="9883140" y="1469626"/>
            <a:ext cx="1336585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Внешняя LLM</a:t>
            </a:r>
            <a:endParaRPr lang="ru-RU" sz="1620" dirty="0"/>
          </a:p>
        </p:txBody>
      </p:sp>
      <p:sp>
        <p:nvSpPr>
          <p:cNvPr id="23" name="04-text-21"/>
          <p:cNvSpPr/>
          <p:nvPr/>
        </p:nvSpPr>
        <p:spPr>
          <a:xfrm>
            <a:off x="9883140" y="1794488"/>
            <a:ext cx="1351072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вызов приложения</a:t>
            </a:r>
            <a:endParaRPr lang="ru-RU" sz="1140" dirty="0"/>
          </a:p>
        </p:txBody>
      </p:sp>
      <p:sp>
        <p:nvSpPr>
          <p:cNvPr id="24" name="04-line-22"/>
          <p:cNvSpPr/>
          <p:nvPr/>
        </p:nvSpPr>
        <p:spPr>
          <a:xfrm>
            <a:off x="1386840" y="2118360"/>
            <a:ext cx="0" cy="3787140"/>
          </a:xfrm>
          <a:prstGeom prst="line">
            <a:avLst/>
          </a:prstGeom>
          <a:noFill/>
          <a:ln w="7620">
            <a:solidFill>
              <a:srgbClr val="334138"/>
            </a:solidFill>
            <a:prstDash val="dash"/>
          </a:ln>
        </p:spPr>
      </p:sp>
      <p:sp>
        <p:nvSpPr>
          <p:cNvPr id="25" name="04-line-23"/>
          <p:cNvSpPr/>
          <p:nvPr/>
        </p:nvSpPr>
        <p:spPr>
          <a:xfrm>
            <a:off x="4495800" y="2118360"/>
            <a:ext cx="0" cy="3787140"/>
          </a:xfrm>
          <a:prstGeom prst="line">
            <a:avLst/>
          </a:prstGeom>
          <a:noFill/>
          <a:ln w="7620">
            <a:solidFill>
              <a:srgbClr val="334138"/>
            </a:solidFill>
            <a:prstDash val="dash"/>
          </a:ln>
        </p:spPr>
      </p:sp>
      <p:sp>
        <p:nvSpPr>
          <p:cNvPr id="26" name="04-line-24"/>
          <p:cNvSpPr/>
          <p:nvPr/>
        </p:nvSpPr>
        <p:spPr>
          <a:xfrm>
            <a:off x="7627620" y="2118360"/>
            <a:ext cx="0" cy="3787140"/>
          </a:xfrm>
          <a:prstGeom prst="line">
            <a:avLst/>
          </a:prstGeom>
          <a:noFill/>
          <a:ln w="7620">
            <a:solidFill>
              <a:srgbClr val="334138"/>
            </a:solidFill>
            <a:prstDash val="dash"/>
          </a:ln>
        </p:spPr>
      </p:sp>
      <p:sp>
        <p:nvSpPr>
          <p:cNvPr id="27" name="04-line-25"/>
          <p:cNvSpPr/>
          <p:nvPr/>
        </p:nvSpPr>
        <p:spPr>
          <a:xfrm>
            <a:off x="10698480" y="2118360"/>
            <a:ext cx="0" cy="3787140"/>
          </a:xfrm>
          <a:prstGeom prst="line">
            <a:avLst/>
          </a:prstGeom>
          <a:noFill/>
          <a:ln w="7620">
            <a:solidFill>
              <a:srgbClr val="334138"/>
            </a:solidFill>
            <a:prstDash val="dash"/>
          </a:ln>
        </p:spPr>
      </p:sp>
      <p:sp>
        <p:nvSpPr>
          <p:cNvPr id="28" name="04-line-26"/>
          <p:cNvSpPr/>
          <p:nvPr/>
        </p:nvSpPr>
        <p:spPr>
          <a:xfrm>
            <a:off x="9197340" y="1341120"/>
            <a:ext cx="0" cy="4648200"/>
          </a:xfrm>
          <a:prstGeom prst="line">
            <a:avLst/>
          </a:prstGeom>
          <a:noFill/>
          <a:ln w="7620">
            <a:solidFill>
              <a:srgbClr val="334138"/>
            </a:solidFill>
            <a:prstDash val="dash"/>
          </a:ln>
        </p:spPr>
      </p:sp>
      <p:sp>
        <p:nvSpPr>
          <p:cNvPr id="29" name="04-text-27"/>
          <p:cNvSpPr/>
          <p:nvPr/>
        </p:nvSpPr>
        <p:spPr>
          <a:xfrm>
            <a:off x="9349740" y="2265994"/>
            <a:ext cx="612576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ВНЕ SEIF</a:t>
            </a:r>
            <a:endParaRPr lang="ru-RU" sz="1020" dirty="0"/>
          </a:p>
        </p:txBody>
      </p:sp>
      <p:sp>
        <p:nvSpPr>
          <p:cNvPr id="30" name="04-line-28"/>
          <p:cNvSpPr/>
          <p:nvPr/>
        </p:nvSpPr>
        <p:spPr>
          <a:xfrm>
            <a:off x="1386840" y="2461260"/>
            <a:ext cx="310896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31" name="04-text-29"/>
          <p:cNvSpPr/>
          <p:nvPr/>
        </p:nvSpPr>
        <p:spPr>
          <a:xfrm>
            <a:off x="1508760" y="2214190"/>
            <a:ext cx="1222593" cy="19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/v1/mask · token</a:t>
            </a:r>
            <a:endParaRPr lang="ru-RU" sz="1080" dirty="0"/>
          </a:p>
        </p:txBody>
      </p:sp>
      <p:sp>
        <p:nvSpPr>
          <p:cNvPr id="32" name="04-line-30"/>
          <p:cNvSpPr/>
          <p:nvPr/>
        </p:nvSpPr>
        <p:spPr>
          <a:xfrm>
            <a:off x="4495800" y="2956560"/>
            <a:ext cx="313182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33" name="04-text-31"/>
          <p:cNvSpPr/>
          <p:nvPr/>
        </p:nvSpPr>
        <p:spPr>
          <a:xfrm>
            <a:off x="4617720" y="2709490"/>
            <a:ext cx="2350445" cy="19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записать зашифрованную запись</a:t>
            </a:r>
            <a:endParaRPr lang="ru-RU" sz="1080" dirty="0"/>
          </a:p>
        </p:txBody>
      </p:sp>
      <p:sp>
        <p:nvSpPr>
          <p:cNvPr id="34" name="04-line-32"/>
          <p:cNvSpPr/>
          <p:nvPr/>
        </p:nvSpPr>
        <p:spPr>
          <a:xfrm flipH="1">
            <a:off x="1386840" y="3451860"/>
            <a:ext cx="310896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35" name="04-text-33"/>
          <p:cNvSpPr/>
          <p:nvPr/>
        </p:nvSpPr>
        <p:spPr>
          <a:xfrm>
            <a:off x="1508760" y="3204790"/>
            <a:ext cx="1269867" cy="19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текст с токенами</a:t>
            </a:r>
            <a:endParaRPr lang="ru-RU" sz="1080" dirty="0"/>
          </a:p>
        </p:txBody>
      </p:sp>
      <p:sp>
        <p:nvSpPr>
          <p:cNvPr id="36" name="04-line-34"/>
          <p:cNvSpPr/>
          <p:nvPr/>
        </p:nvSpPr>
        <p:spPr>
          <a:xfrm>
            <a:off x="1386840" y="3947160"/>
            <a:ext cx="9311640" cy="0"/>
          </a:xfrm>
          <a:prstGeom prst="line">
            <a:avLst/>
          </a:prstGeom>
          <a:noFill/>
          <a:ln w="12954">
            <a:solidFill>
              <a:srgbClr val="EAB291"/>
            </a:solidFill>
            <a:prstDash val="solid"/>
            <a:tailEnd type="arrow"/>
          </a:ln>
        </p:spPr>
      </p:sp>
      <p:sp>
        <p:nvSpPr>
          <p:cNvPr id="37" name="04-text-35"/>
          <p:cNvSpPr/>
          <p:nvPr/>
        </p:nvSpPr>
        <p:spPr>
          <a:xfrm>
            <a:off x="1508760" y="3700090"/>
            <a:ext cx="2625563" cy="19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приложение → LLM: текст с токенами</a:t>
            </a:r>
            <a:endParaRPr lang="ru-RU" sz="1080" dirty="0"/>
          </a:p>
        </p:txBody>
      </p:sp>
      <p:sp>
        <p:nvSpPr>
          <p:cNvPr id="38" name="04-line-36"/>
          <p:cNvSpPr/>
          <p:nvPr/>
        </p:nvSpPr>
        <p:spPr>
          <a:xfrm flipH="1">
            <a:off x="1386840" y="4442460"/>
            <a:ext cx="9311640" cy="0"/>
          </a:xfrm>
          <a:prstGeom prst="line">
            <a:avLst/>
          </a:prstGeom>
          <a:noFill/>
          <a:ln w="12954">
            <a:solidFill>
              <a:srgbClr val="EAB291"/>
            </a:solidFill>
            <a:prstDash val="solid"/>
            <a:tailEnd type="arrow"/>
          </a:ln>
        </p:spPr>
      </p:sp>
      <p:sp>
        <p:nvSpPr>
          <p:cNvPr id="39" name="04-text-37"/>
          <p:cNvSpPr/>
          <p:nvPr/>
        </p:nvSpPr>
        <p:spPr>
          <a:xfrm>
            <a:off x="1508760" y="4195390"/>
            <a:ext cx="2603521" cy="19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ответ LLM с сохранёнными токенами</a:t>
            </a:r>
            <a:endParaRPr lang="ru-RU" sz="1080" dirty="0"/>
          </a:p>
        </p:txBody>
      </p:sp>
      <p:sp>
        <p:nvSpPr>
          <p:cNvPr id="40" name="04-line-38"/>
          <p:cNvSpPr/>
          <p:nvPr/>
        </p:nvSpPr>
        <p:spPr>
          <a:xfrm>
            <a:off x="1386840" y="4937760"/>
            <a:ext cx="310896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41" name="04-text-39"/>
          <p:cNvSpPr/>
          <p:nvPr/>
        </p:nvSpPr>
        <p:spPr>
          <a:xfrm>
            <a:off x="1508760" y="4690690"/>
            <a:ext cx="918293" cy="19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 /v1/unmask</a:t>
            </a:r>
            <a:endParaRPr lang="ru-RU" sz="1080" dirty="0"/>
          </a:p>
        </p:txBody>
      </p:sp>
      <p:sp>
        <p:nvSpPr>
          <p:cNvPr id="42" name="04-line-40"/>
          <p:cNvSpPr/>
          <p:nvPr/>
        </p:nvSpPr>
        <p:spPr>
          <a:xfrm>
            <a:off x="4495800" y="5433060"/>
            <a:ext cx="313182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43" name="04-text-41"/>
          <p:cNvSpPr/>
          <p:nvPr/>
        </p:nvSpPr>
        <p:spPr>
          <a:xfrm>
            <a:off x="4617720" y="5185990"/>
            <a:ext cx="1967401" cy="19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 прочитать и расшифровать</a:t>
            </a:r>
            <a:endParaRPr lang="ru-RU" sz="1080" dirty="0"/>
          </a:p>
        </p:txBody>
      </p:sp>
      <p:sp>
        <p:nvSpPr>
          <p:cNvPr id="44" name="04-line-42"/>
          <p:cNvSpPr/>
          <p:nvPr/>
        </p:nvSpPr>
        <p:spPr>
          <a:xfrm flipH="1">
            <a:off x="1386840" y="5928360"/>
            <a:ext cx="310896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45" name="04-text-43"/>
          <p:cNvSpPr/>
          <p:nvPr/>
        </p:nvSpPr>
        <p:spPr>
          <a:xfrm>
            <a:off x="1508760" y="5681290"/>
            <a:ext cx="1721535" cy="19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 восстановленный ответ</a:t>
            </a:r>
            <a:endParaRPr lang="ru-RU" sz="1080" dirty="0"/>
          </a:p>
        </p:txBody>
      </p:sp>
      <p:sp>
        <p:nvSpPr>
          <p:cNvPr id="46" name="04-text-44"/>
          <p:cNvSpPr/>
          <p:nvPr/>
        </p:nvSpPr>
        <p:spPr>
          <a:xfrm>
            <a:off x="5334000" y="4721170"/>
            <a:ext cx="1733319" cy="19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тот же tenant + payload_id</a:t>
            </a:r>
            <a:endParaRPr lang="ru-RU" sz="1080" dirty="0"/>
          </a:p>
        </p:txBody>
      </p:sp>
      <p:sp>
        <p:nvSpPr>
          <p:cNvPr id="47" name="04-text-45"/>
          <p:cNvSpPr/>
          <p:nvPr/>
        </p:nvSpPr>
        <p:spPr>
          <a:xfrm>
            <a:off x="8305800" y="5727435"/>
            <a:ext cx="1896074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HMAC(tenant, payload_id)</a:t>
            </a:r>
            <a:endParaRPr lang="ru-RU" sz="1080" dirty="0"/>
          </a:p>
        </p:txBody>
      </p:sp>
      <p:sp>
        <p:nvSpPr>
          <p:cNvPr id="48" name="04-text-46"/>
          <p:cNvSpPr/>
          <p:nvPr/>
        </p:nvSpPr>
        <p:spPr>
          <a:xfrm>
            <a:off x="487680" y="6146110"/>
            <a:ext cx="7641458" cy="19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 истёк → 410. Неизвестный или повреждённый токен не восстанавливается; ошибка детекции остаётся риском.</a:t>
            </a:r>
            <a:endParaRPr lang="ru-RU" sz="1080" dirty="0"/>
          </a:p>
        </p:txBody>
      </p:sp>
      <p:sp>
        <p:nvSpPr>
          <p:cNvPr id="49" name="04-rect-47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0" name="04-line-48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51" name="04-text-49"/>
          <p:cNvSpPr/>
          <p:nvPr/>
        </p:nvSpPr>
        <p:spPr>
          <a:xfrm>
            <a:off x="487680" y="6475579"/>
            <a:ext cx="2942884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Источники: seif/transform.py · seif/vault.py · seif/app.py</a:t>
            </a:r>
            <a:endParaRPr lang="ru-RU" sz="900" dirty="0"/>
          </a:p>
        </p:txBody>
      </p:sp>
      <p:sp>
        <p:nvSpPr>
          <p:cNvPr id="52" name="04-text-50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16</a:t>
            </a:r>
            <a:endParaRPr lang="ru-RU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5-rect-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22"/>
            </a:avLst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05-rect-1"/>
          <p:cNvSpPr/>
          <p:nvPr/>
        </p:nvSpPr>
        <p:spPr>
          <a:xfrm>
            <a:off x="487680" y="281940"/>
            <a:ext cx="60960" cy="60960"/>
          </a:xfrm>
          <a:prstGeom prst="roundRect">
            <a:avLst>
              <a:gd name="adj" fmla="val 25000"/>
            </a:avLst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" name="05-text-2"/>
          <p:cNvSpPr/>
          <p:nvPr/>
        </p:nvSpPr>
        <p:spPr>
          <a:xfrm>
            <a:off x="655320" y="261934"/>
            <a:ext cx="1617868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spc="120" kern="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СЕЙФ / АРХИТЕКТУРА</a:t>
            </a:r>
            <a:endParaRPr lang="ru-RU" sz="1020" dirty="0"/>
          </a:p>
        </p:txBody>
      </p:sp>
      <p:sp>
        <p:nvSpPr>
          <p:cNvPr id="5" name="05-text-3"/>
          <p:cNvSpPr/>
          <p:nvPr/>
        </p:nvSpPr>
        <p:spPr>
          <a:xfrm>
            <a:off x="10944315" y="261934"/>
            <a:ext cx="760005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1020" dirty="0"/>
          </a:p>
        </p:txBody>
      </p:sp>
      <p:sp>
        <p:nvSpPr>
          <p:cNvPr id="6" name="05-text-4"/>
          <p:cNvSpPr/>
          <p:nvPr/>
        </p:nvSpPr>
        <p:spPr>
          <a:xfrm>
            <a:off x="487680" y="445919"/>
            <a:ext cx="7685821" cy="461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6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Детекция: правила и RuBERT в одном контракте</a:t>
            </a:r>
            <a:endParaRPr lang="ru-RU" sz="2640" dirty="0"/>
          </a:p>
        </p:txBody>
      </p:sp>
      <p:sp>
        <p:nvSpPr>
          <p:cNvPr id="7" name="05-text-5"/>
          <p:cNvSpPr/>
          <p:nvPr/>
        </p:nvSpPr>
        <p:spPr>
          <a:xfrm>
            <a:off x="487680" y="955685"/>
            <a:ext cx="7258214" cy="217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Экспериментальный GPU-профиль · исходные Unicode-координаты сохраняются до самой замены.</a:t>
            </a:r>
            <a:endParaRPr lang="ru-RU" sz="1200" dirty="0"/>
          </a:p>
        </p:txBody>
      </p:sp>
      <p:sp>
        <p:nvSpPr>
          <p:cNvPr id="8" name="05-rect-6"/>
          <p:cNvSpPr/>
          <p:nvPr/>
        </p:nvSpPr>
        <p:spPr>
          <a:xfrm>
            <a:off x="487680" y="2019300"/>
            <a:ext cx="1920240" cy="1165860"/>
          </a:xfrm>
          <a:prstGeom prst="roundRect">
            <a:avLst>
              <a:gd name="adj" fmla="val 1307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9" name="05-rect-7"/>
          <p:cNvSpPr/>
          <p:nvPr/>
        </p:nvSpPr>
        <p:spPr>
          <a:xfrm>
            <a:off x="487680" y="2019300"/>
            <a:ext cx="22860" cy="116586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0" name="05-text-8"/>
          <p:cNvSpPr/>
          <p:nvPr/>
        </p:nvSpPr>
        <p:spPr>
          <a:xfrm>
            <a:off x="670560" y="2086846"/>
            <a:ext cx="1565954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Исходный текст</a:t>
            </a:r>
            <a:endParaRPr lang="ru-RU" sz="1620" dirty="0"/>
          </a:p>
        </p:txBody>
      </p:sp>
      <p:sp>
        <p:nvSpPr>
          <p:cNvPr id="11" name="05-text-9"/>
          <p:cNvSpPr/>
          <p:nvPr/>
        </p:nvSpPr>
        <p:spPr>
          <a:xfrm>
            <a:off x="670560" y="2411708"/>
            <a:ext cx="1387583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Unicode code points</a:t>
            </a:r>
            <a:endParaRPr lang="ru-RU" sz="1140" dirty="0"/>
          </a:p>
        </p:txBody>
      </p:sp>
      <p:sp>
        <p:nvSpPr>
          <p:cNvPr id="12" name="05-text-10"/>
          <p:cNvSpPr/>
          <p:nvPr/>
        </p:nvSpPr>
        <p:spPr>
          <a:xfrm>
            <a:off x="670560" y="2625068"/>
            <a:ext cx="1312805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 нормализации</a:t>
            </a:r>
            <a:endParaRPr lang="ru-RU" sz="1140" dirty="0"/>
          </a:p>
        </p:txBody>
      </p:sp>
      <p:sp>
        <p:nvSpPr>
          <p:cNvPr id="13" name="05-rect-11"/>
          <p:cNvSpPr/>
          <p:nvPr/>
        </p:nvSpPr>
        <p:spPr>
          <a:xfrm>
            <a:off x="2918460" y="1798320"/>
            <a:ext cx="2362200" cy="1150620"/>
          </a:xfrm>
          <a:prstGeom prst="roundRect">
            <a:avLst>
              <a:gd name="adj" fmla="val 1325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14" name="05-rect-12"/>
          <p:cNvSpPr/>
          <p:nvPr/>
        </p:nvSpPr>
        <p:spPr>
          <a:xfrm>
            <a:off x="2918460" y="1798320"/>
            <a:ext cx="22860" cy="115062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5" name="05-text-13"/>
          <p:cNvSpPr/>
          <p:nvPr/>
        </p:nvSpPr>
        <p:spPr>
          <a:xfrm>
            <a:off x="3101340" y="1865866"/>
            <a:ext cx="1780662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Правила РФ / СНГ</a:t>
            </a:r>
            <a:endParaRPr lang="ru-RU" sz="1620" dirty="0"/>
          </a:p>
        </p:txBody>
      </p:sp>
      <p:sp>
        <p:nvSpPr>
          <p:cNvPr id="16" name="05-text-14"/>
          <p:cNvSpPr/>
          <p:nvPr/>
        </p:nvSpPr>
        <p:spPr>
          <a:xfrm>
            <a:off x="3101340" y="2190728"/>
            <a:ext cx="1776615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формат и проверки сумм</a:t>
            </a:r>
            <a:endParaRPr lang="ru-RU" sz="1140" dirty="0"/>
          </a:p>
        </p:txBody>
      </p:sp>
      <p:sp>
        <p:nvSpPr>
          <p:cNvPr id="17" name="05-text-15"/>
          <p:cNvSpPr/>
          <p:nvPr/>
        </p:nvSpPr>
        <p:spPr>
          <a:xfrm>
            <a:off x="3101340" y="2404088"/>
            <a:ext cx="1983606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контекст и типы документов</a:t>
            </a:r>
            <a:endParaRPr lang="ru-RU" sz="1140" dirty="0"/>
          </a:p>
        </p:txBody>
      </p:sp>
      <p:sp>
        <p:nvSpPr>
          <p:cNvPr id="18" name="05-rect-16"/>
          <p:cNvSpPr/>
          <p:nvPr/>
        </p:nvSpPr>
        <p:spPr>
          <a:xfrm>
            <a:off x="2918460" y="3794760"/>
            <a:ext cx="2362200" cy="1264920"/>
          </a:xfrm>
          <a:prstGeom prst="roundRect">
            <a:avLst>
              <a:gd name="adj" fmla="val 1205"/>
            </a:avLst>
          </a:prstGeom>
          <a:solidFill>
            <a:srgbClr val="1C2A22"/>
          </a:solidFill>
          <a:ln w="9144">
            <a:solidFill>
              <a:srgbClr val="C0F0C5"/>
            </a:solidFill>
            <a:prstDash val="dash"/>
          </a:ln>
        </p:spPr>
      </p:sp>
      <p:sp>
        <p:nvSpPr>
          <p:cNvPr id="19" name="05-rect-17"/>
          <p:cNvSpPr/>
          <p:nvPr/>
        </p:nvSpPr>
        <p:spPr>
          <a:xfrm>
            <a:off x="2918460" y="3794760"/>
            <a:ext cx="22860" cy="126492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0" name="05-text-18"/>
          <p:cNvSpPr/>
          <p:nvPr/>
        </p:nvSpPr>
        <p:spPr>
          <a:xfrm>
            <a:off x="3101340" y="3862306"/>
            <a:ext cx="1810607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RuBERT / TensorRT</a:t>
            </a:r>
            <a:endParaRPr lang="ru-RU" sz="1620" dirty="0"/>
          </a:p>
        </p:txBody>
      </p:sp>
      <p:sp>
        <p:nvSpPr>
          <p:cNvPr id="21" name="05-text-19"/>
          <p:cNvSpPr/>
          <p:nvPr/>
        </p:nvSpPr>
        <p:spPr>
          <a:xfrm>
            <a:off x="3101340" y="4187168"/>
            <a:ext cx="1375876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FP16 · word decoder</a:t>
            </a:r>
            <a:endParaRPr lang="ru-RU" sz="1140" dirty="0"/>
          </a:p>
        </p:txBody>
      </p:sp>
      <p:sp>
        <p:nvSpPr>
          <p:cNvPr id="22" name="05-text-20"/>
          <p:cNvSpPr/>
          <p:nvPr/>
        </p:nvSpPr>
        <p:spPr>
          <a:xfrm>
            <a:off x="3101340" y="4400528"/>
            <a:ext cx="1172031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нативный тип</a:t>
            </a:r>
            <a:endParaRPr lang="ru-RU" sz="1140" dirty="0"/>
          </a:p>
        </p:txBody>
      </p:sp>
      <p:sp>
        <p:nvSpPr>
          <p:cNvPr id="23" name="05-rect-21"/>
          <p:cNvSpPr/>
          <p:nvPr/>
        </p:nvSpPr>
        <p:spPr>
          <a:xfrm>
            <a:off x="5791200" y="3794760"/>
            <a:ext cx="2362200" cy="1264920"/>
          </a:xfrm>
          <a:prstGeom prst="roundRect">
            <a:avLst>
              <a:gd name="adj" fmla="val 1205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24" name="05-rect-22"/>
          <p:cNvSpPr/>
          <p:nvPr/>
        </p:nvSpPr>
        <p:spPr>
          <a:xfrm>
            <a:off x="5791200" y="3794760"/>
            <a:ext cx="22860" cy="126492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5" name="05-text-23"/>
          <p:cNvSpPr/>
          <p:nvPr/>
        </p:nvSpPr>
        <p:spPr>
          <a:xfrm>
            <a:off x="5974080" y="3862306"/>
            <a:ext cx="1772136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Контракт: 21 → 14</a:t>
            </a:r>
            <a:endParaRPr lang="ru-RU" sz="1620" dirty="0"/>
          </a:p>
        </p:txBody>
      </p:sp>
      <p:sp>
        <p:nvSpPr>
          <p:cNvPr id="26" name="05-text-24"/>
          <p:cNvSpPr/>
          <p:nvPr/>
        </p:nvSpPr>
        <p:spPr>
          <a:xfrm>
            <a:off x="5974080" y="4187168"/>
            <a:ext cx="1122350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ФИО → PERSON</a:t>
            </a:r>
            <a:endParaRPr lang="ru-RU" sz="1140" dirty="0"/>
          </a:p>
        </p:txBody>
      </p:sp>
      <p:sp>
        <p:nvSpPr>
          <p:cNvPr id="27" name="05-text-25"/>
          <p:cNvSpPr/>
          <p:nvPr/>
        </p:nvSpPr>
        <p:spPr>
          <a:xfrm>
            <a:off x="5974080" y="4400528"/>
            <a:ext cx="1344487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адрес → LOCATION</a:t>
            </a:r>
            <a:endParaRPr lang="ru-RU" sz="1140" dirty="0"/>
          </a:p>
        </p:txBody>
      </p:sp>
      <p:sp>
        <p:nvSpPr>
          <p:cNvPr id="28" name="05-text-26"/>
          <p:cNvSpPr/>
          <p:nvPr/>
        </p:nvSpPr>
        <p:spPr>
          <a:xfrm>
            <a:off x="5974080" y="4613888"/>
            <a:ext cx="1535235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границы сохраняются</a:t>
            </a:r>
            <a:endParaRPr lang="ru-RU" sz="1140" dirty="0"/>
          </a:p>
        </p:txBody>
      </p:sp>
      <p:sp>
        <p:nvSpPr>
          <p:cNvPr id="29" name="05-rect-27"/>
          <p:cNvSpPr/>
          <p:nvPr/>
        </p:nvSpPr>
        <p:spPr>
          <a:xfrm>
            <a:off x="8663940" y="1798320"/>
            <a:ext cx="3040380" cy="2118360"/>
          </a:xfrm>
          <a:prstGeom prst="roundRect">
            <a:avLst>
              <a:gd name="adj" fmla="val 719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30" name="05-rect-28"/>
          <p:cNvSpPr/>
          <p:nvPr/>
        </p:nvSpPr>
        <p:spPr>
          <a:xfrm>
            <a:off x="8663940" y="1798320"/>
            <a:ext cx="22860" cy="211836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1" name="05-text-29"/>
          <p:cNvSpPr/>
          <p:nvPr/>
        </p:nvSpPr>
        <p:spPr>
          <a:xfrm>
            <a:off x="8846820" y="1938334"/>
            <a:ext cx="1349720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СЛИЯНИЕ КАНДИДАТОВ</a:t>
            </a:r>
            <a:endParaRPr lang="ru-RU" sz="1020" dirty="0"/>
          </a:p>
        </p:txBody>
      </p:sp>
      <p:sp>
        <p:nvSpPr>
          <p:cNvPr id="32" name="05-text-30"/>
          <p:cNvSpPr/>
          <p:nvPr/>
        </p:nvSpPr>
        <p:spPr>
          <a:xfrm>
            <a:off x="8846820" y="2131963"/>
            <a:ext cx="2130750" cy="299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Контекст + политика</a:t>
            </a:r>
            <a:endParaRPr lang="ru-RU" sz="1680" dirty="0"/>
          </a:p>
        </p:txBody>
      </p:sp>
      <p:sp>
        <p:nvSpPr>
          <p:cNvPr id="33" name="05-text-31"/>
          <p:cNvSpPr/>
          <p:nvPr/>
        </p:nvSpPr>
        <p:spPr>
          <a:xfrm>
            <a:off x="8846820" y="2517785"/>
            <a:ext cx="2112373" cy="217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валидация типа и координат</a:t>
            </a:r>
            <a:endParaRPr lang="ru-RU" sz="1200" dirty="0"/>
          </a:p>
        </p:txBody>
      </p:sp>
      <p:sp>
        <p:nvSpPr>
          <p:cNvPr id="34" name="05-text-32"/>
          <p:cNvSpPr/>
          <p:nvPr/>
        </p:nvSpPr>
        <p:spPr>
          <a:xfrm>
            <a:off x="8846820" y="2776865"/>
            <a:ext cx="2014637" cy="217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приоритеты и пересечения</a:t>
            </a:r>
            <a:endParaRPr lang="ru-RU" sz="1200" dirty="0"/>
          </a:p>
        </p:txBody>
      </p:sp>
      <p:sp>
        <p:nvSpPr>
          <p:cNvPr id="35" name="05-text-33"/>
          <p:cNvSpPr/>
          <p:nvPr/>
        </p:nvSpPr>
        <p:spPr>
          <a:xfrm>
            <a:off x="8846820" y="3035945"/>
            <a:ext cx="1940237" cy="217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разрешённые tenant-типы</a:t>
            </a:r>
            <a:endParaRPr lang="ru-RU" sz="1200" dirty="0"/>
          </a:p>
        </p:txBody>
      </p:sp>
      <p:sp>
        <p:nvSpPr>
          <p:cNvPr id="36" name="05-text-34"/>
          <p:cNvSpPr/>
          <p:nvPr/>
        </p:nvSpPr>
        <p:spPr>
          <a:xfrm>
            <a:off x="8846820" y="3295025"/>
            <a:ext cx="1620764" cy="217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упорядоченные spans</a:t>
            </a:r>
            <a:endParaRPr lang="ru-RU" sz="1200" dirty="0"/>
          </a:p>
        </p:txBody>
      </p:sp>
      <p:sp>
        <p:nvSpPr>
          <p:cNvPr id="37" name="05-line-35"/>
          <p:cNvSpPr/>
          <p:nvPr/>
        </p:nvSpPr>
        <p:spPr>
          <a:xfrm>
            <a:off x="2407920" y="2377440"/>
            <a:ext cx="51054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38" name="05-line-36"/>
          <p:cNvSpPr/>
          <p:nvPr/>
        </p:nvSpPr>
        <p:spPr>
          <a:xfrm>
            <a:off x="1447800" y="3185160"/>
            <a:ext cx="0" cy="1242060"/>
          </a:xfrm>
          <a:prstGeom prst="line">
            <a:avLst/>
          </a:prstGeom>
          <a:noFill/>
          <a:ln w="12954">
            <a:solidFill>
              <a:srgbClr val="C0F0C5"/>
            </a:solidFill>
            <a:prstDash val="dash"/>
          </a:ln>
        </p:spPr>
      </p:sp>
      <p:sp>
        <p:nvSpPr>
          <p:cNvPr id="39" name="05-line-37"/>
          <p:cNvSpPr/>
          <p:nvPr/>
        </p:nvSpPr>
        <p:spPr>
          <a:xfrm>
            <a:off x="1447800" y="4427220"/>
            <a:ext cx="147066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dash"/>
            <a:tailEnd type="arrow"/>
          </a:ln>
        </p:spPr>
      </p:sp>
      <p:sp>
        <p:nvSpPr>
          <p:cNvPr id="40" name="05-line-38"/>
          <p:cNvSpPr/>
          <p:nvPr/>
        </p:nvSpPr>
        <p:spPr>
          <a:xfrm>
            <a:off x="5280660" y="2377440"/>
            <a:ext cx="338328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41" name="05-text-39"/>
          <p:cNvSpPr/>
          <p:nvPr/>
        </p:nvSpPr>
        <p:spPr>
          <a:xfrm>
            <a:off x="5844540" y="2128834"/>
            <a:ext cx="760005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spans</a:t>
            </a:r>
            <a:endParaRPr lang="ru-RU" sz="1020" dirty="0"/>
          </a:p>
        </p:txBody>
      </p:sp>
      <p:sp>
        <p:nvSpPr>
          <p:cNvPr id="42" name="05-line-40"/>
          <p:cNvSpPr/>
          <p:nvPr/>
        </p:nvSpPr>
        <p:spPr>
          <a:xfrm>
            <a:off x="5280660" y="4427220"/>
            <a:ext cx="51054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43" name="05-line-41"/>
          <p:cNvSpPr/>
          <p:nvPr/>
        </p:nvSpPr>
        <p:spPr>
          <a:xfrm>
            <a:off x="8153400" y="4427220"/>
            <a:ext cx="23622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</a:ln>
        </p:spPr>
      </p:sp>
      <p:sp>
        <p:nvSpPr>
          <p:cNvPr id="44" name="05-line-42"/>
          <p:cNvSpPr/>
          <p:nvPr/>
        </p:nvSpPr>
        <p:spPr>
          <a:xfrm flipV="1">
            <a:off x="8389620" y="3208020"/>
            <a:ext cx="0" cy="121920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</a:ln>
        </p:spPr>
      </p:sp>
      <p:sp>
        <p:nvSpPr>
          <p:cNvPr id="45" name="05-line-43"/>
          <p:cNvSpPr/>
          <p:nvPr/>
        </p:nvSpPr>
        <p:spPr>
          <a:xfrm>
            <a:off x="8389620" y="3208020"/>
            <a:ext cx="27432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46" name="05-rect-44"/>
          <p:cNvSpPr/>
          <p:nvPr/>
        </p:nvSpPr>
        <p:spPr>
          <a:xfrm>
            <a:off x="8663940" y="4762500"/>
            <a:ext cx="3040380" cy="1219200"/>
          </a:xfrm>
          <a:prstGeom prst="roundRect">
            <a:avLst>
              <a:gd name="adj" fmla="val 1250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47" name="05-text-45"/>
          <p:cNvSpPr/>
          <p:nvPr/>
        </p:nvSpPr>
        <p:spPr>
          <a:xfrm>
            <a:off x="8846820" y="4852303"/>
            <a:ext cx="1753467" cy="299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Преобразование</a:t>
            </a:r>
            <a:endParaRPr lang="ru-RU" sz="1680" dirty="0"/>
          </a:p>
        </p:txBody>
      </p:sp>
      <p:sp>
        <p:nvSpPr>
          <p:cNvPr id="48" name="05-rect-46"/>
          <p:cNvSpPr/>
          <p:nvPr/>
        </p:nvSpPr>
        <p:spPr>
          <a:xfrm>
            <a:off x="8846820" y="5303520"/>
            <a:ext cx="716280" cy="213360"/>
          </a:xfrm>
          <a:prstGeom prst="roundRect">
            <a:avLst>
              <a:gd name="adj" fmla="val 7143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49" name="05-text-47"/>
          <p:cNvSpPr/>
          <p:nvPr/>
        </p:nvSpPr>
        <p:spPr>
          <a:xfrm>
            <a:off x="8938260" y="5365373"/>
            <a:ext cx="30037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</a:t>
            </a:r>
            <a:endParaRPr lang="ru-RU" sz="960" dirty="0"/>
          </a:p>
        </p:txBody>
      </p:sp>
      <p:sp>
        <p:nvSpPr>
          <p:cNvPr id="50" name="05-rect-48"/>
          <p:cNvSpPr/>
          <p:nvPr/>
        </p:nvSpPr>
        <p:spPr>
          <a:xfrm>
            <a:off x="9654540" y="5303520"/>
            <a:ext cx="800100" cy="213360"/>
          </a:xfrm>
          <a:prstGeom prst="roundRect">
            <a:avLst>
              <a:gd name="adj" fmla="val 7143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51" name="05-text-49"/>
          <p:cNvSpPr/>
          <p:nvPr/>
        </p:nvSpPr>
        <p:spPr>
          <a:xfrm>
            <a:off x="9745980" y="5365373"/>
            <a:ext cx="369752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endParaRPr lang="ru-RU" sz="960" dirty="0"/>
          </a:p>
        </p:txBody>
      </p:sp>
      <p:sp>
        <p:nvSpPr>
          <p:cNvPr id="52" name="05-rect-50"/>
          <p:cNvSpPr/>
          <p:nvPr/>
        </p:nvSpPr>
        <p:spPr>
          <a:xfrm>
            <a:off x="10546080" y="5303520"/>
            <a:ext cx="975360" cy="213360"/>
          </a:xfrm>
          <a:prstGeom prst="roundRect">
            <a:avLst>
              <a:gd name="adj" fmla="val 7143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53" name="05-text-51"/>
          <p:cNvSpPr/>
          <p:nvPr/>
        </p:nvSpPr>
        <p:spPr>
          <a:xfrm>
            <a:off x="10637520" y="5365373"/>
            <a:ext cx="647265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synthetic</a:t>
            </a:r>
            <a:endParaRPr lang="ru-RU" sz="960" dirty="0"/>
          </a:p>
        </p:txBody>
      </p:sp>
      <p:sp>
        <p:nvSpPr>
          <p:cNvPr id="54" name="05-text-52"/>
          <p:cNvSpPr/>
          <p:nvPr/>
        </p:nvSpPr>
        <p:spPr>
          <a:xfrm>
            <a:off x="8846820" y="5643190"/>
            <a:ext cx="2400423" cy="19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выход: защищённый текст + замены</a:t>
            </a:r>
            <a:endParaRPr lang="ru-RU" sz="1080" dirty="0"/>
          </a:p>
        </p:txBody>
      </p:sp>
      <p:sp>
        <p:nvSpPr>
          <p:cNvPr id="55" name="05-line-53"/>
          <p:cNvSpPr/>
          <p:nvPr/>
        </p:nvSpPr>
        <p:spPr>
          <a:xfrm>
            <a:off x="10187940" y="3916680"/>
            <a:ext cx="0" cy="84582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56" name="05-text-54"/>
          <p:cNvSpPr/>
          <p:nvPr/>
        </p:nvSpPr>
        <p:spPr>
          <a:xfrm>
            <a:off x="10363200" y="4285294"/>
            <a:ext cx="391432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spans</a:t>
            </a:r>
            <a:endParaRPr lang="ru-RU" sz="1020" dirty="0"/>
          </a:p>
        </p:txBody>
      </p:sp>
      <p:sp>
        <p:nvSpPr>
          <p:cNvPr id="57" name="05-rect-55"/>
          <p:cNvSpPr/>
          <p:nvPr/>
        </p:nvSpPr>
        <p:spPr>
          <a:xfrm>
            <a:off x="487680" y="5433060"/>
            <a:ext cx="7665720" cy="548640"/>
          </a:xfrm>
          <a:prstGeom prst="roundRect">
            <a:avLst>
              <a:gd name="adj" fmla="val 2778"/>
            </a:avLst>
          </a:prstGeom>
          <a:solidFill>
            <a:srgbClr val="17231D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58" name="05-text-56"/>
          <p:cNvSpPr/>
          <p:nvPr/>
        </p:nvSpPr>
        <p:spPr>
          <a:xfrm>
            <a:off x="670560" y="5497205"/>
            <a:ext cx="4253566" cy="217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Выполнение: правила → NER → объединение → политика.</a:t>
            </a:r>
            <a:endParaRPr lang="ru-RU" sz="1200" dirty="0"/>
          </a:p>
        </p:txBody>
      </p:sp>
      <p:sp>
        <p:nvSpPr>
          <p:cNvPr id="59" name="05-text-57"/>
          <p:cNvSpPr/>
          <p:nvPr/>
        </p:nvSpPr>
        <p:spPr>
          <a:xfrm>
            <a:off x="670560" y="5719390"/>
            <a:ext cx="5322953" cy="19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Ошибка или таймаут включённого NER → 503; частичный результат не выдаётся.</a:t>
            </a:r>
            <a:endParaRPr lang="ru-RU" sz="1080" dirty="0"/>
          </a:p>
        </p:txBody>
      </p:sp>
      <p:sp>
        <p:nvSpPr>
          <p:cNvPr id="60" name="05-text-58"/>
          <p:cNvSpPr/>
          <p:nvPr/>
        </p:nvSpPr>
        <p:spPr>
          <a:xfrm>
            <a:off x="487680" y="6137888"/>
            <a:ext cx="8004570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Одна и та же политика на всех датасетах. NER дополняет правила; числовые и контекстные проверки сохраняются.</a:t>
            </a:r>
            <a:endParaRPr lang="ru-RU" sz="1140" dirty="0"/>
          </a:p>
        </p:txBody>
      </p:sp>
      <p:sp>
        <p:nvSpPr>
          <p:cNvPr id="61" name="05-rect-59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62" name="05-line-60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63" name="05-text-61"/>
          <p:cNvSpPr/>
          <p:nvPr/>
        </p:nvSpPr>
        <p:spPr>
          <a:xfrm>
            <a:off x="487680" y="6475579"/>
            <a:ext cx="3865836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Источники: seif/detector.py · seif/rubert_decoder.py · seif/ner_contract.py</a:t>
            </a:r>
            <a:endParaRPr lang="ru-RU" sz="900" dirty="0"/>
          </a:p>
        </p:txBody>
      </p:sp>
      <p:sp>
        <p:nvSpPr>
          <p:cNvPr id="64" name="05-text-62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16</a:t>
            </a:r>
            <a:endParaRPr lang="ru-RU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6-rect-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22"/>
            </a:avLst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06-rect-1"/>
          <p:cNvSpPr/>
          <p:nvPr/>
        </p:nvSpPr>
        <p:spPr>
          <a:xfrm>
            <a:off x="487680" y="281940"/>
            <a:ext cx="60960" cy="60960"/>
          </a:xfrm>
          <a:prstGeom prst="roundRect">
            <a:avLst>
              <a:gd name="adj" fmla="val 25000"/>
            </a:avLst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" name="06-text-2"/>
          <p:cNvSpPr/>
          <p:nvPr/>
        </p:nvSpPr>
        <p:spPr>
          <a:xfrm>
            <a:off x="655320" y="261934"/>
            <a:ext cx="1617868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spc="120" kern="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СЕЙФ / АРХИТЕКТУРА</a:t>
            </a:r>
            <a:endParaRPr lang="ru-RU" sz="1020" dirty="0"/>
          </a:p>
        </p:txBody>
      </p:sp>
      <p:sp>
        <p:nvSpPr>
          <p:cNvPr id="5" name="06-text-3"/>
          <p:cNvSpPr/>
          <p:nvPr/>
        </p:nvSpPr>
        <p:spPr>
          <a:xfrm>
            <a:off x="10944315" y="261934"/>
            <a:ext cx="760005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1020" dirty="0"/>
          </a:p>
        </p:txBody>
      </p:sp>
      <p:sp>
        <p:nvSpPr>
          <p:cNvPr id="6" name="06-text-4"/>
          <p:cNvSpPr/>
          <p:nvPr/>
        </p:nvSpPr>
        <p:spPr>
          <a:xfrm>
            <a:off x="487680" y="445919"/>
            <a:ext cx="7813410" cy="461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6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сервис. Несколько профилей размещения.</a:t>
            </a:r>
            <a:endParaRPr lang="ru-RU" sz="2640" dirty="0"/>
          </a:p>
        </p:txBody>
      </p:sp>
      <p:sp>
        <p:nvSpPr>
          <p:cNvPr id="7" name="06-text-5"/>
          <p:cNvSpPr/>
          <p:nvPr/>
        </p:nvSpPr>
        <p:spPr>
          <a:xfrm>
            <a:off x="487680" y="955685"/>
            <a:ext cx="7340547" cy="217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Базовый Compose и подготовленные Kubernetes-манифесты. GPU-профиль подключается отдельно.</a:t>
            </a:r>
            <a:endParaRPr lang="ru-RU" sz="1200" dirty="0"/>
          </a:p>
        </p:txBody>
      </p:sp>
      <p:sp>
        <p:nvSpPr>
          <p:cNvPr id="8" name="06-rect-6"/>
          <p:cNvSpPr/>
          <p:nvPr/>
        </p:nvSpPr>
        <p:spPr>
          <a:xfrm>
            <a:off x="487680" y="1432560"/>
            <a:ext cx="4937760" cy="4305300"/>
          </a:xfrm>
          <a:prstGeom prst="roundRect">
            <a:avLst>
              <a:gd name="adj" fmla="val 354"/>
            </a:avLst>
          </a:prstGeom>
          <a:solidFill>
            <a:srgbClr val="17231D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9" name="06-rect-7"/>
          <p:cNvSpPr/>
          <p:nvPr/>
        </p:nvSpPr>
        <p:spPr>
          <a:xfrm>
            <a:off x="5730240" y="1432560"/>
            <a:ext cx="5974080" cy="4305300"/>
          </a:xfrm>
          <a:prstGeom prst="roundRect">
            <a:avLst>
              <a:gd name="adj" fmla="val 354"/>
            </a:avLst>
          </a:prstGeom>
          <a:solidFill>
            <a:srgbClr val="17231D"/>
          </a:solidFill>
          <a:ln w="9144">
            <a:solidFill>
              <a:srgbClr val="334138"/>
            </a:solidFill>
            <a:prstDash val="dash"/>
          </a:ln>
        </p:spPr>
      </p:sp>
      <p:sp>
        <p:nvSpPr>
          <p:cNvPr id="10" name="06-text-8"/>
          <p:cNvSpPr/>
          <p:nvPr/>
        </p:nvSpPr>
        <p:spPr>
          <a:xfrm>
            <a:off x="670560" y="1582155"/>
            <a:ext cx="150582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DOCKER COMPOSE</a:t>
            </a:r>
            <a:endParaRPr lang="ru-RU" sz="1080" dirty="0"/>
          </a:p>
        </p:txBody>
      </p:sp>
      <p:sp>
        <p:nvSpPr>
          <p:cNvPr id="11" name="06-text-9"/>
          <p:cNvSpPr/>
          <p:nvPr/>
        </p:nvSpPr>
        <p:spPr>
          <a:xfrm>
            <a:off x="5913120" y="1582155"/>
            <a:ext cx="2364378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ПОДГОТОВЛЕННЫЙ KUBERNETES</a:t>
            </a:r>
            <a:endParaRPr lang="ru-RU" sz="1080" dirty="0"/>
          </a:p>
        </p:txBody>
      </p:sp>
      <p:sp>
        <p:nvSpPr>
          <p:cNvPr id="12" name="06-rect-10"/>
          <p:cNvSpPr/>
          <p:nvPr/>
        </p:nvSpPr>
        <p:spPr>
          <a:xfrm>
            <a:off x="10492740" y="1546860"/>
            <a:ext cx="1028700" cy="213360"/>
          </a:xfrm>
          <a:prstGeom prst="roundRect">
            <a:avLst>
              <a:gd name="adj" fmla="val 7143"/>
            </a:avLst>
          </a:prstGeom>
          <a:solidFill>
            <a:srgbClr val="1C2A22"/>
          </a:solidFill>
          <a:ln w="9144">
            <a:solidFill>
              <a:srgbClr val="EAB291"/>
            </a:solidFill>
            <a:prstDash val="solid"/>
          </a:ln>
        </p:spPr>
      </p:sp>
      <p:sp>
        <p:nvSpPr>
          <p:cNvPr id="13" name="06-text-11"/>
          <p:cNvSpPr/>
          <p:nvPr/>
        </p:nvSpPr>
        <p:spPr>
          <a:xfrm>
            <a:off x="10584180" y="160871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EAB2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 live</a:t>
            </a:r>
            <a:endParaRPr lang="ru-RU" sz="960" dirty="0"/>
          </a:p>
        </p:txBody>
      </p:sp>
      <p:sp>
        <p:nvSpPr>
          <p:cNvPr id="14" name="06-rect-12"/>
          <p:cNvSpPr/>
          <p:nvPr/>
        </p:nvSpPr>
        <p:spPr>
          <a:xfrm>
            <a:off x="716280" y="2042160"/>
            <a:ext cx="1889760" cy="1005840"/>
          </a:xfrm>
          <a:prstGeom prst="roundRect">
            <a:avLst>
              <a:gd name="adj" fmla="val 1515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15" name="06-rect-13"/>
          <p:cNvSpPr/>
          <p:nvPr/>
        </p:nvSpPr>
        <p:spPr>
          <a:xfrm>
            <a:off x="716280" y="2042160"/>
            <a:ext cx="22860" cy="100584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6" name="06-text-14"/>
          <p:cNvSpPr/>
          <p:nvPr/>
        </p:nvSpPr>
        <p:spPr>
          <a:xfrm>
            <a:off x="899160" y="2109706"/>
            <a:ext cx="483885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Вход</a:t>
            </a:r>
            <a:endParaRPr lang="ru-RU" sz="1620" dirty="0"/>
          </a:p>
        </p:txBody>
      </p:sp>
      <p:sp>
        <p:nvSpPr>
          <p:cNvPr id="17" name="06-text-15"/>
          <p:cNvSpPr/>
          <p:nvPr/>
        </p:nvSpPr>
        <p:spPr>
          <a:xfrm>
            <a:off x="899160" y="2434568"/>
            <a:ext cx="971259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localhost:8765</a:t>
            </a:r>
            <a:endParaRPr lang="ru-RU" sz="1140" dirty="0"/>
          </a:p>
        </p:txBody>
      </p:sp>
      <p:sp>
        <p:nvSpPr>
          <p:cNvPr id="18" name="06-text-16"/>
          <p:cNvSpPr/>
          <p:nvPr/>
        </p:nvSpPr>
        <p:spPr>
          <a:xfrm>
            <a:off x="899160" y="2647928"/>
            <a:ext cx="1564209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TLS / туннель снаружи</a:t>
            </a:r>
            <a:endParaRPr lang="ru-RU" sz="1140" dirty="0"/>
          </a:p>
        </p:txBody>
      </p:sp>
      <p:sp>
        <p:nvSpPr>
          <p:cNvPr id="19" name="06-rect-17"/>
          <p:cNvSpPr/>
          <p:nvPr/>
        </p:nvSpPr>
        <p:spPr>
          <a:xfrm>
            <a:off x="3116580" y="2042160"/>
            <a:ext cx="2065020" cy="1005840"/>
          </a:xfrm>
          <a:prstGeom prst="roundRect">
            <a:avLst>
              <a:gd name="adj" fmla="val 1515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20" name="06-rect-18"/>
          <p:cNvSpPr/>
          <p:nvPr/>
        </p:nvSpPr>
        <p:spPr>
          <a:xfrm>
            <a:off x="3116580" y="2042160"/>
            <a:ext cx="22860" cy="100584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1" name="06-text-19"/>
          <p:cNvSpPr/>
          <p:nvPr/>
        </p:nvSpPr>
        <p:spPr>
          <a:xfrm>
            <a:off x="3299460" y="2142597"/>
            <a:ext cx="1565507" cy="248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API-контейнер × 1</a:t>
            </a:r>
            <a:endParaRPr lang="ru-RU" sz="1380" dirty="0"/>
          </a:p>
        </p:txBody>
      </p:sp>
      <p:sp>
        <p:nvSpPr>
          <p:cNvPr id="22" name="06-text-20"/>
          <p:cNvSpPr/>
          <p:nvPr/>
        </p:nvSpPr>
        <p:spPr>
          <a:xfrm>
            <a:off x="3299460" y="2434568"/>
            <a:ext cx="1139398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аутентификация</a:t>
            </a:r>
            <a:endParaRPr lang="ru-RU" sz="1140" dirty="0"/>
          </a:p>
        </p:txBody>
      </p:sp>
      <p:sp>
        <p:nvSpPr>
          <p:cNvPr id="23" name="06-text-21"/>
          <p:cNvSpPr/>
          <p:nvPr/>
        </p:nvSpPr>
        <p:spPr>
          <a:xfrm>
            <a:off x="3299460" y="2647928"/>
            <a:ext cx="1414874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правила и политики</a:t>
            </a:r>
            <a:endParaRPr lang="ru-RU" sz="1140" dirty="0"/>
          </a:p>
        </p:txBody>
      </p:sp>
      <p:sp>
        <p:nvSpPr>
          <p:cNvPr id="24" name="06-line-22"/>
          <p:cNvSpPr/>
          <p:nvPr/>
        </p:nvSpPr>
        <p:spPr>
          <a:xfrm>
            <a:off x="2606040" y="2545080"/>
            <a:ext cx="51054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25" name="06-rect-23"/>
          <p:cNvSpPr/>
          <p:nvPr/>
        </p:nvSpPr>
        <p:spPr>
          <a:xfrm>
            <a:off x="3116580" y="3848100"/>
            <a:ext cx="2065020" cy="1082040"/>
          </a:xfrm>
          <a:prstGeom prst="roundRect">
            <a:avLst>
              <a:gd name="adj" fmla="val 1408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26" name="06-rect-24"/>
          <p:cNvSpPr/>
          <p:nvPr/>
        </p:nvSpPr>
        <p:spPr>
          <a:xfrm>
            <a:off x="3116580" y="3848100"/>
            <a:ext cx="22860" cy="108204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7" name="06-text-25"/>
          <p:cNvSpPr/>
          <p:nvPr/>
        </p:nvSpPr>
        <p:spPr>
          <a:xfrm>
            <a:off x="3299460" y="3915646"/>
            <a:ext cx="528907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</a:t>
            </a:r>
            <a:endParaRPr lang="ru-RU" sz="1620" dirty="0"/>
          </a:p>
        </p:txBody>
      </p:sp>
      <p:sp>
        <p:nvSpPr>
          <p:cNvPr id="28" name="06-text-26"/>
          <p:cNvSpPr/>
          <p:nvPr/>
        </p:nvSpPr>
        <p:spPr>
          <a:xfrm>
            <a:off x="3299460" y="4240508"/>
            <a:ext cx="1092571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ciphertext + TTL</a:t>
            </a:r>
            <a:endParaRPr lang="ru-RU" sz="1140" dirty="0"/>
          </a:p>
        </p:txBody>
      </p:sp>
      <p:sp>
        <p:nvSpPr>
          <p:cNvPr id="29" name="06-text-27"/>
          <p:cNvSpPr/>
          <p:nvPr/>
        </p:nvSpPr>
        <p:spPr>
          <a:xfrm>
            <a:off x="3299460" y="4453868"/>
            <a:ext cx="1039378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 persistence</a:t>
            </a:r>
            <a:endParaRPr lang="ru-RU" sz="1140" dirty="0"/>
          </a:p>
        </p:txBody>
      </p:sp>
      <p:sp>
        <p:nvSpPr>
          <p:cNvPr id="30" name="06-rect-28"/>
          <p:cNvSpPr/>
          <p:nvPr/>
        </p:nvSpPr>
        <p:spPr>
          <a:xfrm>
            <a:off x="716280" y="3848100"/>
            <a:ext cx="1889760" cy="1082040"/>
          </a:xfrm>
          <a:prstGeom prst="roundRect">
            <a:avLst>
              <a:gd name="adj" fmla="val 1408"/>
            </a:avLst>
          </a:prstGeom>
          <a:solidFill>
            <a:srgbClr val="1C2A22"/>
          </a:solidFill>
          <a:ln w="9144">
            <a:solidFill>
              <a:srgbClr val="C0F0C5"/>
            </a:solidFill>
            <a:prstDash val="dash"/>
          </a:ln>
        </p:spPr>
      </p:sp>
      <p:sp>
        <p:nvSpPr>
          <p:cNvPr id="31" name="06-rect-29"/>
          <p:cNvSpPr/>
          <p:nvPr/>
        </p:nvSpPr>
        <p:spPr>
          <a:xfrm>
            <a:off x="716280" y="3848100"/>
            <a:ext cx="22860" cy="108204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2" name="06-text-30"/>
          <p:cNvSpPr/>
          <p:nvPr/>
        </p:nvSpPr>
        <p:spPr>
          <a:xfrm>
            <a:off x="899160" y="3915646"/>
            <a:ext cx="1114286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NER</a:t>
            </a:r>
            <a:endParaRPr lang="ru-RU" sz="1620" dirty="0"/>
          </a:p>
        </p:txBody>
      </p:sp>
      <p:sp>
        <p:nvSpPr>
          <p:cNvPr id="33" name="06-text-31"/>
          <p:cNvSpPr/>
          <p:nvPr/>
        </p:nvSpPr>
        <p:spPr>
          <a:xfrm>
            <a:off x="899160" y="4240508"/>
            <a:ext cx="769243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CPU: spaCy</a:t>
            </a:r>
            <a:endParaRPr lang="ru-RU" sz="1140" dirty="0"/>
          </a:p>
        </p:txBody>
      </p:sp>
      <p:sp>
        <p:nvSpPr>
          <p:cNvPr id="34" name="06-text-32"/>
          <p:cNvSpPr/>
          <p:nvPr/>
        </p:nvSpPr>
        <p:spPr>
          <a:xfrm>
            <a:off x="899160" y="4453868"/>
            <a:ext cx="1155129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отдельный HTTP</a:t>
            </a:r>
            <a:endParaRPr lang="ru-RU" sz="1140" dirty="0"/>
          </a:p>
        </p:txBody>
      </p:sp>
      <p:sp>
        <p:nvSpPr>
          <p:cNvPr id="35" name="06-line-33"/>
          <p:cNvSpPr/>
          <p:nvPr/>
        </p:nvSpPr>
        <p:spPr>
          <a:xfrm>
            <a:off x="4152900" y="3048000"/>
            <a:ext cx="0" cy="80010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36" name="06-line-34"/>
          <p:cNvSpPr/>
          <p:nvPr/>
        </p:nvSpPr>
        <p:spPr>
          <a:xfrm>
            <a:off x="3604260" y="3048000"/>
            <a:ext cx="0" cy="434340"/>
          </a:xfrm>
          <a:prstGeom prst="line">
            <a:avLst/>
          </a:prstGeom>
          <a:noFill/>
          <a:ln w="12954">
            <a:solidFill>
              <a:srgbClr val="C0F0C5"/>
            </a:solidFill>
            <a:prstDash val="dash"/>
          </a:ln>
        </p:spPr>
      </p:sp>
      <p:sp>
        <p:nvSpPr>
          <p:cNvPr id="37" name="06-line-35"/>
          <p:cNvSpPr/>
          <p:nvPr/>
        </p:nvSpPr>
        <p:spPr>
          <a:xfrm flipH="1">
            <a:off x="1661160" y="3482340"/>
            <a:ext cx="194310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dash"/>
          </a:ln>
        </p:spPr>
      </p:sp>
      <p:sp>
        <p:nvSpPr>
          <p:cNvPr id="38" name="06-line-36"/>
          <p:cNvSpPr/>
          <p:nvPr/>
        </p:nvSpPr>
        <p:spPr>
          <a:xfrm>
            <a:off x="1661160" y="3482340"/>
            <a:ext cx="0" cy="365760"/>
          </a:xfrm>
          <a:prstGeom prst="line">
            <a:avLst/>
          </a:prstGeom>
          <a:noFill/>
          <a:ln w="12954">
            <a:solidFill>
              <a:srgbClr val="C0F0C5"/>
            </a:solidFill>
            <a:prstDash val="dash"/>
            <a:tailEnd type="arrow"/>
          </a:ln>
        </p:spPr>
      </p:sp>
      <p:sp>
        <p:nvSpPr>
          <p:cNvPr id="39" name="06-text-37"/>
          <p:cNvSpPr/>
          <p:nvPr/>
        </p:nvSpPr>
        <p:spPr>
          <a:xfrm>
            <a:off x="2065020" y="3294694"/>
            <a:ext cx="1128577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network</a:t>
            </a:r>
            <a:endParaRPr lang="ru-RU" sz="1020" dirty="0"/>
          </a:p>
        </p:txBody>
      </p:sp>
      <p:sp>
        <p:nvSpPr>
          <p:cNvPr id="40" name="06-text-38"/>
          <p:cNvSpPr/>
          <p:nvPr/>
        </p:nvSpPr>
        <p:spPr>
          <a:xfrm>
            <a:off x="670560" y="5086328"/>
            <a:ext cx="3262576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GPU: RuBERT / TensorRT — отдельный процесс.</a:t>
            </a:r>
            <a:endParaRPr lang="ru-RU" sz="1140" dirty="0"/>
          </a:p>
        </p:txBody>
      </p:sp>
      <p:sp>
        <p:nvSpPr>
          <p:cNvPr id="41" name="06-text-39"/>
          <p:cNvSpPr/>
          <p:nvPr/>
        </p:nvSpPr>
        <p:spPr>
          <a:xfrm>
            <a:off x="670560" y="5346010"/>
            <a:ext cx="3222380" cy="19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Готового GPU-контейнера и GPU-манифеста нет.</a:t>
            </a:r>
            <a:endParaRPr lang="ru-RU" sz="1080" dirty="0"/>
          </a:p>
        </p:txBody>
      </p:sp>
      <p:sp>
        <p:nvSpPr>
          <p:cNvPr id="42" name="06-rect-40"/>
          <p:cNvSpPr/>
          <p:nvPr/>
        </p:nvSpPr>
        <p:spPr>
          <a:xfrm>
            <a:off x="5989320" y="2042160"/>
            <a:ext cx="5455920" cy="670560"/>
          </a:xfrm>
          <a:prstGeom prst="roundRect">
            <a:avLst>
              <a:gd name="adj" fmla="val 2273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43" name="06-rect-41"/>
          <p:cNvSpPr/>
          <p:nvPr/>
        </p:nvSpPr>
        <p:spPr>
          <a:xfrm>
            <a:off x="5989320" y="2042160"/>
            <a:ext cx="22860" cy="67056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4" name="06-text-42"/>
          <p:cNvSpPr/>
          <p:nvPr/>
        </p:nvSpPr>
        <p:spPr>
          <a:xfrm>
            <a:off x="6172200" y="2109706"/>
            <a:ext cx="1216078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Ingress / TLS</a:t>
            </a:r>
            <a:endParaRPr lang="ru-RU" sz="1620" dirty="0"/>
          </a:p>
        </p:txBody>
      </p:sp>
      <p:sp>
        <p:nvSpPr>
          <p:cNvPr id="45" name="06-text-43"/>
          <p:cNvSpPr/>
          <p:nvPr/>
        </p:nvSpPr>
        <p:spPr>
          <a:xfrm>
            <a:off x="6172200" y="2434568"/>
            <a:ext cx="4102614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шаблон: домен и сертификат задаются при развёртывании</a:t>
            </a:r>
            <a:endParaRPr lang="ru-RU" sz="1140" dirty="0"/>
          </a:p>
        </p:txBody>
      </p:sp>
      <p:sp>
        <p:nvSpPr>
          <p:cNvPr id="46" name="06-rect-44"/>
          <p:cNvSpPr/>
          <p:nvPr/>
        </p:nvSpPr>
        <p:spPr>
          <a:xfrm>
            <a:off x="5989320" y="3192780"/>
            <a:ext cx="2712720" cy="929640"/>
          </a:xfrm>
          <a:prstGeom prst="roundRect">
            <a:avLst>
              <a:gd name="adj" fmla="val 1639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47" name="06-rect-45"/>
          <p:cNvSpPr/>
          <p:nvPr/>
        </p:nvSpPr>
        <p:spPr>
          <a:xfrm>
            <a:off x="5989320" y="3192780"/>
            <a:ext cx="22860" cy="92964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8" name="06-text-46"/>
          <p:cNvSpPr/>
          <p:nvPr/>
        </p:nvSpPr>
        <p:spPr>
          <a:xfrm>
            <a:off x="6172200" y="3260326"/>
            <a:ext cx="1105240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replicas</a:t>
            </a:r>
            <a:endParaRPr lang="ru-RU" sz="1620" dirty="0"/>
          </a:p>
        </p:txBody>
      </p:sp>
      <p:sp>
        <p:nvSpPr>
          <p:cNvPr id="49" name="06-text-47"/>
          <p:cNvSpPr/>
          <p:nvPr/>
        </p:nvSpPr>
        <p:spPr>
          <a:xfrm>
            <a:off x="6172200" y="3585188"/>
            <a:ext cx="1195005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base: 3 · HPA: 2–8</a:t>
            </a:r>
            <a:endParaRPr lang="ru-RU" sz="1140" dirty="0"/>
          </a:p>
        </p:txBody>
      </p:sp>
      <p:sp>
        <p:nvSpPr>
          <p:cNvPr id="50" name="06-rect-48"/>
          <p:cNvSpPr/>
          <p:nvPr/>
        </p:nvSpPr>
        <p:spPr>
          <a:xfrm>
            <a:off x="9144000" y="3192780"/>
            <a:ext cx="2301240" cy="929640"/>
          </a:xfrm>
          <a:prstGeom prst="roundRect">
            <a:avLst>
              <a:gd name="adj" fmla="val 1639"/>
            </a:avLst>
          </a:prstGeom>
          <a:solidFill>
            <a:srgbClr val="1C2A22"/>
          </a:solidFill>
          <a:ln w="9144">
            <a:solidFill>
              <a:srgbClr val="C0F0C5"/>
            </a:solidFill>
            <a:prstDash val="dash"/>
          </a:ln>
        </p:spPr>
      </p:sp>
      <p:sp>
        <p:nvSpPr>
          <p:cNvPr id="51" name="06-rect-49"/>
          <p:cNvSpPr/>
          <p:nvPr/>
        </p:nvSpPr>
        <p:spPr>
          <a:xfrm>
            <a:off x="9144000" y="3192780"/>
            <a:ext cx="22860" cy="92964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2" name="06-text-50"/>
          <p:cNvSpPr/>
          <p:nvPr/>
        </p:nvSpPr>
        <p:spPr>
          <a:xfrm>
            <a:off x="9326880" y="3260326"/>
            <a:ext cx="1250078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 NER × 2</a:t>
            </a:r>
            <a:endParaRPr lang="ru-RU" sz="1620" dirty="0"/>
          </a:p>
        </p:txBody>
      </p:sp>
      <p:sp>
        <p:nvSpPr>
          <p:cNvPr id="53" name="06-text-51"/>
          <p:cNvSpPr/>
          <p:nvPr/>
        </p:nvSpPr>
        <p:spPr>
          <a:xfrm>
            <a:off x="9326880" y="3585188"/>
            <a:ext cx="961015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overlay</a:t>
            </a:r>
            <a:endParaRPr lang="ru-RU" sz="1140" dirty="0"/>
          </a:p>
        </p:txBody>
      </p:sp>
      <p:sp>
        <p:nvSpPr>
          <p:cNvPr id="54" name="06-line-52"/>
          <p:cNvSpPr/>
          <p:nvPr/>
        </p:nvSpPr>
        <p:spPr>
          <a:xfrm>
            <a:off x="7345680" y="2712720"/>
            <a:ext cx="0" cy="48006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55" name="06-line-53"/>
          <p:cNvSpPr/>
          <p:nvPr/>
        </p:nvSpPr>
        <p:spPr>
          <a:xfrm>
            <a:off x="8702040" y="3657600"/>
            <a:ext cx="441960" cy="0"/>
          </a:xfrm>
          <a:prstGeom prst="line">
            <a:avLst/>
          </a:prstGeom>
          <a:noFill/>
          <a:ln w="12954">
            <a:solidFill>
              <a:srgbClr val="C0F0C5"/>
            </a:solidFill>
            <a:prstDash val="dash"/>
            <a:tailEnd type="arrow"/>
          </a:ln>
        </p:spPr>
      </p:sp>
      <p:sp>
        <p:nvSpPr>
          <p:cNvPr id="56" name="06-rect-54"/>
          <p:cNvSpPr/>
          <p:nvPr/>
        </p:nvSpPr>
        <p:spPr>
          <a:xfrm>
            <a:off x="5989320" y="4572000"/>
            <a:ext cx="5455920" cy="807720"/>
          </a:xfrm>
          <a:prstGeom prst="roundRect">
            <a:avLst>
              <a:gd name="adj" fmla="val 1887"/>
            </a:avLst>
          </a:prstGeom>
          <a:solidFill>
            <a:srgbClr val="1C2A22"/>
          </a:solidFill>
          <a:ln w="9144">
            <a:solidFill>
              <a:srgbClr val="334138"/>
            </a:solidFill>
            <a:prstDash val="solid"/>
          </a:ln>
        </p:spPr>
      </p:sp>
      <p:sp>
        <p:nvSpPr>
          <p:cNvPr id="57" name="06-rect-55"/>
          <p:cNvSpPr/>
          <p:nvPr/>
        </p:nvSpPr>
        <p:spPr>
          <a:xfrm>
            <a:off x="5989320" y="4572000"/>
            <a:ext cx="22860" cy="80772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8" name="06-text-56"/>
          <p:cNvSpPr/>
          <p:nvPr/>
        </p:nvSpPr>
        <p:spPr>
          <a:xfrm>
            <a:off x="6172200" y="4639546"/>
            <a:ext cx="1543391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+ Sentinel</a:t>
            </a:r>
            <a:endParaRPr lang="ru-RU" sz="1620" dirty="0"/>
          </a:p>
        </p:txBody>
      </p:sp>
      <p:sp>
        <p:nvSpPr>
          <p:cNvPr id="59" name="06-text-57"/>
          <p:cNvSpPr/>
          <p:nvPr/>
        </p:nvSpPr>
        <p:spPr>
          <a:xfrm>
            <a:off x="6172200" y="4964408"/>
            <a:ext cx="4034056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pod · в каждом Redis и Sentinel · автоматический failover</a:t>
            </a:r>
            <a:endParaRPr lang="ru-RU" sz="1140" dirty="0"/>
          </a:p>
        </p:txBody>
      </p:sp>
      <p:sp>
        <p:nvSpPr>
          <p:cNvPr id="60" name="06-line-58"/>
          <p:cNvSpPr/>
          <p:nvPr/>
        </p:nvSpPr>
        <p:spPr>
          <a:xfrm>
            <a:off x="7345680" y="4122420"/>
            <a:ext cx="0" cy="449580"/>
          </a:xfrm>
          <a:prstGeom prst="line">
            <a:avLst/>
          </a:prstGeom>
          <a:noFill/>
          <a:ln w="12954">
            <a:solidFill>
              <a:srgbClr val="C0F0C5"/>
            </a:solidFill>
            <a:prstDash val="solid"/>
            <a:tailEnd type="arrow"/>
          </a:ln>
        </p:spPr>
      </p:sp>
      <p:sp>
        <p:nvSpPr>
          <p:cNvPr id="61" name="06-text-59"/>
          <p:cNvSpPr/>
          <p:nvPr/>
        </p:nvSpPr>
        <p:spPr>
          <a:xfrm>
            <a:off x="8633460" y="4308154"/>
            <a:ext cx="1202291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приватный контур</a:t>
            </a:r>
            <a:endParaRPr lang="ru-RU" sz="1020" dirty="0"/>
          </a:p>
        </p:txBody>
      </p:sp>
      <p:sp>
        <p:nvSpPr>
          <p:cNvPr id="62" name="06-text-60"/>
          <p:cNvSpPr/>
          <p:nvPr/>
        </p:nvSpPr>
        <p:spPr>
          <a:xfrm>
            <a:off x="487680" y="5977868"/>
            <a:ext cx="8017740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Репликация Redis асинхронная: последние записи могут быть потеряны при сбое. HA требует проверки в кластере.</a:t>
            </a:r>
            <a:endParaRPr lang="ru-RU" sz="1140" dirty="0"/>
          </a:p>
        </p:txBody>
      </p:sp>
      <p:sp>
        <p:nvSpPr>
          <p:cNvPr id="63" name="06-rect-61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64" name="06-line-62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65" name="06-text-63"/>
          <p:cNvSpPr/>
          <p:nvPr/>
        </p:nvSpPr>
        <p:spPr>
          <a:xfrm>
            <a:off x="487680" y="6475579"/>
            <a:ext cx="4672971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Источники: compose.yaml · compose.ner.yaml · deploy/k8s · deploy/service/README.md</a:t>
            </a:r>
            <a:endParaRPr lang="ru-RU" sz="900" dirty="0"/>
          </a:p>
        </p:txBody>
      </p:sp>
      <p:sp>
        <p:nvSpPr>
          <p:cNvPr id="66" name="06-text-64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16</a:t>
            </a:r>
            <a:endParaRPr lang="ru-RU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7-rect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07-line-1"/>
          <p:cNvSpPr/>
          <p:nvPr/>
        </p:nvSpPr>
        <p:spPr>
          <a:xfrm>
            <a:off x="487680" y="6858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4" name="07-rect-2"/>
          <p:cNvSpPr/>
          <p:nvPr/>
        </p:nvSpPr>
        <p:spPr>
          <a:xfrm>
            <a:off x="495300" y="25908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5" name="07-rect-3"/>
          <p:cNvSpPr/>
          <p:nvPr/>
        </p:nvSpPr>
        <p:spPr>
          <a:xfrm>
            <a:off x="624840" y="259080"/>
            <a:ext cx="91440" cy="91440"/>
          </a:xfrm>
          <a:prstGeom prst="rect">
            <a:avLst/>
          </a:prstGeom>
          <a:solidFill>
            <a:srgbClr val="C0F0C5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6" name="07-rect-4"/>
          <p:cNvSpPr/>
          <p:nvPr/>
        </p:nvSpPr>
        <p:spPr>
          <a:xfrm>
            <a:off x="49530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7" name="07-rect-5"/>
          <p:cNvSpPr/>
          <p:nvPr/>
        </p:nvSpPr>
        <p:spPr>
          <a:xfrm>
            <a:off x="62484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8" name="07-text-6"/>
          <p:cNvSpPr/>
          <p:nvPr/>
        </p:nvSpPr>
        <p:spPr>
          <a:xfrm>
            <a:off x="845820" y="217535"/>
            <a:ext cx="703916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60" b="1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СЕЙФ</a:t>
            </a:r>
            <a:endParaRPr lang="ru-RU" sz="1860" dirty="0"/>
          </a:p>
        </p:txBody>
      </p:sp>
      <p:sp>
        <p:nvSpPr>
          <p:cNvPr id="9" name="07-text-7"/>
          <p:cNvSpPr/>
          <p:nvPr/>
        </p:nvSpPr>
        <p:spPr>
          <a:xfrm>
            <a:off x="2179320" y="351413"/>
            <a:ext cx="2312344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БЕЗОПАСНОСТЬ И РАСШИРЯЕМОСТЬ</a:t>
            </a:r>
            <a:endParaRPr lang="ru-RU" sz="960" dirty="0"/>
          </a:p>
        </p:txBody>
      </p:sp>
      <p:sp>
        <p:nvSpPr>
          <p:cNvPr id="10" name="07-text-8"/>
          <p:cNvSpPr/>
          <p:nvPr/>
        </p:nvSpPr>
        <p:spPr>
          <a:xfrm>
            <a:off x="10987677" y="351413"/>
            <a:ext cx="71664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960" dirty="0"/>
          </a:p>
        </p:txBody>
      </p:sp>
      <p:sp>
        <p:nvSpPr>
          <p:cNvPr id="11" name="07-text-9"/>
          <p:cNvSpPr/>
          <p:nvPr/>
        </p:nvSpPr>
        <p:spPr>
          <a:xfrm>
            <a:off x="487680" y="841340"/>
            <a:ext cx="6759658" cy="60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4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Политика задаёт смысл защиты.</a:t>
            </a:r>
            <a:endParaRPr lang="ru-RU" sz="3480" dirty="0"/>
          </a:p>
        </p:txBody>
      </p:sp>
      <p:sp>
        <p:nvSpPr>
          <p:cNvPr id="12" name="07-rect-10"/>
          <p:cNvSpPr/>
          <p:nvPr/>
        </p:nvSpPr>
        <p:spPr>
          <a:xfrm>
            <a:off x="487680" y="1943100"/>
            <a:ext cx="5394960" cy="179070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13" name="07-text-11"/>
          <p:cNvSpPr/>
          <p:nvPr/>
        </p:nvSpPr>
        <p:spPr>
          <a:xfrm>
            <a:off x="701040" y="2182174"/>
            <a:ext cx="833719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ДОСТУП</a:t>
            </a:r>
            <a:endParaRPr lang="ru-RU" sz="1020" dirty="0"/>
          </a:p>
        </p:txBody>
      </p:sp>
      <p:sp>
        <p:nvSpPr>
          <p:cNvPr id="14" name="07-text-12"/>
          <p:cNvSpPr/>
          <p:nvPr/>
        </p:nvSpPr>
        <p:spPr>
          <a:xfrm>
            <a:off x="701040" y="2463626"/>
            <a:ext cx="2708135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Система-потребитель</a:t>
            </a:r>
            <a:endParaRPr lang="ru-RU" sz="2040" dirty="0"/>
          </a:p>
        </p:txBody>
      </p:sp>
      <p:sp>
        <p:nvSpPr>
          <p:cNvPr id="15" name="07-text-13"/>
          <p:cNvSpPr/>
          <p:nvPr/>
        </p:nvSpPr>
        <p:spPr>
          <a:xfrm>
            <a:off x="701040" y="2941491"/>
            <a:ext cx="4530660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Ключи, allowlist и отдельное разрешение unmask.</a:t>
            </a:r>
            <a:endParaRPr lang="ru-RU" sz="1500" dirty="0"/>
          </a:p>
        </p:txBody>
      </p:sp>
      <p:sp>
        <p:nvSpPr>
          <p:cNvPr id="16" name="07-text-14"/>
          <p:cNvSpPr/>
          <p:nvPr/>
        </p:nvSpPr>
        <p:spPr>
          <a:xfrm>
            <a:off x="701040" y="3215811"/>
            <a:ext cx="4501585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Демо-режим отделён от ограниченного режима.</a:t>
            </a:r>
            <a:endParaRPr lang="ru-RU" sz="1500" dirty="0"/>
          </a:p>
        </p:txBody>
      </p:sp>
      <p:sp>
        <p:nvSpPr>
          <p:cNvPr id="17" name="07-rect-15"/>
          <p:cNvSpPr/>
          <p:nvPr/>
        </p:nvSpPr>
        <p:spPr>
          <a:xfrm>
            <a:off x="6050280" y="1943100"/>
            <a:ext cx="5654040" cy="179070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18" name="07-text-16"/>
          <p:cNvSpPr/>
          <p:nvPr/>
        </p:nvSpPr>
        <p:spPr>
          <a:xfrm>
            <a:off x="6263640" y="2182174"/>
            <a:ext cx="907434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ПРАВИЛА</a:t>
            </a:r>
            <a:endParaRPr lang="ru-RU" sz="1020" dirty="0"/>
          </a:p>
        </p:txBody>
      </p:sp>
      <p:sp>
        <p:nvSpPr>
          <p:cNvPr id="19" name="07-text-17"/>
          <p:cNvSpPr/>
          <p:nvPr/>
        </p:nvSpPr>
        <p:spPr>
          <a:xfrm>
            <a:off x="6263640" y="2463626"/>
            <a:ext cx="3414773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Настройка без правки ядра</a:t>
            </a:r>
            <a:endParaRPr lang="ru-RU" sz="2040" dirty="0"/>
          </a:p>
        </p:txBody>
      </p:sp>
      <p:sp>
        <p:nvSpPr>
          <p:cNvPr id="20" name="07-text-18"/>
          <p:cNvSpPr/>
          <p:nvPr/>
        </p:nvSpPr>
        <p:spPr>
          <a:xfrm>
            <a:off x="6263640" y="2941491"/>
            <a:ext cx="3437189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Типы ПД, комбинации и custom rules.</a:t>
            </a:r>
            <a:endParaRPr lang="ru-RU" sz="1500" dirty="0"/>
          </a:p>
        </p:txBody>
      </p:sp>
      <p:sp>
        <p:nvSpPr>
          <p:cNvPr id="21" name="07-text-19"/>
          <p:cNvSpPr/>
          <p:nvPr/>
        </p:nvSpPr>
        <p:spPr>
          <a:xfrm>
            <a:off x="6263640" y="3215811"/>
            <a:ext cx="4355635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Публичный контекст не равен личным данным.</a:t>
            </a:r>
            <a:endParaRPr lang="ru-RU" sz="1500" dirty="0"/>
          </a:p>
        </p:txBody>
      </p:sp>
      <p:sp>
        <p:nvSpPr>
          <p:cNvPr id="22" name="07-rect-20"/>
          <p:cNvSpPr/>
          <p:nvPr/>
        </p:nvSpPr>
        <p:spPr>
          <a:xfrm>
            <a:off x="487680" y="3916680"/>
            <a:ext cx="5394960" cy="194310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23" name="07-text-21"/>
          <p:cNvSpPr/>
          <p:nvPr/>
        </p:nvSpPr>
        <p:spPr>
          <a:xfrm>
            <a:off x="701040" y="4155754"/>
            <a:ext cx="833719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ДАННЫЕ</a:t>
            </a:r>
            <a:endParaRPr lang="ru-RU" sz="1020" dirty="0"/>
          </a:p>
        </p:txBody>
      </p:sp>
      <p:sp>
        <p:nvSpPr>
          <p:cNvPr id="24" name="07-text-22"/>
          <p:cNvSpPr/>
          <p:nvPr/>
        </p:nvSpPr>
        <p:spPr>
          <a:xfrm>
            <a:off x="701040" y="4437206"/>
            <a:ext cx="3503020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Шифрованное соответствие</a:t>
            </a:r>
            <a:endParaRPr lang="ru-RU" sz="2040" dirty="0"/>
          </a:p>
        </p:txBody>
      </p:sp>
      <p:sp>
        <p:nvSpPr>
          <p:cNvPr id="25" name="07-text-23"/>
          <p:cNvSpPr/>
          <p:nvPr/>
        </p:nvSpPr>
        <p:spPr>
          <a:xfrm>
            <a:off x="701040" y="4915071"/>
            <a:ext cx="4082315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AES-GCM и TTL для записей восстановления.</a:t>
            </a:r>
            <a:endParaRPr lang="ru-RU" sz="1500" dirty="0"/>
          </a:p>
        </p:txBody>
      </p:sp>
      <p:sp>
        <p:nvSpPr>
          <p:cNvPr id="26" name="07-text-24"/>
          <p:cNvSpPr/>
          <p:nvPr/>
        </p:nvSpPr>
        <p:spPr>
          <a:xfrm>
            <a:off x="701040" y="5189391"/>
            <a:ext cx="3459332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Namespace потребителя + payload_id.</a:t>
            </a:r>
            <a:endParaRPr lang="ru-RU" sz="1500" dirty="0"/>
          </a:p>
        </p:txBody>
      </p:sp>
      <p:sp>
        <p:nvSpPr>
          <p:cNvPr id="27" name="07-text-25"/>
          <p:cNvSpPr/>
          <p:nvPr/>
        </p:nvSpPr>
        <p:spPr>
          <a:xfrm>
            <a:off x="701040" y="5463711"/>
            <a:ext cx="4016561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Общий мастер-ключ нужен всем репликам.</a:t>
            </a:r>
            <a:endParaRPr lang="ru-RU" sz="1500" dirty="0"/>
          </a:p>
        </p:txBody>
      </p:sp>
      <p:sp>
        <p:nvSpPr>
          <p:cNvPr id="28" name="07-rect-26"/>
          <p:cNvSpPr/>
          <p:nvPr/>
        </p:nvSpPr>
        <p:spPr>
          <a:xfrm>
            <a:off x="6050280" y="3916680"/>
            <a:ext cx="5654040" cy="194310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29" name="07-text-27"/>
          <p:cNvSpPr/>
          <p:nvPr/>
        </p:nvSpPr>
        <p:spPr>
          <a:xfrm>
            <a:off x="6263640" y="4155754"/>
            <a:ext cx="1349720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EAB2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НАБЛЮДАЕМОСТЬ</a:t>
            </a:r>
            <a:endParaRPr lang="ru-RU" sz="1020" dirty="0"/>
          </a:p>
        </p:txBody>
      </p:sp>
      <p:sp>
        <p:nvSpPr>
          <p:cNvPr id="30" name="07-text-28"/>
          <p:cNvSpPr/>
          <p:nvPr/>
        </p:nvSpPr>
        <p:spPr>
          <a:xfrm>
            <a:off x="6263640" y="4437206"/>
            <a:ext cx="3783738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Метрики без исходного текста</a:t>
            </a:r>
            <a:endParaRPr lang="ru-RU" sz="2040" dirty="0"/>
          </a:p>
        </p:txBody>
      </p:sp>
      <p:sp>
        <p:nvSpPr>
          <p:cNvPr id="31" name="07-text-29"/>
          <p:cNvSpPr/>
          <p:nvPr/>
        </p:nvSpPr>
        <p:spPr>
          <a:xfrm>
            <a:off x="6263640" y="4915071"/>
            <a:ext cx="3415816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Этапы, длительность, типы и ошибки.</a:t>
            </a:r>
            <a:endParaRPr lang="ru-RU" sz="1500" dirty="0"/>
          </a:p>
        </p:txBody>
      </p:sp>
      <p:sp>
        <p:nvSpPr>
          <p:cNvPr id="32" name="07-text-30"/>
          <p:cNvSpPr/>
          <p:nvPr/>
        </p:nvSpPr>
        <p:spPr>
          <a:xfrm>
            <a:off x="6263640" y="5189391"/>
            <a:ext cx="3781654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Захват raw-запросов — отдельная опция:</a:t>
            </a:r>
            <a:endParaRPr lang="ru-RU" sz="1500" dirty="0"/>
          </a:p>
        </p:txBody>
      </p:sp>
      <p:sp>
        <p:nvSpPr>
          <p:cNvPr id="33" name="07-text-31"/>
          <p:cNvSpPr/>
          <p:nvPr/>
        </p:nvSpPr>
        <p:spPr>
          <a:xfrm>
            <a:off x="6263640" y="5463711"/>
            <a:ext cx="3828347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нужны свой retention и контроль доступа.</a:t>
            </a:r>
            <a:endParaRPr lang="ru-RU" sz="1500" dirty="0"/>
          </a:p>
        </p:txBody>
      </p:sp>
      <p:sp>
        <p:nvSpPr>
          <p:cNvPr id="34" name="07-line-32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35" name="07-text-33"/>
          <p:cNvSpPr/>
          <p:nvPr/>
        </p:nvSpPr>
        <p:spPr>
          <a:xfrm>
            <a:off x="487680" y="6475579"/>
            <a:ext cx="3889172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Источники: config/policies.yaml · seif/config.py · seif/app.py · seif/vault.py</a:t>
            </a:r>
            <a:endParaRPr lang="ru-RU" sz="900" dirty="0"/>
          </a:p>
        </p:txBody>
      </p:sp>
      <p:sp>
        <p:nvSpPr>
          <p:cNvPr id="36" name="07-text-34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16</a:t>
            </a:r>
            <a:endParaRPr lang="ru-RU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8-rect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08-line-1"/>
          <p:cNvSpPr/>
          <p:nvPr/>
        </p:nvSpPr>
        <p:spPr>
          <a:xfrm>
            <a:off x="487680" y="6858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4" name="08-rect-2"/>
          <p:cNvSpPr/>
          <p:nvPr/>
        </p:nvSpPr>
        <p:spPr>
          <a:xfrm>
            <a:off x="495300" y="25908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5" name="08-rect-3"/>
          <p:cNvSpPr/>
          <p:nvPr/>
        </p:nvSpPr>
        <p:spPr>
          <a:xfrm>
            <a:off x="624840" y="259080"/>
            <a:ext cx="91440" cy="91440"/>
          </a:xfrm>
          <a:prstGeom prst="rect">
            <a:avLst/>
          </a:prstGeom>
          <a:solidFill>
            <a:srgbClr val="C0F0C5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6" name="08-rect-4"/>
          <p:cNvSpPr/>
          <p:nvPr/>
        </p:nvSpPr>
        <p:spPr>
          <a:xfrm>
            <a:off x="49530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7" name="08-rect-5"/>
          <p:cNvSpPr/>
          <p:nvPr/>
        </p:nvSpPr>
        <p:spPr>
          <a:xfrm>
            <a:off x="62484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8" name="08-text-6"/>
          <p:cNvSpPr/>
          <p:nvPr/>
        </p:nvSpPr>
        <p:spPr>
          <a:xfrm>
            <a:off x="845820" y="217535"/>
            <a:ext cx="703916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60" b="1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СЕЙФ</a:t>
            </a:r>
            <a:endParaRPr lang="ru-RU" sz="1860" dirty="0"/>
          </a:p>
        </p:txBody>
      </p:sp>
      <p:sp>
        <p:nvSpPr>
          <p:cNvPr id="9" name="08-text-7"/>
          <p:cNvSpPr/>
          <p:nvPr/>
        </p:nvSpPr>
        <p:spPr>
          <a:xfrm>
            <a:off x="2179320" y="351413"/>
            <a:ext cx="1826696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ОСНОВНЫЕ ЭКСПЕРИМЕНТЫ</a:t>
            </a:r>
            <a:endParaRPr lang="ru-RU" sz="960" dirty="0"/>
          </a:p>
        </p:txBody>
      </p:sp>
      <p:sp>
        <p:nvSpPr>
          <p:cNvPr id="10" name="08-text-8"/>
          <p:cNvSpPr/>
          <p:nvPr/>
        </p:nvSpPr>
        <p:spPr>
          <a:xfrm>
            <a:off x="10987677" y="351413"/>
            <a:ext cx="71664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960" dirty="0"/>
          </a:p>
        </p:txBody>
      </p:sp>
      <p:sp>
        <p:nvSpPr>
          <p:cNvPr id="11" name="08-text-9"/>
          <p:cNvSpPr/>
          <p:nvPr/>
        </p:nvSpPr>
        <p:spPr>
          <a:xfrm>
            <a:off x="487680" y="841340"/>
            <a:ext cx="8490650" cy="60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4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Кандидаты проверяли на трёх корпусах.</a:t>
            </a:r>
            <a:endParaRPr lang="ru-RU" sz="3480" dirty="0"/>
          </a:p>
        </p:txBody>
      </p:sp>
      <p:sp>
        <p:nvSpPr>
          <p:cNvPr id="12" name="08-text-10"/>
          <p:cNvSpPr/>
          <p:nvPr/>
        </p:nvSpPr>
        <p:spPr>
          <a:xfrm>
            <a:off x="487680" y="1531791"/>
            <a:ext cx="9059543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Текущие правила: spaCy, GLiNER, новый RuBERT. LFM и прежний RuBERT — исторические профили.</a:t>
            </a:r>
            <a:endParaRPr lang="ru-RU" sz="1500" dirty="0"/>
          </a:p>
        </p:txBody>
      </p:sp>
      <p:sp>
        <p:nvSpPr>
          <p:cNvPr id="13" name="08-text-11"/>
          <p:cNvSpPr/>
          <p:nvPr/>
        </p:nvSpPr>
        <p:spPr>
          <a:xfrm>
            <a:off x="655320" y="2128834"/>
            <a:ext cx="1276006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СЕРВИСНЫЙ ПРОФИЛЬ</a:t>
            </a:r>
            <a:endParaRPr lang="ru-RU" sz="1020" dirty="0"/>
          </a:p>
        </p:txBody>
      </p:sp>
      <p:sp>
        <p:nvSpPr>
          <p:cNvPr id="14" name="08-text-12"/>
          <p:cNvSpPr/>
          <p:nvPr/>
        </p:nvSpPr>
        <p:spPr>
          <a:xfrm>
            <a:off x="5143255" y="2128834"/>
            <a:ext cx="686290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ORGANIZER</a:t>
            </a:r>
            <a:endParaRPr lang="ru-RU" sz="1020" dirty="0"/>
          </a:p>
        </p:txBody>
      </p:sp>
      <p:sp>
        <p:nvSpPr>
          <p:cNvPr id="15" name="08-text-13"/>
          <p:cNvSpPr/>
          <p:nvPr/>
        </p:nvSpPr>
        <p:spPr>
          <a:xfrm>
            <a:off x="6819655" y="2128834"/>
            <a:ext cx="686290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PII-BENCH</a:t>
            </a:r>
            <a:endParaRPr lang="ru-RU" sz="1020" dirty="0"/>
          </a:p>
        </p:txBody>
      </p:sp>
      <p:sp>
        <p:nvSpPr>
          <p:cNvPr id="16" name="08-text-14"/>
          <p:cNvSpPr/>
          <p:nvPr/>
        </p:nvSpPr>
        <p:spPr>
          <a:xfrm>
            <a:off x="8346140" y="2128834"/>
            <a:ext cx="833719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REDMADROBOT</a:t>
            </a:r>
            <a:endParaRPr lang="ru-RU" sz="1020" dirty="0"/>
          </a:p>
        </p:txBody>
      </p:sp>
      <p:sp>
        <p:nvSpPr>
          <p:cNvPr id="17" name="08-text-15"/>
          <p:cNvSpPr/>
          <p:nvPr/>
        </p:nvSpPr>
        <p:spPr>
          <a:xfrm>
            <a:off x="10270272" y="2128834"/>
            <a:ext cx="612576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КОНТРАКТ</a:t>
            </a:r>
            <a:endParaRPr lang="ru-RU" sz="1020" dirty="0"/>
          </a:p>
        </p:txBody>
      </p:sp>
      <p:sp>
        <p:nvSpPr>
          <p:cNvPr id="18" name="08-rect-16"/>
          <p:cNvSpPr/>
          <p:nvPr/>
        </p:nvSpPr>
        <p:spPr>
          <a:xfrm>
            <a:off x="487680" y="2400300"/>
            <a:ext cx="11216640" cy="472440"/>
          </a:xfrm>
          <a:prstGeom prst="rect">
            <a:avLst/>
          </a:prstGeom>
          <a:solidFill>
            <a:srgbClr val="17231D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9" name="08-text-17"/>
          <p:cNvSpPr/>
          <p:nvPr/>
        </p:nvSpPr>
        <p:spPr>
          <a:xfrm>
            <a:off x="655320" y="2490706"/>
            <a:ext cx="2258012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spaCy ru_core_news_sm</a:t>
            </a:r>
            <a:endParaRPr lang="ru-RU" sz="1620" dirty="0"/>
          </a:p>
        </p:txBody>
      </p:sp>
      <p:sp>
        <p:nvSpPr>
          <p:cNvPr id="20" name="08-text-18"/>
          <p:cNvSpPr/>
          <p:nvPr/>
        </p:nvSpPr>
        <p:spPr>
          <a:xfrm>
            <a:off x="5160600" y="254860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F0F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96,89</a:t>
            </a:r>
            <a:endParaRPr lang="ru-RU" sz="1740" dirty="0"/>
          </a:p>
        </p:txBody>
      </p:sp>
      <p:sp>
        <p:nvSpPr>
          <p:cNvPr id="21" name="08-text-19"/>
          <p:cNvSpPr/>
          <p:nvPr/>
        </p:nvSpPr>
        <p:spPr>
          <a:xfrm>
            <a:off x="6837000" y="254860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F0F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74,40</a:t>
            </a:r>
            <a:endParaRPr lang="ru-RU" sz="1740" dirty="0"/>
          </a:p>
        </p:txBody>
      </p:sp>
      <p:sp>
        <p:nvSpPr>
          <p:cNvPr id="22" name="08-text-20"/>
          <p:cNvSpPr/>
          <p:nvPr/>
        </p:nvSpPr>
        <p:spPr>
          <a:xfrm>
            <a:off x="8437200" y="254860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F0F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65,37</a:t>
            </a:r>
            <a:endParaRPr lang="ru-RU" sz="1740" dirty="0"/>
          </a:p>
        </p:txBody>
      </p:sp>
      <p:sp>
        <p:nvSpPr>
          <p:cNvPr id="23" name="08-text-21"/>
          <p:cNvSpPr/>
          <p:nvPr/>
        </p:nvSpPr>
        <p:spPr>
          <a:xfrm>
            <a:off x="10122843" y="2608894"/>
            <a:ext cx="907434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/ LOC</a:t>
            </a:r>
            <a:endParaRPr lang="ru-RU" sz="1020" dirty="0"/>
          </a:p>
        </p:txBody>
      </p:sp>
      <p:sp>
        <p:nvSpPr>
          <p:cNvPr id="24" name="08-rect-22"/>
          <p:cNvSpPr/>
          <p:nvPr/>
        </p:nvSpPr>
        <p:spPr>
          <a:xfrm>
            <a:off x="487680" y="2918460"/>
            <a:ext cx="11216640" cy="472440"/>
          </a:xfrm>
          <a:prstGeom prst="rect">
            <a:avLst/>
          </a:prstGeom>
          <a:solidFill>
            <a:srgbClr val="17231D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5" name="08-text-23"/>
          <p:cNvSpPr/>
          <p:nvPr/>
        </p:nvSpPr>
        <p:spPr>
          <a:xfrm>
            <a:off x="655320" y="3008866"/>
            <a:ext cx="2000361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GLiNER 2.5 / PyTorch</a:t>
            </a:r>
            <a:endParaRPr lang="ru-RU" sz="1620" dirty="0"/>
          </a:p>
        </p:txBody>
      </p:sp>
      <p:sp>
        <p:nvSpPr>
          <p:cNvPr id="26" name="08-text-24"/>
          <p:cNvSpPr/>
          <p:nvPr/>
        </p:nvSpPr>
        <p:spPr>
          <a:xfrm>
            <a:off x="5160600" y="306676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F0F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97,46</a:t>
            </a:r>
            <a:endParaRPr lang="ru-RU" sz="1740" dirty="0"/>
          </a:p>
        </p:txBody>
      </p:sp>
      <p:sp>
        <p:nvSpPr>
          <p:cNvPr id="27" name="08-text-25"/>
          <p:cNvSpPr/>
          <p:nvPr/>
        </p:nvSpPr>
        <p:spPr>
          <a:xfrm>
            <a:off x="6837000" y="306676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F0F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74,29</a:t>
            </a:r>
            <a:endParaRPr lang="ru-RU" sz="1740" dirty="0"/>
          </a:p>
        </p:txBody>
      </p:sp>
      <p:sp>
        <p:nvSpPr>
          <p:cNvPr id="28" name="08-text-26"/>
          <p:cNvSpPr/>
          <p:nvPr/>
        </p:nvSpPr>
        <p:spPr>
          <a:xfrm>
            <a:off x="8437200" y="306676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F0F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70,47</a:t>
            </a:r>
            <a:endParaRPr lang="ru-RU" sz="1740" dirty="0"/>
          </a:p>
        </p:txBody>
      </p:sp>
      <p:sp>
        <p:nvSpPr>
          <p:cNvPr id="29" name="08-text-27"/>
          <p:cNvSpPr/>
          <p:nvPr/>
        </p:nvSpPr>
        <p:spPr>
          <a:xfrm>
            <a:off x="10122843" y="3127054"/>
            <a:ext cx="907434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/ LOC</a:t>
            </a:r>
            <a:endParaRPr lang="ru-RU" sz="1020" dirty="0"/>
          </a:p>
        </p:txBody>
      </p:sp>
      <p:sp>
        <p:nvSpPr>
          <p:cNvPr id="30" name="08-rect-28"/>
          <p:cNvSpPr/>
          <p:nvPr/>
        </p:nvSpPr>
        <p:spPr>
          <a:xfrm>
            <a:off x="487680" y="3436620"/>
            <a:ext cx="11216640" cy="472440"/>
          </a:xfrm>
          <a:prstGeom prst="rect">
            <a:avLst/>
          </a:prstGeom>
          <a:solidFill>
            <a:srgbClr val="17231D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1" name="08-text-29"/>
          <p:cNvSpPr/>
          <p:nvPr/>
        </p:nvSpPr>
        <p:spPr>
          <a:xfrm>
            <a:off x="655320" y="3527026"/>
            <a:ext cx="1853549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GLiNER 2.5 / ONNX</a:t>
            </a:r>
            <a:endParaRPr lang="ru-RU" sz="1620" dirty="0"/>
          </a:p>
        </p:txBody>
      </p:sp>
      <p:sp>
        <p:nvSpPr>
          <p:cNvPr id="32" name="08-text-30"/>
          <p:cNvSpPr/>
          <p:nvPr/>
        </p:nvSpPr>
        <p:spPr>
          <a:xfrm>
            <a:off x="5160600" y="358492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F0F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97,46</a:t>
            </a:r>
            <a:endParaRPr lang="ru-RU" sz="1740" dirty="0"/>
          </a:p>
        </p:txBody>
      </p:sp>
      <p:sp>
        <p:nvSpPr>
          <p:cNvPr id="33" name="08-text-31"/>
          <p:cNvSpPr/>
          <p:nvPr/>
        </p:nvSpPr>
        <p:spPr>
          <a:xfrm>
            <a:off x="6837000" y="358492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F0F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74,29</a:t>
            </a:r>
            <a:endParaRPr lang="ru-RU" sz="1740" dirty="0"/>
          </a:p>
        </p:txBody>
      </p:sp>
      <p:sp>
        <p:nvSpPr>
          <p:cNvPr id="34" name="08-text-32"/>
          <p:cNvSpPr/>
          <p:nvPr/>
        </p:nvSpPr>
        <p:spPr>
          <a:xfrm>
            <a:off x="8437200" y="358492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F0F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70,47</a:t>
            </a:r>
            <a:endParaRPr lang="ru-RU" sz="1740" dirty="0"/>
          </a:p>
        </p:txBody>
      </p:sp>
      <p:sp>
        <p:nvSpPr>
          <p:cNvPr id="35" name="08-text-33"/>
          <p:cNvSpPr/>
          <p:nvPr/>
        </p:nvSpPr>
        <p:spPr>
          <a:xfrm>
            <a:off x="10122843" y="3645214"/>
            <a:ext cx="907434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/ LOC</a:t>
            </a:r>
            <a:endParaRPr lang="ru-RU" sz="1020" dirty="0"/>
          </a:p>
        </p:txBody>
      </p:sp>
      <p:sp>
        <p:nvSpPr>
          <p:cNvPr id="36" name="08-rect-34"/>
          <p:cNvSpPr/>
          <p:nvPr/>
        </p:nvSpPr>
        <p:spPr>
          <a:xfrm>
            <a:off x="487680" y="3954780"/>
            <a:ext cx="11216640" cy="472440"/>
          </a:xfrm>
          <a:prstGeom prst="rect">
            <a:avLst/>
          </a:prstGeom>
          <a:solidFill>
            <a:srgbClr val="17231D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7" name="08-text-35"/>
          <p:cNvSpPr/>
          <p:nvPr/>
        </p:nvSpPr>
        <p:spPr>
          <a:xfrm>
            <a:off x="655320" y="4045186"/>
            <a:ext cx="2228795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LFM2.5 / address-proxy</a:t>
            </a:r>
            <a:endParaRPr lang="ru-RU" sz="1620" dirty="0"/>
          </a:p>
        </p:txBody>
      </p:sp>
      <p:sp>
        <p:nvSpPr>
          <p:cNvPr id="38" name="08-text-36"/>
          <p:cNvSpPr/>
          <p:nvPr/>
        </p:nvSpPr>
        <p:spPr>
          <a:xfrm>
            <a:off x="5160600" y="410308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F0F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94,58</a:t>
            </a:r>
            <a:endParaRPr lang="ru-RU" sz="1740" dirty="0"/>
          </a:p>
        </p:txBody>
      </p:sp>
      <p:sp>
        <p:nvSpPr>
          <p:cNvPr id="39" name="08-text-37"/>
          <p:cNvSpPr/>
          <p:nvPr/>
        </p:nvSpPr>
        <p:spPr>
          <a:xfrm>
            <a:off x="6837000" y="410308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F0F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70,86</a:t>
            </a:r>
            <a:endParaRPr lang="ru-RU" sz="1740" dirty="0"/>
          </a:p>
        </p:txBody>
      </p:sp>
      <p:sp>
        <p:nvSpPr>
          <p:cNvPr id="40" name="08-text-38"/>
          <p:cNvSpPr/>
          <p:nvPr/>
        </p:nvSpPr>
        <p:spPr>
          <a:xfrm>
            <a:off x="8437200" y="410308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F0F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53,66</a:t>
            </a:r>
            <a:endParaRPr lang="ru-RU" sz="1740" dirty="0"/>
          </a:p>
        </p:txBody>
      </p:sp>
      <p:sp>
        <p:nvSpPr>
          <p:cNvPr id="41" name="08-text-39"/>
          <p:cNvSpPr/>
          <p:nvPr/>
        </p:nvSpPr>
        <p:spPr>
          <a:xfrm>
            <a:off x="10122843" y="4163374"/>
            <a:ext cx="907434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/ LOC</a:t>
            </a:r>
            <a:endParaRPr lang="ru-RU" sz="1020" dirty="0"/>
          </a:p>
        </p:txBody>
      </p:sp>
      <p:sp>
        <p:nvSpPr>
          <p:cNvPr id="42" name="08-rect-40"/>
          <p:cNvSpPr/>
          <p:nvPr/>
        </p:nvSpPr>
        <p:spPr>
          <a:xfrm>
            <a:off x="487680" y="4472940"/>
            <a:ext cx="11216640" cy="472440"/>
          </a:xfrm>
          <a:prstGeom prst="rect">
            <a:avLst/>
          </a:prstGeom>
          <a:solidFill>
            <a:srgbClr val="17231D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3" name="08-text-41"/>
          <p:cNvSpPr/>
          <p:nvPr/>
        </p:nvSpPr>
        <p:spPr>
          <a:xfrm>
            <a:off x="655320" y="4563346"/>
            <a:ext cx="2555900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RuBERT / прежний сервис</a:t>
            </a:r>
            <a:endParaRPr lang="ru-RU" sz="1620" dirty="0"/>
          </a:p>
        </p:txBody>
      </p:sp>
      <p:sp>
        <p:nvSpPr>
          <p:cNvPr id="44" name="08-text-42"/>
          <p:cNvSpPr/>
          <p:nvPr/>
        </p:nvSpPr>
        <p:spPr>
          <a:xfrm>
            <a:off x="5160600" y="462124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F0F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96,88</a:t>
            </a:r>
            <a:endParaRPr lang="ru-RU" sz="1740" dirty="0"/>
          </a:p>
        </p:txBody>
      </p:sp>
      <p:sp>
        <p:nvSpPr>
          <p:cNvPr id="45" name="08-text-43"/>
          <p:cNvSpPr/>
          <p:nvPr/>
        </p:nvSpPr>
        <p:spPr>
          <a:xfrm>
            <a:off x="6837000" y="462124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F0F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74,07</a:t>
            </a:r>
            <a:endParaRPr lang="ru-RU" sz="1740" dirty="0"/>
          </a:p>
        </p:txBody>
      </p:sp>
      <p:sp>
        <p:nvSpPr>
          <p:cNvPr id="46" name="08-text-44"/>
          <p:cNvSpPr/>
          <p:nvPr/>
        </p:nvSpPr>
        <p:spPr>
          <a:xfrm>
            <a:off x="8437200" y="462124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F0F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69,71</a:t>
            </a:r>
            <a:endParaRPr lang="ru-RU" sz="1740" dirty="0"/>
          </a:p>
        </p:txBody>
      </p:sp>
      <p:sp>
        <p:nvSpPr>
          <p:cNvPr id="47" name="08-text-45"/>
          <p:cNvSpPr/>
          <p:nvPr/>
        </p:nvSpPr>
        <p:spPr>
          <a:xfrm>
            <a:off x="10122843" y="4681534"/>
            <a:ext cx="907434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/ LOC</a:t>
            </a:r>
            <a:endParaRPr lang="ru-RU" sz="1020" dirty="0"/>
          </a:p>
        </p:txBody>
      </p:sp>
      <p:sp>
        <p:nvSpPr>
          <p:cNvPr id="48" name="08-rect-46"/>
          <p:cNvSpPr/>
          <p:nvPr/>
        </p:nvSpPr>
        <p:spPr>
          <a:xfrm>
            <a:off x="487680" y="4991100"/>
            <a:ext cx="11216640" cy="472440"/>
          </a:xfrm>
          <a:prstGeom prst="rect">
            <a:avLst/>
          </a:prstGeom>
          <a:solidFill>
            <a:srgbClr val="1C2A22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9" name="08-text-47"/>
          <p:cNvSpPr/>
          <p:nvPr/>
        </p:nvSpPr>
        <p:spPr>
          <a:xfrm>
            <a:off x="655320" y="5081506"/>
            <a:ext cx="2497778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RuBERT / текущий сервис</a:t>
            </a:r>
            <a:endParaRPr lang="ru-RU" sz="1620" dirty="0"/>
          </a:p>
        </p:txBody>
      </p:sp>
      <p:sp>
        <p:nvSpPr>
          <p:cNvPr id="50" name="08-text-48"/>
          <p:cNvSpPr/>
          <p:nvPr/>
        </p:nvSpPr>
        <p:spPr>
          <a:xfrm>
            <a:off x="5160600" y="513940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97,13</a:t>
            </a:r>
            <a:endParaRPr lang="ru-RU" sz="1740" dirty="0"/>
          </a:p>
        </p:txBody>
      </p:sp>
      <p:sp>
        <p:nvSpPr>
          <p:cNvPr id="51" name="08-text-49"/>
          <p:cNvSpPr/>
          <p:nvPr/>
        </p:nvSpPr>
        <p:spPr>
          <a:xfrm>
            <a:off x="6837000" y="513940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77,86</a:t>
            </a:r>
            <a:endParaRPr lang="ru-RU" sz="1740" dirty="0"/>
          </a:p>
        </p:txBody>
      </p:sp>
      <p:sp>
        <p:nvSpPr>
          <p:cNvPr id="52" name="08-text-50"/>
          <p:cNvSpPr/>
          <p:nvPr/>
        </p:nvSpPr>
        <p:spPr>
          <a:xfrm>
            <a:off x="8437200" y="5139404"/>
            <a:ext cx="651601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74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93,90</a:t>
            </a:r>
            <a:endParaRPr lang="ru-RU" sz="1740" dirty="0"/>
          </a:p>
        </p:txBody>
      </p:sp>
      <p:sp>
        <p:nvSpPr>
          <p:cNvPr id="53" name="08-text-51"/>
          <p:cNvSpPr/>
          <p:nvPr/>
        </p:nvSpPr>
        <p:spPr>
          <a:xfrm>
            <a:off x="10270272" y="5199694"/>
            <a:ext cx="612576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типов</a:t>
            </a:r>
            <a:endParaRPr lang="ru-RU" sz="1020" dirty="0"/>
          </a:p>
        </p:txBody>
      </p:sp>
      <p:sp>
        <p:nvSpPr>
          <p:cNvPr id="54" name="08-text-52"/>
          <p:cNvSpPr/>
          <p:nvPr/>
        </p:nvSpPr>
        <p:spPr>
          <a:xfrm>
            <a:off x="487680" y="5549942"/>
            <a:ext cx="6663296" cy="228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6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LFM native hybrid: PII-Bench 84,18% — 40 типов, без правил СЕЙФ; отдельный профиль.</a:t>
            </a:r>
            <a:endParaRPr lang="ru-RU" sz="1260" dirty="0"/>
          </a:p>
        </p:txBody>
      </p:sp>
      <p:sp>
        <p:nvSpPr>
          <p:cNvPr id="55" name="08-text-53"/>
          <p:cNvSpPr/>
          <p:nvPr/>
        </p:nvSpPr>
        <p:spPr>
          <a:xfrm>
            <a:off x="487680" y="5779145"/>
            <a:ext cx="7691675" cy="217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GLiNER пересчитан по сохранённым предсказаниям. Полный набор PII-классов требует нового inference.</a:t>
            </a:r>
            <a:endParaRPr lang="ru-RU" sz="1200" dirty="0"/>
          </a:p>
        </p:txBody>
      </p:sp>
      <p:sp>
        <p:nvSpPr>
          <p:cNvPr id="56" name="08-text-54"/>
          <p:cNvSpPr/>
          <p:nvPr/>
        </p:nvSpPr>
        <p:spPr>
          <a:xfrm>
            <a:off x="487680" y="6008348"/>
            <a:ext cx="7069122" cy="20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446 / 1 810 / 2 839 текстов. Разные контракты и версии правил; это не рейтинг одних только моделей.</a:t>
            </a:r>
            <a:endParaRPr lang="ru-RU" sz="1140" dirty="0"/>
          </a:p>
        </p:txBody>
      </p:sp>
      <p:sp>
        <p:nvSpPr>
          <p:cNvPr id="57" name="08-line-55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58" name="08-text-56"/>
          <p:cNvSpPr/>
          <p:nvPr/>
        </p:nvSpPr>
        <p:spPr>
          <a:xfrm>
            <a:off x="487680" y="6475579"/>
            <a:ext cx="5083614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Источники и условия каждой ячейки: experiment-metrics.json · единицы: F1 маскирования, %</a:t>
            </a:r>
            <a:endParaRPr lang="ru-RU" sz="900" dirty="0"/>
          </a:p>
        </p:txBody>
      </p:sp>
      <p:sp>
        <p:nvSpPr>
          <p:cNvPr id="59" name="08-text-57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16</a:t>
            </a:r>
            <a:endParaRPr lang="ru-RU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9-rect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09-line-1"/>
          <p:cNvSpPr/>
          <p:nvPr/>
        </p:nvSpPr>
        <p:spPr>
          <a:xfrm>
            <a:off x="487680" y="6858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4" name="09-rect-2"/>
          <p:cNvSpPr/>
          <p:nvPr/>
        </p:nvSpPr>
        <p:spPr>
          <a:xfrm>
            <a:off x="495300" y="25908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5" name="09-rect-3"/>
          <p:cNvSpPr/>
          <p:nvPr/>
        </p:nvSpPr>
        <p:spPr>
          <a:xfrm>
            <a:off x="624840" y="259080"/>
            <a:ext cx="91440" cy="91440"/>
          </a:xfrm>
          <a:prstGeom prst="rect">
            <a:avLst/>
          </a:prstGeom>
          <a:solidFill>
            <a:srgbClr val="C0F0C5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6" name="09-rect-4"/>
          <p:cNvSpPr/>
          <p:nvPr/>
        </p:nvSpPr>
        <p:spPr>
          <a:xfrm>
            <a:off x="49530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7" name="09-rect-5"/>
          <p:cNvSpPr/>
          <p:nvPr/>
        </p:nvSpPr>
        <p:spPr>
          <a:xfrm>
            <a:off x="62484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8" name="09-text-6"/>
          <p:cNvSpPr/>
          <p:nvPr/>
        </p:nvSpPr>
        <p:spPr>
          <a:xfrm>
            <a:off x="845820" y="217535"/>
            <a:ext cx="703916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60" b="1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СЕЙФ</a:t>
            </a:r>
            <a:endParaRPr lang="ru-RU" sz="1860" dirty="0"/>
          </a:p>
        </p:txBody>
      </p:sp>
      <p:sp>
        <p:nvSpPr>
          <p:cNvPr id="9" name="09-text-7"/>
          <p:cNvSpPr/>
          <p:nvPr/>
        </p:nvSpPr>
        <p:spPr>
          <a:xfrm>
            <a:off x="2179320" y="351413"/>
            <a:ext cx="2034831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КОНТРОЛИРУЕМОЕ СРАВНЕНИЕ</a:t>
            </a:r>
            <a:endParaRPr lang="ru-RU" sz="960" dirty="0"/>
          </a:p>
        </p:txBody>
      </p:sp>
      <p:sp>
        <p:nvSpPr>
          <p:cNvPr id="10" name="09-text-8"/>
          <p:cNvSpPr/>
          <p:nvPr/>
        </p:nvSpPr>
        <p:spPr>
          <a:xfrm>
            <a:off x="10987677" y="351413"/>
            <a:ext cx="71664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960" dirty="0"/>
          </a:p>
        </p:txBody>
      </p:sp>
      <p:sp>
        <p:nvSpPr>
          <p:cNvPr id="11" name="09-text-9"/>
          <p:cNvSpPr/>
          <p:nvPr/>
        </p:nvSpPr>
        <p:spPr>
          <a:xfrm>
            <a:off x="487680" y="841340"/>
            <a:ext cx="9792802" cy="60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4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Обновление RuBERT улучшило маскирование.</a:t>
            </a:r>
            <a:endParaRPr lang="ru-RU" sz="3480" dirty="0"/>
          </a:p>
        </p:txBody>
      </p:sp>
      <p:sp>
        <p:nvSpPr>
          <p:cNvPr id="12" name="09-text-10"/>
          <p:cNvSpPr/>
          <p:nvPr/>
        </p:nvSpPr>
        <p:spPr>
          <a:xfrm>
            <a:off x="487680" y="1515948"/>
            <a:ext cx="7849362" cy="27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6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Предыдущий RuBERT → текущий RuBERT → контроль pii-guard на исходном тексте.</a:t>
            </a:r>
            <a:endParaRPr lang="ru-RU" sz="1560" dirty="0"/>
          </a:p>
        </p:txBody>
      </p:sp>
      <p:sp>
        <p:nvSpPr>
          <p:cNvPr id="13" name="09-rect-11"/>
          <p:cNvSpPr/>
          <p:nvPr/>
        </p:nvSpPr>
        <p:spPr>
          <a:xfrm>
            <a:off x="487680" y="2125980"/>
            <a:ext cx="3627120" cy="342900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14" name="09-text-12"/>
          <p:cNvSpPr/>
          <p:nvPr/>
        </p:nvSpPr>
        <p:spPr>
          <a:xfrm>
            <a:off x="678180" y="2227406"/>
            <a:ext cx="1183961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Organizer</a:t>
            </a:r>
            <a:endParaRPr lang="ru-RU" sz="2040" dirty="0"/>
          </a:p>
        </p:txBody>
      </p:sp>
      <p:sp>
        <p:nvSpPr>
          <p:cNvPr id="15" name="09-text-13"/>
          <p:cNvSpPr/>
          <p:nvPr/>
        </p:nvSpPr>
        <p:spPr>
          <a:xfrm>
            <a:off x="678180" y="2679435"/>
            <a:ext cx="1193619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446 · AI silver</a:t>
            </a:r>
            <a:endParaRPr lang="ru-RU" sz="1080" dirty="0"/>
          </a:p>
        </p:txBody>
      </p:sp>
      <p:sp>
        <p:nvSpPr>
          <p:cNvPr id="16" name="09-text-14"/>
          <p:cNvSpPr/>
          <p:nvPr/>
        </p:nvSpPr>
        <p:spPr>
          <a:xfrm>
            <a:off x="678180" y="3004259"/>
            <a:ext cx="625392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Раньше</a:t>
            </a:r>
            <a:endParaRPr lang="ru-RU" sz="1320" dirty="0"/>
          </a:p>
        </p:txBody>
      </p:sp>
      <p:sp>
        <p:nvSpPr>
          <p:cNvPr id="17" name="09-text-15"/>
          <p:cNvSpPr/>
          <p:nvPr/>
        </p:nvSpPr>
        <p:spPr>
          <a:xfrm>
            <a:off x="3171661" y="3038021"/>
            <a:ext cx="699299" cy="247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5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96,88%</a:t>
            </a:r>
            <a:endParaRPr lang="ru-RU" sz="1560" dirty="0"/>
          </a:p>
        </p:txBody>
      </p:sp>
      <p:sp>
        <p:nvSpPr>
          <p:cNvPr id="18" name="09-rect-16"/>
          <p:cNvSpPr/>
          <p:nvPr/>
        </p:nvSpPr>
        <p:spPr>
          <a:xfrm>
            <a:off x="678180" y="3322320"/>
            <a:ext cx="3200400" cy="12192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9" name="09-rect-17"/>
          <p:cNvSpPr/>
          <p:nvPr/>
        </p:nvSpPr>
        <p:spPr>
          <a:xfrm>
            <a:off x="678180" y="3322320"/>
            <a:ext cx="3100519" cy="121920"/>
          </a:xfrm>
          <a:prstGeom prst="rect">
            <a:avLst/>
          </a:prstGeom>
          <a:solidFill>
            <a:srgbClr val="93A39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0" name="09-text-18"/>
          <p:cNvSpPr/>
          <p:nvPr/>
        </p:nvSpPr>
        <p:spPr>
          <a:xfrm>
            <a:off x="678180" y="3697679"/>
            <a:ext cx="588284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Сейчас</a:t>
            </a:r>
            <a:endParaRPr lang="ru-RU" sz="1320" dirty="0"/>
          </a:p>
        </p:txBody>
      </p:sp>
      <p:sp>
        <p:nvSpPr>
          <p:cNvPr id="21" name="09-text-19"/>
          <p:cNvSpPr/>
          <p:nvPr/>
        </p:nvSpPr>
        <p:spPr>
          <a:xfrm>
            <a:off x="3171661" y="3731441"/>
            <a:ext cx="699299" cy="247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56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97,13%</a:t>
            </a:r>
            <a:endParaRPr lang="ru-RU" sz="1560" dirty="0"/>
          </a:p>
        </p:txBody>
      </p:sp>
      <p:sp>
        <p:nvSpPr>
          <p:cNvPr id="22" name="09-rect-20"/>
          <p:cNvSpPr/>
          <p:nvPr/>
        </p:nvSpPr>
        <p:spPr>
          <a:xfrm>
            <a:off x="678180" y="4015740"/>
            <a:ext cx="3200400" cy="12192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3" name="09-rect-21"/>
          <p:cNvSpPr/>
          <p:nvPr/>
        </p:nvSpPr>
        <p:spPr>
          <a:xfrm>
            <a:off x="678180" y="4015740"/>
            <a:ext cx="3108501" cy="12192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4" name="09-text-22"/>
          <p:cNvSpPr/>
          <p:nvPr/>
        </p:nvSpPr>
        <p:spPr>
          <a:xfrm>
            <a:off x="678180" y="4391099"/>
            <a:ext cx="801779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pii-guard*</a:t>
            </a:r>
            <a:endParaRPr lang="ru-RU" sz="1320" dirty="0"/>
          </a:p>
        </p:txBody>
      </p:sp>
      <p:sp>
        <p:nvSpPr>
          <p:cNvPr id="25" name="09-text-23"/>
          <p:cNvSpPr/>
          <p:nvPr/>
        </p:nvSpPr>
        <p:spPr>
          <a:xfrm>
            <a:off x="3171661" y="4424861"/>
            <a:ext cx="699299" cy="247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560" dirty="0">
                <a:solidFill>
                  <a:srgbClr val="EAB2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81,81%</a:t>
            </a:r>
            <a:endParaRPr lang="ru-RU" sz="1560" dirty="0"/>
          </a:p>
        </p:txBody>
      </p:sp>
      <p:sp>
        <p:nvSpPr>
          <p:cNvPr id="26" name="09-rect-24"/>
          <p:cNvSpPr/>
          <p:nvPr/>
        </p:nvSpPr>
        <p:spPr>
          <a:xfrm>
            <a:off x="678180" y="4709160"/>
            <a:ext cx="3200400" cy="12192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7" name="09-rect-25"/>
          <p:cNvSpPr/>
          <p:nvPr/>
        </p:nvSpPr>
        <p:spPr>
          <a:xfrm>
            <a:off x="678180" y="4709160"/>
            <a:ext cx="2618260" cy="121920"/>
          </a:xfrm>
          <a:prstGeom prst="rect">
            <a:avLst/>
          </a:prstGeom>
          <a:solidFill>
            <a:srgbClr val="EAB291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8" name="09-text-26"/>
          <p:cNvSpPr/>
          <p:nvPr/>
        </p:nvSpPr>
        <p:spPr>
          <a:xfrm>
            <a:off x="678180" y="5251073"/>
            <a:ext cx="92477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Шкала: 0–100%</a:t>
            </a:r>
            <a:endParaRPr lang="ru-RU" sz="960" dirty="0"/>
          </a:p>
        </p:txBody>
      </p:sp>
      <p:sp>
        <p:nvSpPr>
          <p:cNvPr id="29" name="09-rect-27"/>
          <p:cNvSpPr/>
          <p:nvPr/>
        </p:nvSpPr>
        <p:spPr>
          <a:xfrm>
            <a:off x="4282440" y="2125980"/>
            <a:ext cx="3627120" cy="342900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30" name="09-text-28"/>
          <p:cNvSpPr/>
          <p:nvPr/>
        </p:nvSpPr>
        <p:spPr>
          <a:xfrm>
            <a:off x="4472940" y="2227406"/>
            <a:ext cx="1144289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PII-Bench</a:t>
            </a:r>
            <a:endParaRPr lang="ru-RU" sz="2040" dirty="0"/>
          </a:p>
        </p:txBody>
      </p:sp>
      <p:sp>
        <p:nvSpPr>
          <p:cNvPr id="31" name="09-text-29"/>
          <p:cNvSpPr/>
          <p:nvPr/>
        </p:nvSpPr>
        <p:spPr>
          <a:xfrm>
            <a:off x="4472940" y="2679435"/>
            <a:ext cx="41311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1 810</a:t>
            </a:r>
            <a:endParaRPr lang="ru-RU" sz="1080" dirty="0"/>
          </a:p>
        </p:txBody>
      </p:sp>
      <p:sp>
        <p:nvSpPr>
          <p:cNvPr id="32" name="09-text-30"/>
          <p:cNvSpPr/>
          <p:nvPr/>
        </p:nvSpPr>
        <p:spPr>
          <a:xfrm>
            <a:off x="4472940" y="3004259"/>
            <a:ext cx="625392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Раньше</a:t>
            </a:r>
            <a:endParaRPr lang="ru-RU" sz="1320" dirty="0"/>
          </a:p>
        </p:txBody>
      </p:sp>
      <p:sp>
        <p:nvSpPr>
          <p:cNvPr id="33" name="09-text-31"/>
          <p:cNvSpPr/>
          <p:nvPr/>
        </p:nvSpPr>
        <p:spPr>
          <a:xfrm>
            <a:off x="6966421" y="3038021"/>
            <a:ext cx="699299" cy="247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5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74,07%</a:t>
            </a:r>
            <a:endParaRPr lang="ru-RU" sz="1560" dirty="0"/>
          </a:p>
        </p:txBody>
      </p:sp>
      <p:sp>
        <p:nvSpPr>
          <p:cNvPr id="34" name="09-rect-32"/>
          <p:cNvSpPr/>
          <p:nvPr/>
        </p:nvSpPr>
        <p:spPr>
          <a:xfrm>
            <a:off x="4472940" y="3322320"/>
            <a:ext cx="3200400" cy="12192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5" name="09-rect-33"/>
          <p:cNvSpPr/>
          <p:nvPr/>
        </p:nvSpPr>
        <p:spPr>
          <a:xfrm>
            <a:off x="4472940" y="3322320"/>
            <a:ext cx="2370635" cy="121920"/>
          </a:xfrm>
          <a:prstGeom prst="rect">
            <a:avLst/>
          </a:prstGeom>
          <a:solidFill>
            <a:srgbClr val="93A39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6" name="09-text-34"/>
          <p:cNvSpPr/>
          <p:nvPr/>
        </p:nvSpPr>
        <p:spPr>
          <a:xfrm>
            <a:off x="4472940" y="3697679"/>
            <a:ext cx="588284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Сейчас</a:t>
            </a:r>
            <a:endParaRPr lang="ru-RU" sz="1320" dirty="0"/>
          </a:p>
        </p:txBody>
      </p:sp>
      <p:sp>
        <p:nvSpPr>
          <p:cNvPr id="37" name="09-text-35"/>
          <p:cNvSpPr/>
          <p:nvPr/>
        </p:nvSpPr>
        <p:spPr>
          <a:xfrm>
            <a:off x="6966421" y="3731441"/>
            <a:ext cx="699299" cy="247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56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77,86%</a:t>
            </a:r>
            <a:endParaRPr lang="ru-RU" sz="1560" dirty="0"/>
          </a:p>
        </p:txBody>
      </p:sp>
      <p:sp>
        <p:nvSpPr>
          <p:cNvPr id="38" name="09-rect-36"/>
          <p:cNvSpPr/>
          <p:nvPr/>
        </p:nvSpPr>
        <p:spPr>
          <a:xfrm>
            <a:off x="4472940" y="4015740"/>
            <a:ext cx="3200400" cy="12192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9" name="09-rect-37"/>
          <p:cNvSpPr/>
          <p:nvPr/>
        </p:nvSpPr>
        <p:spPr>
          <a:xfrm>
            <a:off x="4472940" y="4015740"/>
            <a:ext cx="2491956" cy="12192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0" name="09-text-38"/>
          <p:cNvSpPr/>
          <p:nvPr/>
        </p:nvSpPr>
        <p:spPr>
          <a:xfrm>
            <a:off x="4472940" y="4391099"/>
            <a:ext cx="801779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pii-guard*</a:t>
            </a:r>
            <a:endParaRPr lang="ru-RU" sz="1320" dirty="0"/>
          </a:p>
        </p:txBody>
      </p:sp>
      <p:sp>
        <p:nvSpPr>
          <p:cNvPr id="41" name="09-text-39"/>
          <p:cNvSpPr/>
          <p:nvPr/>
        </p:nvSpPr>
        <p:spPr>
          <a:xfrm>
            <a:off x="6966421" y="4424861"/>
            <a:ext cx="699299" cy="247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560" dirty="0">
                <a:solidFill>
                  <a:srgbClr val="EAB2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78,55%</a:t>
            </a:r>
            <a:endParaRPr lang="ru-RU" sz="1560" dirty="0"/>
          </a:p>
        </p:txBody>
      </p:sp>
      <p:sp>
        <p:nvSpPr>
          <p:cNvPr id="42" name="09-rect-40"/>
          <p:cNvSpPr/>
          <p:nvPr/>
        </p:nvSpPr>
        <p:spPr>
          <a:xfrm>
            <a:off x="4472940" y="4709160"/>
            <a:ext cx="3200400" cy="12192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3" name="09-rect-41"/>
          <p:cNvSpPr/>
          <p:nvPr/>
        </p:nvSpPr>
        <p:spPr>
          <a:xfrm>
            <a:off x="4472940" y="4709160"/>
            <a:ext cx="2513847" cy="121920"/>
          </a:xfrm>
          <a:prstGeom prst="rect">
            <a:avLst/>
          </a:prstGeom>
          <a:solidFill>
            <a:srgbClr val="EAB291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44" name="09-text-42"/>
          <p:cNvSpPr/>
          <p:nvPr/>
        </p:nvSpPr>
        <p:spPr>
          <a:xfrm>
            <a:off x="4472940" y="5251073"/>
            <a:ext cx="92477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Шкала: 0–100%</a:t>
            </a:r>
            <a:endParaRPr lang="ru-RU" sz="960" dirty="0"/>
          </a:p>
        </p:txBody>
      </p:sp>
      <p:sp>
        <p:nvSpPr>
          <p:cNvPr id="45" name="09-rect-43"/>
          <p:cNvSpPr/>
          <p:nvPr/>
        </p:nvSpPr>
        <p:spPr>
          <a:xfrm>
            <a:off x="8077200" y="2125980"/>
            <a:ext cx="3627120" cy="342900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46" name="09-text-44"/>
          <p:cNvSpPr/>
          <p:nvPr/>
        </p:nvSpPr>
        <p:spPr>
          <a:xfrm>
            <a:off x="8267700" y="2227406"/>
            <a:ext cx="1739634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RedMadRobot</a:t>
            </a:r>
            <a:endParaRPr lang="ru-RU" sz="2040" dirty="0"/>
          </a:p>
        </p:txBody>
      </p:sp>
      <p:sp>
        <p:nvSpPr>
          <p:cNvPr id="47" name="09-text-45"/>
          <p:cNvSpPr/>
          <p:nvPr/>
        </p:nvSpPr>
        <p:spPr>
          <a:xfrm>
            <a:off x="8267700" y="2679435"/>
            <a:ext cx="41311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2 839</a:t>
            </a:r>
            <a:endParaRPr lang="ru-RU" sz="1080" dirty="0"/>
          </a:p>
        </p:txBody>
      </p:sp>
      <p:sp>
        <p:nvSpPr>
          <p:cNvPr id="48" name="09-text-46"/>
          <p:cNvSpPr/>
          <p:nvPr/>
        </p:nvSpPr>
        <p:spPr>
          <a:xfrm>
            <a:off x="8267700" y="3004259"/>
            <a:ext cx="625392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Раньше</a:t>
            </a:r>
            <a:endParaRPr lang="ru-RU" sz="1320" dirty="0"/>
          </a:p>
        </p:txBody>
      </p:sp>
      <p:sp>
        <p:nvSpPr>
          <p:cNvPr id="49" name="09-text-47"/>
          <p:cNvSpPr/>
          <p:nvPr/>
        </p:nvSpPr>
        <p:spPr>
          <a:xfrm>
            <a:off x="10761181" y="3038021"/>
            <a:ext cx="699299" cy="247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5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69,71%</a:t>
            </a:r>
            <a:endParaRPr lang="ru-RU" sz="1560" dirty="0"/>
          </a:p>
        </p:txBody>
      </p:sp>
      <p:sp>
        <p:nvSpPr>
          <p:cNvPr id="50" name="09-rect-48"/>
          <p:cNvSpPr/>
          <p:nvPr/>
        </p:nvSpPr>
        <p:spPr>
          <a:xfrm>
            <a:off x="8267700" y="3322320"/>
            <a:ext cx="3200400" cy="12192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1" name="09-rect-49"/>
          <p:cNvSpPr/>
          <p:nvPr/>
        </p:nvSpPr>
        <p:spPr>
          <a:xfrm>
            <a:off x="8267700" y="3322320"/>
            <a:ext cx="2231002" cy="121920"/>
          </a:xfrm>
          <a:prstGeom prst="rect">
            <a:avLst/>
          </a:prstGeom>
          <a:solidFill>
            <a:srgbClr val="93A39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2" name="09-text-50"/>
          <p:cNvSpPr/>
          <p:nvPr/>
        </p:nvSpPr>
        <p:spPr>
          <a:xfrm>
            <a:off x="8267700" y="3697679"/>
            <a:ext cx="588284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Сейчас</a:t>
            </a:r>
            <a:endParaRPr lang="ru-RU" sz="1320" dirty="0"/>
          </a:p>
        </p:txBody>
      </p:sp>
      <p:sp>
        <p:nvSpPr>
          <p:cNvPr id="53" name="09-text-51"/>
          <p:cNvSpPr/>
          <p:nvPr/>
        </p:nvSpPr>
        <p:spPr>
          <a:xfrm>
            <a:off x="10761181" y="3731441"/>
            <a:ext cx="699299" cy="247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56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93,90%</a:t>
            </a:r>
            <a:endParaRPr lang="ru-RU" sz="1560" dirty="0"/>
          </a:p>
        </p:txBody>
      </p:sp>
      <p:sp>
        <p:nvSpPr>
          <p:cNvPr id="54" name="09-rect-52"/>
          <p:cNvSpPr/>
          <p:nvPr/>
        </p:nvSpPr>
        <p:spPr>
          <a:xfrm>
            <a:off x="8267700" y="4015740"/>
            <a:ext cx="3200400" cy="12192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5" name="09-rect-53"/>
          <p:cNvSpPr/>
          <p:nvPr/>
        </p:nvSpPr>
        <p:spPr>
          <a:xfrm>
            <a:off x="8267700" y="4015740"/>
            <a:ext cx="3005307" cy="12192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6" name="09-text-54"/>
          <p:cNvSpPr/>
          <p:nvPr/>
        </p:nvSpPr>
        <p:spPr>
          <a:xfrm>
            <a:off x="8267700" y="4391099"/>
            <a:ext cx="801779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pii-guard*</a:t>
            </a:r>
            <a:endParaRPr lang="ru-RU" sz="1320" dirty="0"/>
          </a:p>
        </p:txBody>
      </p:sp>
      <p:sp>
        <p:nvSpPr>
          <p:cNvPr id="57" name="09-text-55"/>
          <p:cNvSpPr/>
          <p:nvPr/>
        </p:nvSpPr>
        <p:spPr>
          <a:xfrm>
            <a:off x="10761181" y="4424861"/>
            <a:ext cx="699299" cy="247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1560" dirty="0">
                <a:solidFill>
                  <a:srgbClr val="EAB2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93,67%</a:t>
            </a:r>
            <a:endParaRPr lang="ru-RU" sz="1560" dirty="0"/>
          </a:p>
        </p:txBody>
      </p:sp>
      <p:sp>
        <p:nvSpPr>
          <p:cNvPr id="58" name="09-rect-56"/>
          <p:cNvSpPr/>
          <p:nvPr/>
        </p:nvSpPr>
        <p:spPr>
          <a:xfrm>
            <a:off x="8267700" y="4709160"/>
            <a:ext cx="3200400" cy="12192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59" name="09-rect-57"/>
          <p:cNvSpPr/>
          <p:nvPr/>
        </p:nvSpPr>
        <p:spPr>
          <a:xfrm>
            <a:off x="8267700" y="4709160"/>
            <a:ext cx="2997968" cy="121920"/>
          </a:xfrm>
          <a:prstGeom prst="rect">
            <a:avLst/>
          </a:prstGeom>
          <a:solidFill>
            <a:srgbClr val="EAB291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60" name="09-text-58"/>
          <p:cNvSpPr/>
          <p:nvPr/>
        </p:nvSpPr>
        <p:spPr>
          <a:xfrm>
            <a:off x="8267700" y="5251073"/>
            <a:ext cx="92477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Шкала: 0–100%</a:t>
            </a:r>
            <a:endParaRPr lang="ru-RU" sz="960" dirty="0"/>
          </a:p>
        </p:txBody>
      </p:sp>
      <p:sp>
        <p:nvSpPr>
          <p:cNvPr id="61" name="09-text-59"/>
          <p:cNvSpPr/>
          <p:nvPr/>
        </p:nvSpPr>
        <p:spPr>
          <a:xfrm>
            <a:off x="487680" y="5801402"/>
            <a:ext cx="7876500" cy="228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6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Правила + модель + merge без полного препроцессинга. Organizer — предварительная AI-разметка.</a:t>
            </a:r>
            <a:endParaRPr lang="ru-RU" sz="1260" dirty="0"/>
          </a:p>
        </p:txBody>
      </p:sp>
      <p:sp>
        <p:nvSpPr>
          <p:cNvPr id="62" name="09-line-60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63" name="09-text-61"/>
          <p:cNvSpPr/>
          <p:nvPr/>
        </p:nvSpPr>
        <p:spPr>
          <a:xfrm>
            <a:off x="487680" y="6475579"/>
            <a:ext cx="5063570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rubert-upgrade/quality-v5.json · одинаковые тексты, gold и scoring для трёх систем</a:t>
            </a:r>
            <a:endParaRPr lang="ru-RU" sz="900" dirty="0"/>
          </a:p>
        </p:txBody>
      </p:sp>
      <p:sp>
        <p:nvSpPr>
          <p:cNvPr id="64" name="09-text-62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16</a:t>
            </a:r>
            <a:endParaRPr lang="ru-RU" sz="9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0-rect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10-line-1"/>
          <p:cNvSpPr/>
          <p:nvPr/>
        </p:nvSpPr>
        <p:spPr>
          <a:xfrm>
            <a:off x="487680" y="6858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4" name="10-rect-2"/>
          <p:cNvSpPr/>
          <p:nvPr/>
        </p:nvSpPr>
        <p:spPr>
          <a:xfrm>
            <a:off x="495300" y="25908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5" name="10-rect-3"/>
          <p:cNvSpPr/>
          <p:nvPr/>
        </p:nvSpPr>
        <p:spPr>
          <a:xfrm>
            <a:off x="624840" y="259080"/>
            <a:ext cx="91440" cy="91440"/>
          </a:xfrm>
          <a:prstGeom prst="rect">
            <a:avLst/>
          </a:prstGeom>
          <a:solidFill>
            <a:srgbClr val="C0F0C5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6" name="10-rect-4"/>
          <p:cNvSpPr/>
          <p:nvPr/>
        </p:nvSpPr>
        <p:spPr>
          <a:xfrm>
            <a:off x="49530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7" name="10-rect-5"/>
          <p:cNvSpPr/>
          <p:nvPr/>
        </p:nvSpPr>
        <p:spPr>
          <a:xfrm>
            <a:off x="62484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8" name="10-text-6"/>
          <p:cNvSpPr/>
          <p:nvPr/>
        </p:nvSpPr>
        <p:spPr>
          <a:xfrm>
            <a:off x="845820" y="217535"/>
            <a:ext cx="703916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60" b="1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СЕЙФ</a:t>
            </a:r>
            <a:endParaRPr lang="ru-RU" sz="1860" dirty="0"/>
          </a:p>
        </p:txBody>
      </p:sp>
      <p:sp>
        <p:nvSpPr>
          <p:cNvPr id="9" name="10-text-7"/>
          <p:cNvSpPr/>
          <p:nvPr/>
        </p:nvSpPr>
        <p:spPr>
          <a:xfrm>
            <a:off x="2179320" y="351413"/>
            <a:ext cx="2242966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КАЧЕСТВО БЕЗ ПОДМЕНЫ МЕТРИК</a:t>
            </a:r>
            <a:endParaRPr lang="ru-RU" sz="960" dirty="0"/>
          </a:p>
        </p:txBody>
      </p:sp>
      <p:sp>
        <p:nvSpPr>
          <p:cNvPr id="10" name="10-text-8"/>
          <p:cNvSpPr/>
          <p:nvPr/>
        </p:nvSpPr>
        <p:spPr>
          <a:xfrm>
            <a:off x="10987677" y="351413"/>
            <a:ext cx="71664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960" dirty="0"/>
          </a:p>
        </p:txBody>
      </p:sp>
      <p:sp>
        <p:nvSpPr>
          <p:cNvPr id="11" name="10-text-9"/>
          <p:cNvSpPr/>
          <p:nvPr/>
        </p:nvSpPr>
        <p:spPr>
          <a:xfrm>
            <a:off x="487680" y="841340"/>
            <a:ext cx="9656556" cy="60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4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Скрыть символы ≠ точно выделить сущность.</a:t>
            </a:r>
            <a:endParaRPr lang="ru-RU" sz="3480" dirty="0"/>
          </a:p>
        </p:txBody>
      </p:sp>
      <p:sp>
        <p:nvSpPr>
          <p:cNvPr id="12" name="10-text-10"/>
          <p:cNvSpPr/>
          <p:nvPr/>
        </p:nvSpPr>
        <p:spPr>
          <a:xfrm>
            <a:off x="487680" y="1547634"/>
            <a:ext cx="7382353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4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RedMadRobot · * pii-guard: правила + модель + merge без полного препроцессинга.</a:t>
            </a:r>
            <a:endParaRPr lang="ru-RU" sz="1440" dirty="0"/>
          </a:p>
        </p:txBody>
      </p:sp>
      <p:sp>
        <p:nvSpPr>
          <p:cNvPr id="13" name="10-rect-11"/>
          <p:cNvSpPr/>
          <p:nvPr/>
        </p:nvSpPr>
        <p:spPr>
          <a:xfrm>
            <a:off x="487680" y="2004060"/>
            <a:ext cx="5471160" cy="207264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14" name="10-text-12"/>
          <p:cNvSpPr/>
          <p:nvPr/>
        </p:nvSpPr>
        <p:spPr>
          <a:xfrm>
            <a:off x="716280" y="2233776"/>
            <a:ext cx="1323703" cy="193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МАСКИРОВАНИЯ</a:t>
            </a:r>
            <a:endParaRPr lang="ru-RU" sz="1200" dirty="0"/>
          </a:p>
        </p:txBody>
      </p:sp>
      <p:sp>
        <p:nvSpPr>
          <p:cNvPr id="15" name="10-text-13"/>
          <p:cNvSpPr/>
          <p:nvPr/>
        </p:nvSpPr>
        <p:spPr>
          <a:xfrm>
            <a:off x="678180" y="2325172"/>
            <a:ext cx="2841862" cy="115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672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93,90%</a:t>
            </a:r>
            <a:endParaRPr lang="ru-RU" sz="6720" dirty="0"/>
          </a:p>
        </p:txBody>
      </p:sp>
      <p:sp>
        <p:nvSpPr>
          <p:cNvPr id="16" name="10-text-14"/>
          <p:cNvSpPr/>
          <p:nvPr/>
        </p:nvSpPr>
        <p:spPr>
          <a:xfrm>
            <a:off x="716280" y="3534646"/>
            <a:ext cx="1762882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pii-guard*: 93,67%</a:t>
            </a:r>
            <a:endParaRPr lang="ru-RU" sz="1620" dirty="0"/>
          </a:p>
        </p:txBody>
      </p:sp>
      <p:sp>
        <p:nvSpPr>
          <p:cNvPr id="17" name="10-rect-15"/>
          <p:cNvSpPr/>
          <p:nvPr/>
        </p:nvSpPr>
        <p:spPr>
          <a:xfrm>
            <a:off x="6233160" y="2004060"/>
            <a:ext cx="5471160" cy="207264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18" name="10-text-16"/>
          <p:cNvSpPr/>
          <p:nvPr/>
        </p:nvSpPr>
        <p:spPr>
          <a:xfrm>
            <a:off x="6461760" y="2233776"/>
            <a:ext cx="1670595" cy="193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 F1 · COMMON14</a:t>
            </a:r>
            <a:endParaRPr lang="ru-RU" sz="1200" dirty="0"/>
          </a:p>
        </p:txBody>
      </p:sp>
      <p:sp>
        <p:nvSpPr>
          <p:cNvPr id="19" name="10-text-17"/>
          <p:cNvSpPr/>
          <p:nvPr/>
        </p:nvSpPr>
        <p:spPr>
          <a:xfrm>
            <a:off x="6423660" y="2325172"/>
            <a:ext cx="2841862" cy="115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672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86,76%</a:t>
            </a:r>
            <a:endParaRPr lang="ru-RU" sz="6720" dirty="0"/>
          </a:p>
        </p:txBody>
      </p:sp>
      <p:sp>
        <p:nvSpPr>
          <p:cNvPr id="20" name="10-text-18"/>
          <p:cNvSpPr/>
          <p:nvPr/>
        </p:nvSpPr>
        <p:spPr>
          <a:xfrm>
            <a:off x="6461760" y="3534646"/>
            <a:ext cx="1762882" cy="288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pii-guard*: 89,85%</a:t>
            </a:r>
            <a:endParaRPr lang="ru-RU" sz="1620" dirty="0"/>
          </a:p>
        </p:txBody>
      </p:sp>
      <p:sp>
        <p:nvSpPr>
          <p:cNvPr id="21" name="10-text-19"/>
          <p:cNvSpPr/>
          <p:nvPr/>
        </p:nvSpPr>
        <p:spPr>
          <a:xfrm>
            <a:off x="487680" y="4307666"/>
            <a:ext cx="5188764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Оставшиеся 801 несовпадение exact-span</a:t>
            </a:r>
            <a:endParaRPr lang="ru-RU" sz="2040" dirty="0"/>
          </a:p>
        </p:txBody>
      </p:sp>
      <p:sp>
        <p:nvSpPr>
          <p:cNvPr id="22" name="10-text-20"/>
          <p:cNvSpPr/>
          <p:nvPr/>
        </p:nvSpPr>
        <p:spPr>
          <a:xfrm>
            <a:off x="487680" y="4733955"/>
            <a:ext cx="788116" cy="62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60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386</a:t>
            </a:r>
            <a:endParaRPr lang="ru-RU" sz="3600" dirty="0"/>
          </a:p>
        </p:txBody>
      </p:sp>
      <p:sp>
        <p:nvSpPr>
          <p:cNvPr id="23" name="10-text-21"/>
          <p:cNvSpPr/>
          <p:nvPr/>
        </p:nvSpPr>
        <p:spPr>
          <a:xfrm>
            <a:off x="487680" y="5411577"/>
            <a:ext cx="1291999" cy="248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8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Иные границы,</a:t>
            </a:r>
            <a:endParaRPr lang="ru-RU" sz="1380" dirty="0"/>
          </a:p>
        </p:txBody>
      </p:sp>
      <p:sp>
        <p:nvSpPr>
          <p:cNvPr id="24" name="10-text-22"/>
          <p:cNvSpPr/>
          <p:nvPr/>
        </p:nvSpPr>
        <p:spPr>
          <a:xfrm>
            <a:off x="487680" y="5647797"/>
            <a:ext cx="2133869" cy="248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8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нужные символы скрыты</a:t>
            </a:r>
            <a:endParaRPr lang="ru-RU" sz="1380" dirty="0"/>
          </a:p>
        </p:txBody>
      </p:sp>
      <p:sp>
        <p:nvSpPr>
          <p:cNvPr id="25" name="10-text-23"/>
          <p:cNvSpPr/>
          <p:nvPr/>
        </p:nvSpPr>
        <p:spPr>
          <a:xfrm>
            <a:off x="3345180" y="4733955"/>
            <a:ext cx="533031" cy="62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60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ru-RU" sz="3600" dirty="0"/>
          </a:p>
        </p:txBody>
      </p:sp>
      <p:sp>
        <p:nvSpPr>
          <p:cNvPr id="26" name="10-text-24"/>
          <p:cNvSpPr/>
          <p:nvPr/>
        </p:nvSpPr>
        <p:spPr>
          <a:xfrm>
            <a:off x="3345180" y="5411577"/>
            <a:ext cx="1515730" cy="248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8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Другая категория,</a:t>
            </a:r>
            <a:endParaRPr lang="ru-RU" sz="1380" dirty="0"/>
          </a:p>
        </p:txBody>
      </p:sp>
      <p:sp>
        <p:nvSpPr>
          <p:cNvPr id="27" name="10-text-25"/>
          <p:cNvSpPr/>
          <p:nvPr/>
        </p:nvSpPr>
        <p:spPr>
          <a:xfrm>
            <a:off x="3345180" y="5647797"/>
            <a:ext cx="1428133" cy="248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8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символы скрыты</a:t>
            </a:r>
            <a:endParaRPr lang="ru-RU" sz="1380" dirty="0"/>
          </a:p>
        </p:txBody>
      </p:sp>
      <p:sp>
        <p:nvSpPr>
          <p:cNvPr id="28" name="10-text-26"/>
          <p:cNvSpPr/>
          <p:nvPr/>
        </p:nvSpPr>
        <p:spPr>
          <a:xfrm>
            <a:off x="6202680" y="4733955"/>
            <a:ext cx="533031" cy="62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60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</a:t>
            </a:r>
            <a:endParaRPr lang="ru-RU" sz="3600" dirty="0"/>
          </a:p>
        </p:txBody>
      </p:sp>
      <p:sp>
        <p:nvSpPr>
          <p:cNvPr id="29" name="10-text-27"/>
          <p:cNvSpPr/>
          <p:nvPr/>
        </p:nvSpPr>
        <p:spPr>
          <a:xfrm>
            <a:off x="6202680" y="5411577"/>
            <a:ext cx="945773" cy="248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8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Защищены</a:t>
            </a:r>
            <a:endParaRPr lang="ru-RU" sz="1380" dirty="0"/>
          </a:p>
        </p:txBody>
      </p:sp>
      <p:sp>
        <p:nvSpPr>
          <p:cNvPr id="30" name="10-text-28"/>
          <p:cNvSpPr/>
          <p:nvPr/>
        </p:nvSpPr>
        <p:spPr>
          <a:xfrm>
            <a:off x="6202680" y="5647797"/>
            <a:ext cx="794671" cy="248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8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частично</a:t>
            </a:r>
            <a:endParaRPr lang="ru-RU" sz="1380" dirty="0"/>
          </a:p>
        </p:txBody>
      </p:sp>
      <p:sp>
        <p:nvSpPr>
          <p:cNvPr id="31" name="10-text-29"/>
          <p:cNvSpPr/>
          <p:nvPr/>
        </p:nvSpPr>
        <p:spPr>
          <a:xfrm>
            <a:off x="9060180" y="4733955"/>
            <a:ext cx="788116" cy="62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60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264</a:t>
            </a:r>
            <a:endParaRPr lang="ru-RU" sz="3600" dirty="0"/>
          </a:p>
        </p:txBody>
      </p:sp>
      <p:sp>
        <p:nvSpPr>
          <p:cNvPr id="32" name="10-text-30"/>
          <p:cNvSpPr/>
          <p:nvPr/>
        </p:nvSpPr>
        <p:spPr>
          <a:xfrm>
            <a:off x="9060180" y="5411577"/>
            <a:ext cx="1995432" cy="248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8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Размеченные сущности</a:t>
            </a:r>
            <a:endParaRPr lang="ru-RU" sz="1380" dirty="0"/>
          </a:p>
        </p:txBody>
      </p:sp>
      <p:sp>
        <p:nvSpPr>
          <p:cNvPr id="33" name="10-text-31"/>
          <p:cNvSpPr/>
          <p:nvPr/>
        </p:nvSpPr>
        <p:spPr>
          <a:xfrm>
            <a:off x="9060180" y="5647797"/>
            <a:ext cx="1177919" cy="248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8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защищены</a:t>
            </a:r>
            <a:endParaRPr lang="ru-RU" sz="1380" dirty="0"/>
          </a:p>
        </p:txBody>
      </p:sp>
      <p:sp>
        <p:nvSpPr>
          <p:cNvPr id="34" name="10-line-32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35" name="10-text-33"/>
          <p:cNvSpPr/>
          <p:nvPr/>
        </p:nvSpPr>
        <p:spPr>
          <a:xfrm>
            <a:off x="487680" y="6475579"/>
            <a:ext cx="5436321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quality-v5.json · RedMadRobot · common14 исключает 19 предсказаний СЕЙФ / 253 guard</a:t>
            </a:r>
            <a:endParaRPr lang="ru-RU" sz="900" dirty="0"/>
          </a:p>
        </p:txBody>
      </p:sp>
      <p:sp>
        <p:nvSpPr>
          <p:cNvPr id="36" name="10-text-34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16</a:t>
            </a:r>
            <a:endParaRPr lang="ru-RU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1-rect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11-line-1"/>
          <p:cNvSpPr/>
          <p:nvPr/>
        </p:nvSpPr>
        <p:spPr>
          <a:xfrm>
            <a:off x="487680" y="6858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4" name="11-rect-2"/>
          <p:cNvSpPr/>
          <p:nvPr/>
        </p:nvSpPr>
        <p:spPr>
          <a:xfrm>
            <a:off x="495300" y="25908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5" name="11-rect-3"/>
          <p:cNvSpPr/>
          <p:nvPr/>
        </p:nvSpPr>
        <p:spPr>
          <a:xfrm>
            <a:off x="624840" y="259080"/>
            <a:ext cx="91440" cy="91440"/>
          </a:xfrm>
          <a:prstGeom prst="rect">
            <a:avLst/>
          </a:prstGeom>
          <a:solidFill>
            <a:srgbClr val="C0F0C5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6" name="11-rect-4"/>
          <p:cNvSpPr/>
          <p:nvPr/>
        </p:nvSpPr>
        <p:spPr>
          <a:xfrm>
            <a:off x="49530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7" name="11-rect-5"/>
          <p:cNvSpPr/>
          <p:nvPr/>
        </p:nvSpPr>
        <p:spPr>
          <a:xfrm>
            <a:off x="62484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8" name="11-text-6"/>
          <p:cNvSpPr/>
          <p:nvPr/>
        </p:nvSpPr>
        <p:spPr>
          <a:xfrm>
            <a:off x="845820" y="217535"/>
            <a:ext cx="703916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60" b="1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СЕЙФ</a:t>
            </a:r>
            <a:endParaRPr lang="ru-RU" sz="1860" dirty="0"/>
          </a:p>
        </p:txBody>
      </p:sp>
      <p:sp>
        <p:nvSpPr>
          <p:cNvPr id="9" name="11-text-7"/>
          <p:cNvSpPr/>
          <p:nvPr/>
        </p:nvSpPr>
        <p:spPr>
          <a:xfrm>
            <a:off x="2179320" y="351413"/>
            <a:ext cx="238172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НАГРУЗКА И ОГРАНИЧЕНИЯ ЗАМЕРА</a:t>
            </a:r>
            <a:endParaRPr lang="ru-RU" sz="960" dirty="0"/>
          </a:p>
        </p:txBody>
      </p:sp>
      <p:sp>
        <p:nvSpPr>
          <p:cNvPr id="10" name="11-text-8"/>
          <p:cNvSpPr/>
          <p:nvPr/>
        </p:nvSpPr>
        <p:spPr>
          <a:xfrm>
            <a:off x="10987677" y="351413"/>
            <a:ext cx="71664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960" dirty="0"/>
          </a:p>
        </p:txBody>
      </p:sp>
      <p:sp>
        <p:nvSpPr>
          <p:cNvPr id="11" name="11-text-9"/>
          <p:cNvSpPr/>
          <p:nvPr/>
        </p:nvSpPr>
        <p:spPr>
          <a:xfrm>
            <a:off x="487680" y="841340"/>
            <a:ext cx="9002577" cy="60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4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Скорость измеряли полным HTTP-циклом.</a:t>
            </a:r>
            <a:endParaRPr lang="ru-RU" sz="3480" dirty="0"/>
          </a:p>
        </p:txBody>
      </p:sp>
      <p:sp>
        <p:nvSpPr>
          <p:cNvPr id="12" name="11-text-10"/>
          <p:cNvSpPr/>
          <p:nvPr/>
        </p:nvSpPr>
        <p:spPr>
          <a:xfrm>
            <a:off x="487680" y="1531791"/>
            <a:ext cx="8572690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Два протокола — сравнения внутри каждой пары. Все значения ниже — успешные mask RPS.</a:t>
            </a:r>
            <a:endParaRPr lang="ru-RU" sz="1500" dirty="0"/>
          </a:p>
        </p:txBody>
      </p:sp>
      <p:sp>
        <p:nvSpPr>
          <p:cNvPr id="13" name="11-rect-11"/>
          <p:cNvSpPr/>
          <p:nvPr/>
        </p:nvSpPr>
        <p:spPr>
          <a:xfrm>
            <a:off x="487680" y="2080260"/>
            <a:ext cx="5471160" cy="299466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14" name="11-text-12"/>
          <p:cNvSpPr/>
          <p:nvPr/>
        </p:nvSpPr>
        <p:spPr>
          <a:xfrm>
            <a:off x="716280" y="2181084"/>
            <a:ext cx="1353298" cy="369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10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GLiNER 2.5</a:t>
            </a:r>
            <a:endParaRPr lang="ru-RU" sz="2100" dirty="0"/>
          </a:p>
        </p:txBody>
      </p:sp>
      <p:sp>
        <p:nvSpPr>
          <p:cNvPr id="15" name="11-text-13"/>
          <p:cNvSpPr/>
          <p:nvPr/>
        </p:nvSpPr>
        <p:spPr>
          <a:xfrm>
            <a:off x="716280" y="2608019"/>
            <a:ext cx="3296287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Исторический сервис · 446 запросов · C4</a:t>
            </a:r>
            <a:endParaRPr lang="ru-RU" sz="1320" dirty="0"/>
          </a:p>
        </p:txBody>
      </p:sp>
      <p:sp>
        <p:nvSpPr>
          <p:cNvPr id="16" name="11-text-14"/>
          <p:cNvSpPr/>
          <p:nvPr/>
        </p:nvSpPr>
        <p:spPr>
          <a:xfrm>
            <a:off x="716280" y="3107323"/>
            <a:ext cx="802226" cy="299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PyTorch</a:t>
            </a:r>
            <a:endParaRPr lang="ru-RU" sz="1680" dirty="0"/>
          </a:p>
        </p:txBody>
      </p:sp>
      <p:sp>
        <p:nvSpPr>
          <p:cNvPr id="17" name="11-text-15"/>
          <p:cNvSpPr/>
          <p:nvPr/>
        </p:nvSpPr>
        <p:spPr>
          <a:xfrm>
            <a:off x="4763951" y="3111192"/>
            <a:ext cx="890089" cy="372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240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31,89</a:t>
            </a:r>
            <a:endParaRPr lang="ru-RU" sz="2400" dirty="0"/>
          </a:p>
        </p:txBody>
      </p:sp>
      <p:sp>
        <p:nvSpPr>
          <p:cNvPr id="18" name="11-rect-16"/>
          <p:cNvSpPr/>
          <p:nvPr/>
        </p:nvSpPr>
        <p:spPr>
          <a:xfrm>
            <a:off x="716280" y="3528060"/>
            <a:ext cx="4922520" cy="16764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19" name="11-rect-17"/>
          <p:cNvSpPr/>
          <p:nvPr/>
        </p:nvSpPr>
        <p:spPr>
          <a:xfrm>
            <a:off x="716280" y="3528060"/>
            <a:ext cx="2616319" cy="167640"/>
          </a:xfrm>
          <a:prstGeom prst="rect">
            <a:avLst/>
          </a:prstGeom>
          <a:solidFill>
            <a:srgbClr val="657B6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0" name="11-text-18"/>
          <p:cNvSpPr/>
          <p:nvPr/>
        </p:nvSpPr>
        <p:spPr>
          <a:xfrm>
            <a:off x="716280" y="3960763"/>
            <a:ext cx="649976" cy="299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ONNX</a:t>
            </a:r>
            <a:endParaRPr lang="ru-RU" sz="1680" dirty="0"/>
          </a:p>
        </p:txBody>
      </p:sp>
      <p:sp>
        <p:nvSpPr>
          <p:cNvPr id="21" name="11-text-19"/>
          <p:cNvSpPr/>
          <p:nvPr/>
        </p:nvSpPr>
        <p:spPr>
          <a:xfrm>
            <a:off x="4763951" y="3964632"/>
            <a:ext cx="890089" cy="372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240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49,86</a:t>
            </a:r>
            <a:endParaRPr lang="ru-RU" sz="2400" dirty="0"/>
          </a:p>
        </p:txBody>
      </p:sp>
      <p:sp>
        <p:nvSpPr>
          <p:cNvPr id="22" name="11-rect-20"/>
          <p:cNvSpPr/>
          <p:nvPr/>
        </p:nvSpPr>
        <p:spPr>
          <a:xfrm>
            <a:off x="716280" y="4381500"/>
            <a:ext cx="4922520" cy="16764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3" name="11-rect-21"/>
          <p:cNvSpPr/>
          <p:nvPr/>
        </p:nvSpPr>
        <p:spPr>
          <a:xfrm>
            <a:off x="716280" y="4381500"/>
            <a:ext cx="4090614" cy="16764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24" name="11-text-22"/>
          <p:cNvSpPr/>
          <p:nvPr/>
        </p:nvSpPr>
        <p:spPr>
          <a:xfrm>
            <a:off x="716280" y="4778633"/>
            <a:ext cx="1063535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Шкала: 0–60 RPS</a:t>
            </a:r>
            <a:endParaRPr lang="ru-RU" sz="960" dirty="0"/>
          </a:p>
        </p:txBody>
      </p:sp>
      <p:sp>
        <p:nvSpPr>
          <p:cNvPr id="25" name="11-rect-23"/>
          <p:cNvSpPr/>
          <p:nvPr/>
        </p:nvSpPr>
        <p:spPr>
          <a:xfrm>
            <a:off x="6233160" y="2080260"/>
            <a:ext cx="5471160" cy="299466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26" name="11-text-24"/>
          <p:cNvSpPr/>
          <p:nvPr/>
        </p:nvSpPr>
        <p:spPr>
          <a:xfrm>
            <a:off x="6461760" y="2181084"/>
            <a:ext cx="2157140" cy="369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10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RuBERT TensorRT</a:t>
            </a:r>
            <a:endParaRPr lang="ru-RU" sz="2100" dirty="0"/>
          </a:p>
        </p:txBody>
      </p:sp>
      <p:sp>
        <p:nvSpPr>
          <p:cNvPr id="27" name="11-text-25"/>
          <p:cNvSpPr/>
          <p:nvPr/>
        </p:nvSpPr>
        <p:spPr>
          <a:xfrm>
            <a:off x="6461760" y="2608019"/>
            <a:ext cx="2605816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22 300 запросов · C8 · 50 циклов</a:t>
            </a:r>
            <a:endParaRPr lang="ru-RU" sz="1320" dirty="0"/>
          </a:p>
        </p:txBody>
      </p:sp>
      <p:sp>
        <p:nvSpPr>
          <p:cNvPr id="28" name="11-text-26"/>
          <p:cNvSpPr/>
          <p:nvPr/>
        </p:nvSpPr>
        <p:spPr>
          <a:xfrm>
            <a:off x="6461760" y="3107323"/>
            <a:ext cx="974424" cy="299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Прежний</a:t>
            </a:r>
            <a:endParaRPr lang="ru-RU" sz="1680" dirty="0"/>
          </a:p>
        </p:txBody>
      </p:sp>
      <p:sp>
        <p:nvSpPr>
          <p:cNvPr id="29" name="11-text-27"/>
          <p:cNvSpPr/>
          <p:nvPr/>
        </p:nvSpPr>
        <p:spPr>
          <a:xfrm>
            <a:off x="10335985" y="3111192"/>
            <a:ext cx="1063535" cy="372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240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528,86</a:t>
            </a:r>
            <a:endParaRPr lang="ru-RU" sz="2400" dirty="0"/>
          </a:p>
        </p:txBody>
      </p:sp>
      <p:sp>
        <p:nvSpPr>
          <p:cNvPr id="30" name="11-rect-28"/>
          <p:cNvSpPr/>
          <p:nvPr/>
        </p:nvSpPr>
        <p:spPr>
          <a:xfrm>
            <a:off x="6461760" y="3528060"/>
            <a:ext cx="4922520" cy="16764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1" name="11-rect-29"/>
          <p:cNvSpPr/>
          <p:nvPr/>
        </p:nvSpPr>
        <p:spPr>
          <a:xfrm>
            <a:off x="6461760" y="3528060"/>
            <a:ext cx="4338873" cy="167640"/>
          </a:xfrm>
          <a:prstGeom prst="rect">
            <a:avLst/>
          </a:prstGeom>
          <a:solidFill>
            <a:srgbClr val="657B6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2" name="11-text-30"/>
          <p:cNvSpPr/>
          <p:nvPr/>
        </p:nvSpPr>
        <p:spPr>
          <a:xfrm>
            <a:off x="6461760" y="3960763"/>
            <a:ext cx="909297" cy="299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6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Текущий</a:t>
            </a:r>
            <a:endParaRPr lang="ru-RU" sz="1680" dirty="0"/>
          </a:p>
        </p:txBody>
      </p:sp>
      <p:sp>
        <p:nvSpPr>
          <p:cNvPr id="33" name="11-text-31"/>
          <p:cNvSpPr/>
          <p:nvPr/>
        </p:nvSpPr>
        <p:spPr>
          <a:xfrm>
            <a:off x="10335985" y="3964632"/>
            <a:ext cx="1063535" cy="372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240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533,74</a:t>
            </a:r>
            <a:endParaRPr lang="ru-RU" sz="2400" dirty="0"/>
          </a:p>
        </p:txBody>
      </p:sp>
      <p:sp>
        <p:nvSpPr>
          <p:cNvPr id="34" name="11-rect-32"/>
          <p:cNvSpPr/>
          <p:nvPr/>
        </p:nvSpPr>
        <p:spPr>
          <a:xfrm>
            <a:off x="6461760" y="4381500"/>
            <a:ext cx="4922520" cy="16764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5" name="11-rect-33"/>
          <p:cNvSpPr/>
          <p:nvPr/>
        </p:nvSpPr>
        <p:spPr>
          <a:xfrm>
            <a:off x="6461760" y="4381500"/>
            <a:ext cx="4378910" cy="167640"/>
          </a:xfrm>
          <a:prstGeom prst="rect">
            <a:avLst/>
          </a:prstGeom>
          <a:solidFill>
            <a:srgbClr val="C0F0C5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6" name="11-text-34"/>
          <p:cNvSpPr/>
          <p:nvPr/>
        </p:nvSpPr>
        <p:spPr>
          <a:xfrm>
            <a:off x="6461760" y="4778633"/>
            <a:ext cx="113291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Шкала: 0–600 RPS</a:t>
            </a:r>
            <a:endParaRPr lang="ru-RU" sz="960" dirty="0"/>
          </a:p>
        </p:txBody>
      </p:sp>
      <p:sp>
        <p:nvSpPr>
          <p:cNvPr id="37" name="11-text-35"/>
          <p:cNvSpPr/>
          <p:nvPr/>
        </p:nvSpPr>
        <p:spPr>
          <a:xfrm>
            <a:off x="487680" y="5217244"/>
            <a:ext cx="1285233" cy="44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52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19,58 мс</a:t>
            </a:r>
            <a:endParaRPr lang="ru-RU" sz="2520" dirty="0"/>
          </a:p>
        </p:txBody>
      </p:sp>
      <p:sp>
        <p:nvSpPr>
          <p:cNvPr id="38" name="11-text-36"/>
          <p:cNvSpPr/>
          <p:nvPr/>
        </p:nvSpPr>
        <p:spPr>
          <a:xfrm>
            <a:off x="487680" y="5686499"/>
            <a:ext cx="1724808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p95 текущего RuBERT</a:t>
            </a:r>
            <a:endParaRPr lang="ru-RU" sz="1320" dirty="0"/>
          </a:p>
        </p:txBody>
      </p:sp>
      <p:sp>
        <p:nvSpPr>
          <p:cNvPr id="39" name="11-text-37"/>
          <p:cNvSpPr/>
          <p:nvPr/>
        </p:nvSpPr>
        <p:spPr>
          <a:xfrm>
            <a:off x="4495800" y="5217244"/>
            <a:ext cx="1495493" cy="44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52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/ 22 300</a:t>
            </a:r>
            <a:endParaRPr lang="ru-RU" sz="2520" dirty="0"/>
          </a:p>
        </p:txBody>
      </p:sp>
      <p:sp>
        <p:nvSpPr>
          <p:cNvPr id="40" name="11-text-38"/>
          <p:cNvSpPr/>
          <p:nvPr/>
        </p:nvSpPr>
        <p:spPr>
          <a:xfrm>
            <a:off x="4495800" y="5686499"/>
            <a:ext cx="2008029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ошибок HTTP / запросов</a:t>
            </a:r>
            <a:endParaRPr lang="ru-RU" sz="1320" dirty="0"/>
          </a:p>
        </p:txBody>
      </p:sp>
      <p:sp>
        <p:nvSpPr>
          <p:cNvPr id="41" name="11-text-39"/>
          <p:cNvSpPr/>
          <p:nvPr/>
        </p:nvSpPr>
        <p:spPr>
          <a:xfrm>
            <a:off x="8839200" y="5217244"/>
            <a:ext cx="1128022" cy="44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52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+0,92%</a:t>
            </a:r>
            <a:endParaRPr lang="ru-RU" sz="2520" dirty="0"/>
          </a:p>
        </p:txBody>
      </p:sp>
      <p:sp>
        <p:nvSpPr>
          <p:cNvPr id="42" name="11-text-40"/>
          <p:cNvSpPr/>
          <p:nvPr/>
        </p:nvSpPr>
        <p:spPr>
          <a:xfrm>
            <a:off x="8839200" y="5686499"/>
            <a:ext cx="2164677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наблюдаемая разница RPS</a:t>
            </a:r>
            <a:endParaRPr lang="ru-RU" sz="1320" dirty="0"/>
          </a:p>
        </p:txBody>
      </p:sp>
      <p:sp>
        <p:nvSpPr>
          <p:cNvPr id="43" name="11-line-41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44" name="11-text-42"/>
          <p:cNvSpPr/>
          <p:nvPr/>
        </p:nvSpPr>
        <p:spPr>
          <a:xfrm>
            <a:off x="487680" y="6475579"/>
            <a:ext cx="4486047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Источники: GLiNER HTTP C4 · RuBERT http-baseline-control / http-upgraded-final C8</a:t>
            </a:r>
            <a:endParaRPr lang="ru-RU" sz="900" dirty="0"/>
          </a:p>
        </p:txBody>
      </p:sp>
      <p:sp>
        <p:nvSpPr>
          <p:cNvPr id="45" name="11-text-43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16</a:t>
            </a:r>
            <a:endParaRPr lang="ru-RU" sz="9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2-rect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12-line-1"/>
          <p:cNvSpPr/>
          <p:nvPr/>
        </p:nvSpPr>
        <p:spPr>
          <a:xfrm>
            <a:off x="487680" y="6858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4" name="12-rect-2"/>
          <p:cNvSpPr/>
          <p:nvPr/>
        </p:nvSpPr>
        <p:spPr>
          <a:xfrm>
            <a:off x="495300" y="25908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5" name="12-rect-3"/>
          <p:cNvSpPr/>
          <p:nvPr/>
        </p:nvSpPr>
        <p:spPr>
          <a:xfrm>
            <a:off x="624840" y="259080"/>
            <a:ext cx="91440" cy="91440"/>
          </a:xfrm>
          <a:prstGeom prst="rect">
            <a:avLst/>
          </a:prstGeom>
          <a:solidFill>
            <a:srgbClr val="C0F0C5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6" name="12-rect-4"/>
          <p:cNvSpPr/>
          <p:nvPr/>
        </p:nvSpPr>
        <p:spPr>
          <a:xfrm>
            <a:off x="49530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7" name="12-rect-5"/>
          <p:cNvSpPr/>
          <p:nvPr/>
        </p:nvSpPr>
        <p:spPr>
          <a:xfrm>
            <a:off x="62484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8" name="12-text-6"/>
          <p:cNvSpPr/>
          <p:nvPr/>
        </p:nvSpPr>
        <p:spPr>
          <a:xfrm>
            <a:off x="845820" y="217535"/>
            <a:ext cx="703916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60" b="1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СЕЙФ</a:t>
            </a:r>
            <a:endParaRPr lang="ru-RU" sz="1860" dirty="0"/>
          </a:p>
        </p:txBody>
      </p:sp>
      <p:sp>
        <p:nvSpPr>
          <p:cNvPr id="9" name="12-text-7"/>
          <p:cNvSpPr/>
          <p:nvPr/>
        </p:nvSpPr>
        <p:spPr>
          <a:xfrm>
            <a:off x="2179320" y="351413"/>
            <a:ext cx="175731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АРХИТЕКТУРНЫЙ РАЗБОР</a:t>
            </a:r>
            <a:endParaRPr lang="ru-RU" sz="960" dirty="0"/>
          </a:p>
        </p:txBody>
      </p:sp>
      <p:sp>
        <p:nvSpPr>
          <p:cNvPr id="10" name="12-text-8"/>
          <p:cNvSpPr/>
          <p:nvPr/>
        </p:nvSpPr>
        <p:spPr>
          <a:xfrm>
            <a:off x="10987677" y="351413"/>
            <a:ext cx="71664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960" dirty="0"/>
          </a:p>
        </p:txBody>
      </p:sp>
      <p:sp>
        <p:nvSpPr>
          <p:cNvPr id="11" name="12-text-9"/>
          <p:cNvSpPr/>
          <p:nvPr/>
        </p:nvSpPr>
        <p:spPr>
          <a:xfrm>
            <a:off x="487680" y="841340"/>
            <a:ext cx="8070074" cy="60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4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Четыре риска, которые стоит закрыть.</a:t>
            </a:r>
            <a:endParaRPr lang="ru-RU" sz="3480" dirty="0"/>
          </a:p>
        </p:txBody>
      </p:sp>
      <p:sp>
        <p:nvSpPr>
          <p:cNvPr id="12" name="12-rect-10"/>
          <p:cNvSpPr/>
          <p:nvPr/>
        </p:nvSpPr>
        <p:spPr>
          <a:xfrm>
            <a:off x="487680" y="1965960"/>
            <a:ext cx="5471160" cy="182118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13" name="12-text-11"/>
          <p:cNvSpPr/>
          <p:nvPr/>
        </p:nvSpPr>
        <p:spPr>
          <a:xfrm>
            <a:off x="701040" y="2205034"/>
            <a:ext cx="907434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EAB2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/ РЕСУРСЫ</a:t>
            </a:r>
            <a:endParaRPr lang="ru-RU" sz="1020" dirty="0"/>
          </a:p>
        </p:txBody>
      </p:sp>
      <p:sp>
        <p:nvSpPr>
          <p:cNvPr id="14" name="12-text-12"/>
          <p:cNvSpPr/>
          <p:nvPr/>
        </p:nvSpPr>
        <p:spPr>
          <a:xfrm>
            <a:off x="701040" y="2486486"/>
            <a:ext cx="2128239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Допуск до затрат</a:t>
            </a:r>
            <a:endParaRPr lang="ru-RU" sz="2040" dirty="0"/>
          </a:p>
        </p:txBody>
      </p:sp>
      <p:sp>
        <p:nvSpPr>
          <p:cNvPr id="15" name="12-text-13"/>
          <p:cNvSpPr/>
          <p:nvPr/>
        </p:nvSpPr>
        <p:spPr>
          <a:xfrm>
            <a:off x="701040" y="2964351"/>
            <a:ext cx="3337835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Раннее отклонение чужих запросов.</a:t>
            </a:r>
            <a:endParaRPr lang="ru-RU" sz="1500" dirty="0"/>
          </a:p>
        </p:txBody>
      </p:sp>
      <p:sp>
        <p:nvSpPr>
          <p:cNvPr id="16" name="12-text-14"/>
          <p:cNvSpPr/>
          <p:nvPr/>
        </p:nvSpPr>
        <p:spPr>
          <a:xfrm>
            <a:off x="701040" y="3238671"/>
            <a:ext cx="3155686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Лимиты до чтения и разбора тела.</a:t>
            </a:r>
            <a:endParaRPr lang="ru-RU" sz="1500" dirty="0"/>
          </a:p>
        </p:txBody>
      </p:sp>
      <p:sp>
        <p:nvSpPr>
          <p:cNvPr id="17" name="12-rect-15"/>
          <p:cNvSpPr/>
          <p:nvPr/>
        </p:nvSpPr>
        <p:spPr>
          <a:xfrm>
            <a:off x="6233160" y="1965960"/>
            <a:ext cx="5471160" cy="182118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18" name="12-text-16"/>
          <p:cNvSpPr/>
          <p:nvPr/>
        </p:nvSpPr>
        <p:spPr>
          <a:xfrm>
            <a:off x="6446520" y="2205034"/>
            <a:ext cx="612576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EAB2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/ NER</a:t>
            </a:r>
            <a:endParaRPr lang="ru-RU" sz="1020" dirty="0"/>
          </a:p>
        </p:txBody>
      </p:sp>
      <p:sp>
        <p:nvSpPr>
          <p:cNvPr id="19" name="12-text-17"/>
          <p:cNvSpPr/>
          <p:nvPr/>
        </p:nvSpPr>
        <p:spPr>
          <a:xfrm>
            <a:off x="6446520" y="2486486"/>
            <a:ext cx="2484504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Очередь по модели</a:t>
            </a:r>
            <a:endParaRPr lang="ru-RU" sz="2040" dirty="0"/>
          </a:p>
        </p:txBody>
      </p:sp>
      <p:sp>
        <p:nvSpPr>
          <p:cNvPr id="20" name="12-text-18"/>
          <p:cNvSpPr/>
          <p:nvPr/>
        </p:nvSpPr>
        <p:spPr>
          <a:xfrm>
            <a:off x="6446520" y="2964351"/>
            <a:ext cx="3552139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Ограниченная очередь и backpressure.</a:t>
            </a:r>
            <a:endParaRPr lang="ru-RU" sz="1500" dirty="0"/>
          </a:p>
        </p:txBody>
      </p:sp>
      <p:sp>
        <p:nvSpPr>
          <p:cNvPr id="21" name="12-text-19"/>
          <p:cNvSpPr/>
          <p:nvPr/>
        </p:nvSpPr>
        <p:spPr>
          <a:xfrm>
            <a:off x="6446520" y="3238671"/>
            <a:ext cx="3571009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Масштабирование по очереди/latency.</a:t>
            </a:r>
            <a:endParaRPr lang="ru-RU" sz="1500" dirty="0"/>
          </a:p>
        </p:txBody>
      </p:sp>
      <p:sp>
        <p:nvSpPr>
          <p:cNvPr id="22" name="12-rect-20"/>
          <p:cNvSpPr/>
          <p:nvPr/>
        </p:nvSpPr>
        <p:spPr>
          <a:xfrm>
            <a:off x="487680" y="3985260"/>
            <a:ext cx="5471160" cy="182118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23" name="12-text-21"/>
          <p:cNvSpPr/>
          <p:nvPr/>
        </p:nvSpPr>
        <p:spPr>
          <a:xfrm>
            <a:off x="701040" y="4224334"/>
            <a:ext cx="833719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EAB2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/ ДАННЫЕ</a:t>
            </a:r>
            <a:endParaRPr lang="ru-RU" sz="1020" dirty="0"/>
          </a:p>
        </p:txBody>
      </p:sp>
      <p:sp>
        <p:nvSpPr>
          <p:cNvPr id="24" name="12-text-22"/>
          <p:cNvSpPr/>
          <p:nvPr/>
        </p:nvSpPr>
        <p:spPr>
          <a:xfrm>
            <a:off x="701040" y="4505786"/>
            <a:ext cx="2269645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RPO и срок жизни</a:t>
            </a:r>
            <a:endParaRPr lang="ru-RU" sz="2040" dirty="0"/>
          </a:p>
        </p:txBody>
      </p:sp>
      <p:sp>
        <p:nvSpPr>
          <p:cNvPr id="25" name="12-text-23"/>
          <p:cNvSpPr/>
          <p:nvPr/>
        </p:nvSpPr>
        <p:spPr>
          <a:xfrm>
            <a:off x="701040" y="4983651"/>
            <a:ext cx="3656114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Проверить failover и повторы запросов.</a:t>
            </a:r>
            <a:endParaRPr lang="ru-RU" sz="1500" dirty="0"/>
          </a:p>
        </p:txBody>
      </p:sp>
      <p:sp>
        <p:nvSpPr>
          <p:cNvPr id="26" name="12-text-24"/>
          <p:cNvSpPr/>
          <p:nvPr/>
        </p:nvSpPr>
        <p:spPr>
          <a:xfrm>
            <a:off x="701040" y="5257971"/>
            <a:ext cx="3846735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Определить допустимую потерю записей.</a:t>
            </a:r>
            <a:endParaRPr lang="ru-RU" sz="1500" dirty="0"/>
          </a:p>
        </p:txBody>
      </p:sp>
      <p:sp>
        <p:nvSpPr>
          <p:cNvPr id="27" name="12-rect-25"/>
          <p:cNvSpPr/>
          <p:nvPr/>
        </p:nvSpPr>
        <p:spPr>
          <a:xfrm>
            <a:off x="6233160" y="3985260"/>
            <a:ext cx="5471160" cy="182118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28" name="12-text-26"/>
          <p:cNvSpPr/>
          <p:nvPr/>
        </p:nvSpPr>
        <p:spPr>
          <a:xfrm>
            <a:off x="6446520" y="4224334"/>
            <a:ext cx="907434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EAB2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/ CAPTURE</a:t>
            </a:r>
            <a:endParaRPr lang="ru-RU" sz="1020" dirty="0"/>
          </a:p>
        </p:txBody>
      </p:sp>
      <p:sp>
        <p:nvSpPr>
          <p:cNvPr id="29" name="12-text-27"/>
          <p:cNvSpPr/>
          <p:nvPr/>
        </p:nvSpPr>
        <p:spPr>
          <a:xfrm>
            <a:off x="6446520" y="4505786"/>
            <a:ext cx="3083647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Отдельное хранение raw</a:t>
            </a:r>
            <a:endParaRPr lang="ru-RU" sz="2040" dirty="0"/>
          </a:p>
        </p:txBody>
      </p:sp>
      <p:sp>
        <p:nvSpPr>
          <p:cNvPr id="30" name="12-text-28"/>
          <p:cNvSpPr/>
          <p:nvPr/>
        </p:nvSpPr>
        <p:spPr>
          <a:xfrm>
            <a:off x="6446520" y="4983651"/>
            <a:ext cx="3678064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Шифрование, retention и права доступа.</a:t>
            </a:r>
            <a:endParaRPr lang="ru-RU" sz="1500" dirty="0"/>
          </a:p>
        </p:txBody>
      </p:sp>
      <p:sp>
        <p:nvSpPr>
          <p:cNvPr id="31" name="12-text-29"/>
          <p:cNvSpPr/>
          <p:nvPr/>
        </p:nvSpPr>
        <p:spPr>
          <a:xfrm>
            <a:off x="6446520" y="5257971"/>
            <a:ext cx="3888614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Убедиться, что capture отключён в пилоте.</a:t>
            </a:r>
            <a:endParaRPr lang="ru-RU" sz="1500" dirty="0"/>
          </a:p>
        </p:txBody>
      </p:sp>
      <p:sp>
        <p:nvSpPr>
          <p:cNvPr id="32" name="12-line-30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33" name="12-text-31"/>
          <p:cNvSpPr/>
          <p:nvPr/>
        </p:nvSpPr>
        <p:spPr>
          <a:xfrm>
            <a:off x="487680" y="6475579"/>
            <a:ext cx="4479173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Оценка кода, не результаты penetration/failover-теста · architecture-assessment.md</a:t>
            </a:r>
            <a:endParaRPr lang="ru-RU" sz="900" dirty="0"/>
          </a:p>
        </p:txBody>
      </p:sp>
      <p:sp>
        <p:nvSpPr>
          <p:cNvPr id="34" name="12-text-32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16</a:t>
            </a:r>
            <a:endParaRPr lang="ru-RU" sz="9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3-rect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13-line-1"/>
          <p:cNvSpPr/>
          <p:nvPr/>
        </p:nvSpPr>
        <p:spPr>
          <a:xfrm>
            <a:off x="487680" y="6858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4" name="13-rect-2"/>
          <p:cNvSpPr/>
          <p:nvPr/>
        </p:nvSpPr>
        <p:spPr>
          <a:xfrm>
            <a:off x="495300" y="25908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5" name="13-rect-3"/>
          <p:cNvSpPr/>
          <p:nvPr/>
        </p:nvSpPr>
        <p:spPr>
          <a:xfrm>
            <a:off x="624840" y="259080"/>
            <a:ext cx="91440" cy="91440"/>
          </a:xfrm>
          <a:prstGeom prst="rect">
            <a:avLst/>
          </a:prstGeom>
          <a:solidFill>
            <a:srgbClr val="C0F0C5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6" name="13-rect-4"/>
          <p:cNvSpPr/>
          <p:nvPr/>
        </p:nvSpPr>
        <p:spPr>
          <a:xfrm>
            <a:off x="49530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7" name="13-rect-5"/>
          <p:cNvSpPr/>
          <p:nvPr/>
        </p:nvSpPr>
        <p:spPr>
          <a:xfrm>
            <a:off x="62484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8" name="13-text-6"/>
          <p:cNvSpPr/>
          <p:nvPr/>
        </p:nvSpPr>
        <p:spPr>
          <a:xfrm>
            <a:off x="845820" y="217535"/>
            <a:ext cx="703916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60" b="1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СЕЙФ</a:t>
            </a:r>
            <a:endParaRPr lang="ru-RU" sz="1860" dirty="0"/>
          </a:p>
        </p:txBody>
      </p:sp>
      <p:sp>
        <p:nvSpPr>
          <p:cNvPr id="9" name="13-text-7"/>
          <p:cNvSpPr/>
          <p:nvPr/>
        </p:nvSpPr>
        <p:spPr>
          <a:xfrm>
            <a:off x="2179320" y="351413"/>
            <a:ext cx="1271670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ПЛАН РАЗВИТИЯ</a:t>
            </a:r>
            <a:endParaRPr lang="ru-RU" sz="960" dirty="0"/>
          </a:p>
        </p:txBody>
      </p:sp>
      <p:sp>
        <p:nvSpPr>
          <p:cNvPr id="10" name="13-text-8"/>
          <p:cNvSpPr/>
          <p:nvPr/>
        </p:nvSpPr>
        <p:spPr>
          <a:xfrm>
            <a:off x="10987677" y="351413"/>
            <a:ext cx="71664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960" dirty="0"/>
          </a:p>
        </p:txBody>
      </p:sp>
      <p:sp>
        <p:nvSpPr>
          <p:cNvPr id="11" name="13-text-9"/>
          <p:cNvSpPr/>
          <p:nvPr/>
        </p:nvSpPr>
        <p:spPr>
          <a:xfrm>
            <a:off x="487680" y="841340"/>
            <a:ext cx="8072531" cy="60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4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Следующий шаг — измеримый пилот.</a:t>
            </a:r>
            <a:endParaRPr lang="ru-RU" sz="3480" dirty="0"/>
          </a:p>
        </p:txBody>
      </p:sp>
      <p:sp>
        <p:nvSpPr>
          <p:cNvPr id="12" name="13-rect-10"/>
          <p:cNvSpPr/>
          <p:nvPr/>
        </p:nvSpPr>
        <p:spPr>
          <a:xfrm>
            <a:off x="487680" y="2095500"/>
            <a:ext cx="3566160" cy="315468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13" name="13-text-11"/>
          <p:cNvSpPr/>
          <p:nvPr/>
        </p:nvSpPr>
        <p:spPr>
          <a:xfrm>
            <a:off x="701040" y="2334574"/>
            <a:ext cx="981148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КАЧЕСТВО</a:t>
            </a:r>
            <a:endParaRPr lang="ru-RU" sz="1020" dirty="0"/>
          </a:p>
        </p:txBody>
      </p:sp>
      <p:sp>
        <p:nvSpPr>
          <p:cNvPr id="14" name="13-text-12"/>
          <p:cNvSpPr/>
          <p:nvPr/>
        </p:nvSpPr>
        <p:spPr>
          <a:xfrm>
            <a:off x="701040" y="2616026"/>
            <a:ext cx="1646542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Независимая</a:t>
            </a:r>
            <a:endParaRPr lang="ru-RU" sz="2040" dirty="0"/>
          </a:p>
        </p:txBody>
      </p:sp>
      <p:sp>
        <p:nvSpPr>
          <p:cNvPr id="15" name="13-text-13"/>
          <p:cNvSpPr/>
          <p:nvPr/>
        </p:nvSpPr>
        <p:spPr>
          <a:xfrm>
            <a:off x="701040" y="2936066"/>
            <a:ext cx="1202029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проверка</a:t>
            </a:r>
            <a:endParaRPr lang="ru-RU" sz="2040" dirty="0"/>
          </a:p>
        </p:txBody>
      </p:sp>
      <p:sp>
        <p:nvSpPr>
          <p:cNvPr id="16" name="13-text-14"/>
          <p:cNvSpPr/>
          <p:nvPr/>
        </p:nvSpPr>
        <p:spPr>
          <a:xfrm>
            <a:off x="701040" y="3474891"/>
            <a:ext cx="2653236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Holdout с ручной разметкой.</a:t>
            </a:r>
            <a:endParaRPr lang="ru-RU" sz="1500" dirty="0"/>
          </a:p>
        </p:txBody>
      </p:sp>
      <p:sp>
        <p:nvSpPr>
          <p:cNvPr id="17" name="13-text-15"/>
          <p:cNvSpPr/>
          <p:nvPr/>
        </p:nvSpPr>
        <p:spPr>
          <a:xfrm>
            <a:off x="701040" y="3749211"/>
            <a:ext cx="2724863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 F1, exact F1, recall типов.</a:t>
            </a:r>
            <a:endParaRPr lang="ru-RU" sz="1500" dirty="0"/>
          </a:p>
        </p:txBody>
      </p:sp>
      <p:sp>
        <p:nvSpPr>
          <p:cNvPr id="18" name="13-text-16"/>
          <p:cNvSpPr/>
          <p:nvPr/>
        </p:nvSpPr>
        <p:spPr>
          <a:xfrm>
            <a:off x="701040" y="4023531"/>
            <a:ext cx="2828935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Отдельная проверка РФ и СНГ.</a:t>
            </a:r>
            <a:endParaRPr lang="ru-RU" sz="1500" dirty="0"/>
          </a:p>
        </p:txBody>
      </p:sp>
      <p:sp>
        <p:nvSpPr>
          <p:cNvPr id="19" name="13-text-17"/>
          <p:cNvSpPr/>
          <p:nvPr/>
        </p:nvSpPr>
        <p:spPr>
          <a:xfrm>
            <a:off x="701040" y="4297851"/>
            <a:ext cx="2421892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Сборка ФИО для synthetic.</a:t>
            </a:r>
            <a:endParaRPr lang="ru-RU" sz="1500" dirty="0"/>
          </a:p>
        </p:txBody>
      </p:sp>
      <p:sp>
        <p:nvSpPr>
          <p:cNvPr id="20" name="13-rect-18"/>
          <p:cNvSpPr/>
          <p:nvPr/>
        </p:nvSpPr>
        <p:spPr>
          <a:xfrm>
            <a:off x="4221480" y="2095500"/>
            <a:ext cx="3566160" cy="315468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21" name="13-text-19"/>
          <p:cNvSpPr/>
          <p:nvPr/>
        </p:nvSpPr>
        <p:spPr>
          <a:xfrm>
            <a:off x="4434840" y="2334574"/>
            <a:ext cx="981148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СКОРОСТЬ</a:t>
            </a:r>
            <a:endParaRPr lang="ru-RU" sz="1020" dirty="0"/>
          </a:p>
        </p:txBody>
      </p:sp>
      <p:sp>
        <p:nvSpPr>
          <p:cNvPr id="22" name="13-text-20"/>
          <p:cNvSpPr/>
          <p:nvPr/>
        </p:nvSpPr>
        <p:spPr>
          <a:xfrm>
            <a:off x="4434840" y="2616026"/>
            <a:ext cx="1734135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GPU-профиль</a:t>
            </a:r>
            <a:endParaRPr lang="ru-RU" sz="2040" dirty="0"/>
          </a:p>
        </p:txBody>
      </p:sp>
      <p:sp>
        <p:nvSpPr>
          <p:cNvPr id="23" name="13-text-21"/>
          <p:cNvSpPr/>
          <p:nvPr/>
        </p:nvSpPr>
        <p:spPr>
          <a:xfrm>
            <a:off x="4434840" y="2936066"/>
            <a:ext cx="1801827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нагрузкой</a:t>
            </a:r>
            <a:endParaRPr lang="ru-RU" sz="2040" dirty="0"/>
          </a:p>
        </p:txBody>
      </p:sp>
      <p:sp>
        <p:nvSpPr>
          <p:cNvPr id="24" name="13-text-22"/>
          <p:cNvSpPr/>
          <p:nvPr/>
        </p:nvSpPr>
        <p:spPr>
          <a:xfrm>
            <a:off x="4434840" y="3474891"/>
            <a:ext cx="3021481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Длинные тексты, mixed workload.</a:t>
            </a:r>
            <a:endParaRPr lang="ru-RU" sz="1500" dirty="0"/>
          </a:p>
        </p:txBody>
      </p:sp>
      <p:sp>
        <p:nvSpPr>
          <p:cNvPr id="25" name="13-text-23"/>
          <p:cNvSpPr/>
          <p:nvPr/>
        </p:nvSpPr>
        <p:spPr>
          <a:xfrm>
            <a:off x="4434840" y="3749211"/>
            <a:ext cx="2908842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Очередь и batching — абляции.</a:t>
            </a:r>
            <a:endParaRPr lang="ru-RU" sz="1500" dirty="0"/>
          </a:p>
        </p:txBody>
      </p:sp>
      <p:sp>
        <p:nvSpPr>
          <p:cNvPr id="26" name="13-text-24"/>
          <p:cNvSpPr/>
          <p:nvPr/>
        </p:nvSpPr>
        <p:spPr>
          <a:xfrm>
            <a:off x="4434840" y="4023531"/>
            <a:ext cx="2325907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p95 / p99 и доля ошибок.</a:t>
            </a:r>
            <a:endParaRPr lang="ru-RU" sz="1500" dirty="0"/>
          </a:p>
        </p:txBody>
      </p:sp>
      <p:sp>
        <p:nvSpPr>
          <p:cNvPr id="27" name="13-text-25"/>
          <p:cNvSpPr/>
          <p:nvPr/>
        </p:nvSpPr>
        <p:spPr>
          <a:xfrm>
            <a:off x="4434840" y="4297851"/>
            <a:ext cx="2799475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Повторные прогоны без кэша.</a:t>
            </a:r>
            <a:endParaRPr lang="ru-RU" sz="1500" dirty="0"/>
          </a:p>
        </p:txBody>
      </p:sp>
      <p:sp>
        <p:nvSpPr>
          <p:cNvPr id="28" name="13-rect-26"/>
          <p:cNvSpPr/>
          <p:nvPr/>
        </p:nvSpPr>
        <p:spPr>
          <a:xfrm>
            <a:off x="7955280" y="2095500"/>
            <a:ext cx="3749040" cy="315468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29" name="13-text-27"/>
          <p:cNvSpPr/>
          <p:nvPr/>
        </p:nvSpPr>
        <p:spPr>
          <a:xfrm>
            <a:off x="8168640" y="2334574"/>
            <a:ext cx="760005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ПИЛОТ</a:t>
            </a:r>
            <a:endParaRPr lang="ru-RU" sz="1020" dirty="0"/>
          </a:p>
        </p:txBody>
      </p:sp>
      <p:sp>
        <p:nvSpPr>
          <p:cNvPr id="30" name="13-text-28"/>
          <p:cNvSpPr/>
          <p:nvPr/>
        </p:nvSpPr>
        <p:spPr>
          <a:xfrm>
            <a:off x="8168640" y="2616026"/>
            <a:ext cx="2000974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Рабочий контур</a:t>
            </a:r>
            <a:endParaRPr lang="ru-RU" sz="2040" dirty="0"/>
          </a:p>
        </p:txBody>
      </p:sp>
      <p:sp>
        <p:nvSpPr>
          <p:cNvPr id="31" name="13-text-29"/>
          <p:cNvSpPr/>
          <p:nvPr/>
        </p:nvSpPr>
        <p:spPr>
          <a:xfrm>
            <a:off x="8168640" y="2936066"/>
            <a:ext cx="1893348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эксплуатация</a:t>
            </a:r>
            <a:endParaRPr lang="ru-RU" sz="2040" dirty="0"/>
          </a:p>
        </p:txBody>
      </p:sp>
      <p:sp>
        <p:nvSpPr>
          <p:cNvPr id="32" name="13-text-30"/>
          <p:cNvSpPr/>
          <p:nvPr/>
        </p:nvSpPr>
        <p:spPr>
          <a:xfrm>
            <a:off x="8168640" y="3474891"/>
            <a:ext cx="2674801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Секреты, ingress/TLS и права.</a:t>
            </a:r>
            <a:endParaRPr lang="ru-RU" sz="1500" dirty="0"/>
          </a:p>
        </p:txBody>
      </p:sp>
      <p:sp>
        <p:nvSpPr>
          <p:cNvPr id="33" name="13-text-31"/>
          <p:cNvSpPr/>
          <p:nvPr/>
        </p:nvSpPr>
        <p:spPr>
          <a:xfrm>
            <a:off x="8168640" y="3749211"/>
            <a:ext cx="3281900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Retention capture и rotation ключей.</a:t>
            </a:r>
            <a:endParaRPr lang="ru-RU" sz="1500" dirty="0"/>
          </a:p>
        </p:txBody>
      </p:sp>
      <p:sp>
        <p:nvSpPr>
          <p:cNvPr id="34" name="13-text-32"/>
          <p:cNvSpPr/>
          <p:nvPr/>
        </p:nvSpPr>
        <p:spPr>
          <a:xfrm>
            <a:off x="8168640" y="4023531"/>
            <a:ext cx="2693478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Восстановление после сбоев.</a:t>
            </a:r>
            <a:endParaRPr lang="ru-RU" sz="1500" dirty="0"/>
          </a:p>
        </p:txBody>
      </p:sp>
      <p:sp>
        <p:nvSpPr>
          <p:cNvPr id="35" name="13-text-33"/>
          <p:cNvSpPr/>
          <p:nvPr/>
        </p:nvSpPr>
        <p:spPr>
          <a:xfrm>
            <a:off x="8168640" y="4297851"/>
            <a:ext cx="3334754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 и владелец реакции на ошибки.</a:t>
            </a:r>
            <a:endParaRPr lang="ru-RU" sz="1500" dirty="0"/>
          </a:p>
        </p:txBody>
      </p:sp>
      <p:sp>
        <p:nvSpPr>
          <p:cNvPr id="36" name="13-text-34"/>
          <p:cNvSpPr/>
          <p:nvPr/>
        </p:nvSpPr>
        <p:spPr>
          <a:xfrm>
            <a:off x="487680" y="5608491"/>
            <a:ext cx="8703621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Критерий успеха: качество, обратимость и latency сохраняются на новых данных и при отказах.</a:t>
            </a:r>
            <a:endParaRPr lang="ru-RU" sz="1500" dirty="0"/>
          </a:p>
        </p:txBody>
      </p:sp>
      <p:sp>
        <p:nvSpPr>
          <p:cNvPr id="37" name="13-line-35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38" name="13-text-36"/>
          <p:cNvSpPr/>
          <p:nvPr/>
        </p:nvSpPr>
        <p:spPr>
          <a:xfrm>
            <a:off x="487680" y="6475579"/>
            <a:ext cx="4869484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Предложения по развитию · критерии приёмки нужно согласовать с владельцем пилота</a:t>
            </a:r>
            <a:endParaRPr lang="ru-RU" sz="900" dirty="0"/>
          </a:p>
        </p:txBody>
      </p:sp>
      <p:sp>
        <p:nvSpPr>
          <p:cNvPr id="39" name="13-text-37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ru-RU" sz="9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4-rect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14-line-1"/>
          <p:cNvSpPr/>
          <p:nvPr/>
        </p:nvSpPr>
        <p:spPr>
          <a:xfrm>
            <a:off x="487680" y="6858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4" name="14-rect-2"/>
          <p:cNvSpPr/>
          <p:nvPr/>
        </p:nvSpPr>
        <p:spPr>
          <a:xfrm>
            <a:off x="495300" y="25908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5" name="14-rect-3"/>
          <p:cNvSpPr/>
          <p:nvPr/>
        </p:nvSpPr>
        <p:spPr>
          <a:xfrm>
            <a:off x="624840" y="259080"/>
            <a:ext cx="91440" cy="91440"/>
          </a:xfrm>
          <a:prstGeom prst="rect">
            <a:avLst/>
          </a:prstGeom>
          <a:solidFill>
            <a:srgbClr val="C0F0C5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6" name="14-rect-4"/>
          <p:cNvSpPr/>
          <p:nvPr/>
        </p:nvSpPr>
        <p:spPr>
          <a:xfrm>
            <a:off x="49530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7" name="14-rect-5"/>
          <p:cNvSpPr/>
          <p:nvPr/>
        </p:nvSpPr>
        <p:spPr>
          <a:xfrm>
            <a:off x="62484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8" name="14-text-6"/>
          <p:cNvSpPr/>
          <p:nvPr/>
        </p:nvSpPr>
        <p:spPr>
          <a:xfrm>
            <a:off x="845820" y="217535"/>
            <a:ext cx="703916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60" b="1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СЕЙФ</a:t>
            </a:r>
            <a:endParaRPr lang="ru-RU" sz="1860" dirty="0"/>
          </a:p>
        </p:txBody>
      </p:sp>
      <p:sp>
        <p:nvSpPr>
          <p:cNvPr id="9" name="14-text-7"/>
          <p:cNvSpPr/>
          <p:nvPr/>
        </p:nvSpPr>
        <p:spPr>
          <a:xfrm>
            <a:off x="2179320" y="351413"/>
            <a:ext cx="1410426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СЦЕНАРИЙ ЗАЩИТЫ</a:t>
            </a:r>
            <a:endParaRPr lang="ru-RU" sz="960" dirty="0"/>
          </a:p>
        </p:txBody>
      </p:sp>
      <p:sp>
        <p:nvSpPr>
          <p:cNvPr id="10" name="14-text-8"/>
          <p:cNvSpPr/>
          <p:nvPr/>
        </p:nvSpPr>
        <p:spPr>
          <a:xfrm>
            <a:off x="10987677" y="351413"/>
            <a:ext cx="71664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960" dirty="0"/>
          </a:p>
        </p:txBody>
      </p:sp>
      <p:sp>
        <p:nvSpPr>
          <p:cNvPr id="11" name="14-text-9"/>
          <p:cNvSpPr/>
          <p:nvPr/>
        </p:nvSpPr>
        <p:spPr>
          <a:xfrm>
            <a:off x="487680" y="841340"/>
            <a:ext cx="9662810" cy="60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4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 на две минуты: видно каждое решение.</a:t>
            </a:r>
            <a:endParaRPr lang="ru-RU" sz="3480" dirty="0"/>
          </a:p>
        </p:txBody>
      </p:sp>
      <p:sp>
        <p:nvSpPr>
          <p:cNvPr id="12" name="14-text-10"/>
          <p:cNvSpPr/>
          <p:nvPr/>
        </p:nvSpPr>
        <p:spPr>
          <a:xfrm>
            <a:off x="487680" y="1922696"/>
            <a:ext cx="404441" cy="407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64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ru-RU" sz="2640" dirty="0"/>
          </a:p>
        </p:txBody>
      </p:sp>
      <p:sp>
        <p:nvSpPr>
          <p:cNvPr id="13" name="14-text-11"/>
          <p:cNvSpPr/>
          <p:nvPr/>
        </p:nvSpPr>
        <p:spPr>
          <a:xfrm>
            <a:off x="487680" y="2450835"/>
            <a:ext cx="959467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ПОДАТЬ ТЕКСТ</a:t>
            </a:r>
            <a:endParaRPr lang="ru-RU" sz="1080" dirty="0"/>
          </a:p>
        </p:txBody>
      </p:sp>
      <p:sp>
        <p:nvSpPr>
          <p:cNvPr id="14" name="14-text-12"/>
          <p:cNvSpPr/>
          <p:nvPr/>
        </p:nvSpPr>
        <p:spPr>
          <a:xfrm>
            <a:off x="487680" y="2697048"/>
            <a:ext cx="2691869" cy="27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6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Личное рядом с публичным</a:t>
            </a:r>
            <a:endParaRPr lang="ru-RU" sz="1560" dirty="0"/>
          </a:p>
        </p:txBody>
      </p:sp>
      <p:sp>
        <p:nvSpPr>
          <p:cNvPr id="15" name="14-text-13"/>
          <p:cNvSpPr/>
          <p:nvPr/>
        </p:nvSpPr>
        <p:spPr>
          <a:xfrm>
            <a:off x="3352800" y="1922696"/>
            <a:ext cx="404441" cy="407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64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ru-RU" sz="2640" dirty="0"/>
          </a:p>
        </p:txBody>
      </p:sp>
      <p:sp>
        <p:nvSpPr>
          <p:cNvPr id="16" name="14-text-14"/>
          <p:cNvSpPr/>
          <p:nvPr/>
        </p:nvSpPr>
        <p:spPr>
          <a:xfrm>
            <a:off x="3352800" y="2450835"/>
            <a:ext cx="64726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ЗАЩИТИТЬ</a:t>
            </a:r>
            <a:endParaRPr lang="ru-RU" sz="1080" dirty="0"/>
          </a:p>
        </p:txBody>
      </p:sp>
      <p:sp>
        <p:nvSpPr>
          <p:cNvPr id="17" name="14-text-15"/>
          <p:cNvSpPr/>
          <p:nvPr/>
        </p:nvSpPr>
        <p:spPr>
          <a:xfrm>
            <a:off x="3352800" y="2697048"/>
            <a:ext cx="2508642" cy="27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6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Показать найденные типы</a:t>
            </a:r>
            <a:endParaRPr lang="ru-RU" sz="1560" dirty="0"/>
          </a:p>
        </p:txBody>
      </p:sp>
      <p:sp>
        <p:nvSpPr>
          <p:cNvPr id="18" name="14-text-16"/>
          <p:cNvSpPr/>
          <p:nvPr/>
        </p:nvSpPr>
        <p:spPr>
          <a:xfrm>
            <a:off x="6217920" y="1922696"/>
            <a:ext cx="404441" cy="407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64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ru-RU" sz="2640" dirty="0"/>
          </a:p>
        </p:txBody>
      </p:sp>
      <p:sp>
        <p:nvSpPr>
          <p:cNvPr id="19" name="14-text-17"/>
          <p:cNvSpPr/>
          <p:nvPr/>
        </p:nvSpPr>
        <p:spPr>
          <a:xfrm>
            <a:off x="6217920" y="2450835"/>
            <a:ext cx="959467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ВОССТАНОВИТЬ</a:t>
            </a:r>
            <a:endParaRPr lang="ru-RU" sz="1080" dirty="0"/>
          </a:p>
        </p:txBody>
      </p:sp>
      <p:sp>
        <p:nvSpPr>
          <p:cNvPr id="20" name="14-text-18"/>
          <p:cNvSpPr/>
          <p:nvPr/>
        </p:nvSpPr>
        <p:spPr>
          <a:xfrm>
            <a:off x="6217920" y="2697048"/>
            <a:ext cx="1514810" cy="27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6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Сверить точное</a:t>
            </a:r>
            <a:endParaRPr lang="ru-RU" sz="1560" dirty="0"/>
          </a:p>
        </p:txBody>
      </p:sp>
      <p:sp>
        <p:nvSpPr>
          <p:cNvPr id="21" name="14-text-19"/>
          <p:cNvSpPr/>
          <p:nvPr/>
        </p:nvSpPr>
        <p:spPr>
          <a:xfrm>
            <a:off x="6217920" y="2956128"/>
            <a:ext cx="1133136" cy="27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6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совпадение</a:t>
            </a:r>
            <a:endParaRPr lang="ru-RU" sz="1560" dirty="0"/>
          </a:p>
        </p:txBody>
      </p:sp>
      <p:sp>
        <p:nvSpPr>
          <p:cNvPr id="22" name="14-text-20"/>
          <p:cNvSpPr/>
          <p:nvPr/>
        </p:nvSpPr>
        <p:spPr>
          <a:xfrm>
            <a:off x="9083040" y="1922696"/>
            <a:ext cx="404441" cy="407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64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ru-RU" sz="2640" dirty="0"/>
          </a:p>
        </p:txBody>
      </p:sp>
      <p:sp>
        <p:nvSpPr>
          <p:cNvPr id="23" name="14-text-21"/>
          <p:cNvSpPr/>
          <p:nvPr/>
        </p:nvSpPr>
        <p:spPr>
          <a:xfrm>
            <a:off x="9083040" y="2450835"/>
            <a:ext cx="134972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8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ИЗМЕНИТЬ ПОЛИТИКУ</a:t>
            </a:r>
            <a:endParaRPr lang="ru-RU" sz="1080" dirty="0"/>
          </a:p>
        </p:txBody>
      </p:sp>
      <p:sp>
        <p:nvSpPr>
          <p:cNvPr id="24" name="14-text-22"/>
          <p:cNvSpPr/>
          <p:nvPr/>
        </p:nvSpPr>
        <p:spPr>
          <a:xfrm>
            <a:off x="9083040" y="2697048"/>
            <a:ext cx="2350546" cy="27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6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Показать управляемость</a:t>
            </a:r>
            <a:endParaRPr lang="ru-RU" sz="1560" dirty="0"/>
          </a:p>
        </p:txBody>
      </p:sp>
      <p:sp>
        <p:nvSpPr>
          <p:cNvPr id="25" name="14-rect-23"/>
          <p:cNvSpPr/>
          <p:nvPr/>
        </p:nvSpPr>
        <p:spPr>
          <a:xfrm>
            <a:off x="487680" y="3589020"/>
            <a:ext cx="5471160" cy="184404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26" name="14-rect-24"/>
          <p:cNvSpPr/>
          <p:nvPr/>
        </p:nvSpPr>
        <p:spPr>
          <a:xfrm>
            <a:off x="6233160" y="3589020"/>
            <a:ext cx="5471160" cy="184404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27" name="14-text-25"/>
          <p:cNvSpPr/>
          <p:nvPr/>
        </p:nvSpPr>
        <p:spPr>
          <a:xfrm>
            <a:off x="716280" y="3835714"/>
            <a:ext cx="1054862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ИСХОДНЫЙ ТЕКСТ</a:t>
            </a:r>
            <a:endParaRPr lang="ru-RU" sz="1020" dirty="0"/>
          </a:p>
        </p:txBody>
      </p:sp>
      <p:sp>
        <p:nvSpPr>
          <p:cNvPr id="28" name="14-text-26"/>
          <p:cNvSpPr/>
          <p:nvPr/>
        </p:nvSpPr>
        <p:spPr>
          <a:xfrm>
            <a:off x="716280" y="4127197"/>
            <a:ext cx="2734760" cy="319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0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Поэт Александр Пушкин.</a:t>
            </a:r>
            <a:endParaRPr lang="ru-RU" sz="1800" dirty="0"/>
          </a:p>
        </p:txBody>
      </p:sp>
      <p:sp>
        <p:nvSpPr>
          <p:cNvPr id="29" name="14-text-27"/>
          <p:cNvSpPr/>
          <p:nvPr/>
        </p:nvSpPr>
        <p:spPr>
          <a:xfrm>
            <a:off x="716280" y="4508197"/>
            <a:ext cx="3554199" cy="319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0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Клиент: Иванов Иван Иванович.</a:t>
            </a:r>
            <a:endParaRPr lang="ru-RU" sz="1800" dirty="0"/>
          </a:p>
        </p:txBody>
      </p:sp>
      <p:sp>
        <p:nvSpPr>
          <p:cNvPr id="30" name="14-text-28"/>
          <p:cNvSpPr/>
          <p:nvPr/>
        </p:nvSpPr>
        <p:spPr>
          <a:xfrm>
            <a:off x="6461760" y="3835714"/>
            <a:ext cx="2234294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ИЗМЕНИЛАСЬ ТОЛЬКО ЛИЧНАЯ ЧАСТЬ</a:t>
            </a:r>
            <a:endParaRPr lang="ru-RU" sz="1020" dirty="0"/>
          </a:p>
        </p:txBody>
      </p:sp>
      <p:sp>
        <p:nvSpPr>
          <p:cNvPr id="31" name="14-text-29"/>
          <p:cNvSpPr/>
          <p:nvPr/>
        </p:nvSpPr>
        <p:spPr>
          <a:xfrm>
            <a:off x="6461760" y="4127197"/>
            <a:ext cx="2734760" cy="319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0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Поэт Александр Пушкин.</a:t>
            </a:r>
            <a:endParaRPr lang="ru-RU" sz="1800" dirty="0"/>
          </a:p>
        </p:txBody>
      </p:sp>
      <p:sp>
        <p:nvSpPr>
          <p:cNvPr id="32" name="14-text-30"/>
          <p:cNvSpPr/>
          <p:nvPr/>
        </p:nvSpPr>
        <p:spPr>
          <a:xfrm>
            <a:off x="6461760" y="4590764"/>
            <a:ext cx="2663572" cy="27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74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Клиент: ⟦PD:PERSON:…⟧</a:t>
            </a:r>
            <a:endParaRPr lang="ru-RU" sz="1740" dirty="0"/>
          </a:p>
        </p:txBody>
      </p:sp>
      <p:sp>
        <p:nvSpPr>
          <p:cNvPr id="33" name="14-text-31"/>
          <p:cNvSpPr/>
          <p:nvPr/>
        </p:nvSpPr>
        <p:spPr>
          <a:xfrm>
            <a:off x="487680" y="5729808"/>
            <a:ext cx="7366364" cy="27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6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экране: реальные типы, длительность, режим и результат восстановления.</a:t>
            </a:r>
            <a:endParaRPr lang="ru-RU" sz="1560" dirty="0"/>
          </a:p>
        </p:txBody>
      </p:sp>
      <p:sp>
        <p:nvSpPr>
          <p:cNvPr id="34" name="14-line-32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35" name="14-text-33"/>
          <p:cNvSpPr/>
          <p:nvPr/>
        </p:nvSpPr>
        <p:spPr>
          <a:xfrm>
            <a:off x="487680" y="6475579"/>
            <a:ext cx="4444226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Вымышленный пример · token ниже схематический · API: /v1/mask → /v1/unmask</a:t>
            </a:r>
            <a:endParaRPr lang="ru-RU" sz="900" dirty="0"/>
          </a:p>
        </p:txBody>
      </p:sp>
      <p:sp>
        <p:nvSpPr>
          <p:cNvPr id="36" name="14-text-34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16</a:t>
            </a:r>
            <a:endParaRPr lang="ru-RU" sz="9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5-rect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15-line-1"/>
          <p:cNvSpPr/>
          <p:nvPr/>
        </p:nvSpPr>
        <p:spPr>
          <a:xfrm>
            <a:off x="487680" y="6858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4" name="15-rect-2"/>
          <p:cNvSpPr/>
          <p:nvPr/>
        </p:nvSpPr>
        <p:spPr>
          <a:xfrm>
            <a:off x="495300" y="25908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5" name="15-rect-3"/>
          <p:cNvSpPr/>
          <p:nvPr/>
        </p:nvSpPr>
        <p:spPr>
          <a:xfrm>
            <a:off x="624840" y="259080"/>
            <a:ext cx="91440" cy="91440"/>
          </a:xfrm>
          <a:prstGeom prst="rect">
            <a:avLst/>
          </a:prstGeom>
          <a:solidFill>
            <a:srgbClr val="C0F0C5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6" name="15-rect-4"/>
          <p:cNvSpPr/>
          <p:nvPr/>
        </p:nvSpPr>
        <p:spPr>
          <a:xfrm>
            <a:off x="49530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7" name="15-rect-5"/>
          <p:cNvSpPr/>
          <p:nvPr/>
        </p:nvSpPr>
        <p:spPr>
          <a:xfrm>
            <a:off x="62484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8" name="15-text-6"/>
          <p:cNvSpPr/>
          <p:nvPr/>
        </p:nvSpPr>
        <p:spPr>
          <a:xfrm>
            <a:off x="845820" y="217535"/>
            <a:ext cx="703916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60" b="1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СЕЙФ</a:t>
            </a:r>
            <a:endParaRPr lang="ru-RU" sz="1860" dirty="0"/>
          </a:p>
        </p:txBody>
      </p:sp>
      <p:sp>
        <p:nvSpPr>
          <p:cNvPr id="9" name="15-text-7"/>
          <p:cNvSpPr/>
          <p:nvPr/>
        </p:nvSpPr>
        <p:spPr>
          <a:xfrm>
            <a:off x="2179320" y="351413"/>
            <a:ext cx="71664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ВЫВОД</a:t>
            </a:r>
            <a:endParaRPr lang="ru-RU" sz="960" dirty="0"/>
          </a:p>
        </p:txBody>
      </p:sp>
      <p:sp>
        <p:nvSpPr>
          <p:cNvPr id="10" name="15-text-8"/>
          <p:cNvSpPr/>
          <p:nvPr/>
        </p:nvSpPr>
        <p:spPr>
          <a:xfrm>
            <a:off x="10987677" y="351413"/>
            <a:ext cx="71664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960" dirty="0"/>
          </a:p>
        </p:txBody>
      </p:sp>
      <p:sp>
        <p:nvSpPr>
          <p:cNvPr id="11" name="15-text-9"/>
          <p:cNvSpPr/>
          <p:nvPr/>
        </p:nvSpPr>
        <p:spPr>
          <a:xfrm>
            <a:off x="487680" y="841340"/>
            <a:ext cx="7009590" cy="60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4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Сильнее становится вся цепочка.</a:t>
            </a:r>
            <a:endParaRPr lang="ru-RU" sz="3480" dirty="0"/>
          </a:p>
        </p:txBody>
      </p:sp>
      <p:sp>
        <p:nvSpPr>
          <p:cNvPr id="12" name="15-text-10"/>
          <p:cNvSpPr/>
          <p:nvPr/>
        </p:nvSpPr>
        <p:spPr>
          <a:xfrm>
            <a:off x="487680" y="1832446"/>
            <a:ext cx="5642873" cy="58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960" i="1" dirty="0">
                <a:solidFill>
                  <a:srgbClr val="C0F0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Управляемая защита.</a:t>
            </a:r>
            <a:endParaRPr lang="ru-RU" sz="3960" dirty="0"/>
          </a:p>
        </p:txBody>
      </p:sp>
      <p:sp>
        <p:nvSpPr>
          <p:cNvPr id="13" name="15-text-11"/>
          <p:cNvSpPr/>
          <p:nvPr/>
        </p:nvSpPr>
        <p:spPr>
          <a:xfrm>
            <a:off x="487680" y="2525866"/>
            <a:ext cx="6217786" cy="58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960" i="1" dirty="0">
                <a:solidFill>
                  <a:srgbClr val="C0F0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Обратимый результат.</a:t>
            </a:r>
            <a:endParaRPr lang="ru-RU" sz="3960" dirty="0"/>
          </a:p>
        </p:txBody>
      </p:sp>
      <p:sp>
        <p:nvSpPr>
          <p:cNvPr id="14" name="15-text-12"/>
          <p:cNvSpPr/>
          <p:nvPr/>
        </p:nvSpPr>
        <p:spPr>
          <a:xfrm>
            <a:off x="487680" y="3219286"/>
            <a:ext cx="5847727" cy="58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960" i="1" dirty="0">
                <a:solidFill>
                  <a:srgbClr val="C0F0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Проверяемый прогресс.</a:t>
            </a:r>
            <a:endParaRPr lang="ru-RU" sz="3960" dirty="0"/>
          </a:p>
        </p:txBody>
      </p:sp>
      <p:sp>
        <p:nvSpPr>
          <p:cNvPr id="15" name="15-rect-13"/>
          <p:cNvSpPr/>
          <p:nvPr/>
        </p:nvSpPr>
        <p:spPr>
          <a:xfrm>
            <a:off x="8153400" y="1920240"/>
            <a:ext cx="3550920" cy="364998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16" name="15-text-14"/>
          <p:cNvSpPr/>
          <p:nvPr/>
        </p:nvSpPr>
        <p:spPr>
          <a:xfrm>
            <a:off x="8382000" y="1920367"/>
            <a:ext cx="1230322" cy="653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78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5 095</a:t>
            </a:r>
            <a:endParaRPr lang="ru-RU" sz="3780" dirty="0"/>
          </a:p>
        </p:txBody>
      </p:sp>
      <p:sp>
        <p:nvSpPr>
          <p:cNvPr id="17" name="15-text-15"/>
          <p:cNvSpPr/>
          <p:nvPr/>
        </p:nvSpPr>
        <p:spPr>
          <a:xfrm>
            <a:off x="8382000" y="2577539"/>
            <a:ext cx="2263122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текстов в общем сравнении</a:t>
            </a:r>
            <a:endParaRPr lang="ru-RU" sz="1320" dirty="0"/>
          </a:p>
        </p:txBody>
      </p:sp>
      <p:sp>
        <p:nvSpPr>
          <p:cNvPr id="18" name="15-text-16"/>
          <p:cNvSpPr/>
          <p:nvPr/>
        </p:nvSpPr>
        <p:spPr>
          <a:xfrm>
            <a:off x="8382000" y="2971927"/>
            <a:ext cx="1469777" cy="653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78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533,74</a:t>
            </a:r>
            <a:endParaRPr lang="ru-RU" sz="3780" dirty="0"/>
          </a:p>
        </p:txBody>
      </p:sp>
      <p:sp>
        <p:nvSpPr>
          <p:cNvPr id="19" name="15-text-17"/>
          <p:cNvSpPr/>
          <p:nvPr/>
        </p:nvSpPr>
        <p:spPr>
          <a:xfrm>
            <a:off x="8382000" y="3629099"/>
            <a:ext cx="2528805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RPS в финальном GPU-прогоне</a:t>
            </a:r>
            <a:endParaRPr lang="ru-RU" sz="1320" dirty="0"/>
          </a:p>
        </p:txBody>
      </p:sp>
      <p:sp>
        <p:nvSpPr>
          <p:cNvPr id="20" name="15-text-18"/>
          <p:cNvSpPr/>
          <p:nvPr/>
        </p:nvSpPr>
        <p:spPr>
          <a:xfrm>
            <a:off x="8382000" y="4023487"/>
            <a:ext cx="1230322" cy="653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780" dirty="0">
                <a:solidFill>
                  <a:srgbClr val="C0F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3 119</a:t>
            </a:r>
            <a:endParaRPr lang="ru-RU" sz="3780" dirty="0"/>
          </a:p>
        </p:txBody>
      </p:sp>
      <p:sp>
        <p:nvSpPr>
          <p:cNvPr id="21" name="15-text-19"/>
          <p:cNvSpPr/>
          <p:nvPr/>
        </p:nvSpPr>
        <p:spPr>
          <a:xfrm>
            <a:off x="8382000" y="4680659"/>
            <a:ext cx="2350553" cy="238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32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прошедших основных тестов</a:t>
            </a:r>
            <a:endParaRPr lang="ru-RU" sz="1320" dirty="0"/>
          </a:p>
        </p:txBody>
      </p:sp>
      <p:sp>
        <p:nvSpPr>
          <p:cNvPr id="22" name="15-text-20"/>
          <p:cNvSpPr/>
          <p:nvPr/>
        </p:nvSpPr>
        <p:spPr>
          <a:xfrm>
            <a:off x="487680" y="4822615"/>
            <a:ext cx="2000142" cy="184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14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Фокус следующей итерации</a:t>
            </a:r>
            <a:endParaRPr lang="ru-RU" sz="1140" dirty="0"/>
          </a:p>
        </p:txBody>
      </p:sp>
      <p:sp>
        <p:nvSpPr>
          <p:cNvPr id="23" name="15-text-21"/>
          <p:cNvSpPr/>
          <p:nvPr/>
        </p:nvSpPr>
        <p:spPr>
          <a:xfrm>
            <a:off x="487680" y="5094937"/>
            <a:ext cx="4631034" cy="319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0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Точные границы и типы на новых данных.</a:t>
            </a:r>
            <a:endParaRPr lang="ru-RU" sz="1800" dirty="0"/>
          </a:p>
        </p:txBody>
      </p:sp>
      <p:sp>
        <p:nvSpPr>
          <p:cNvPr id="24" name="15-text-22"/>
          <p:cNvSpPr/>
          <p:nvPr/>
        </p:nvSpPr>
        <p:spPr>
          <a:xfrm>
            <a:off x="487680" y="5430217"/>
            <a:ext cx="6263327" cy="319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0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Скорость и восстановление при реальных ограничениях.</a:t>
            </a:r>
            <a:endParaRPr lang="ru-RU" sz="1800" dirty="0"/>
          </a:p>
        </p:txBody>
      </p:sp>
      <p:sp>
        <p:nvSpPr>
          <p:cNvPr id="25" name="15-line-23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26" name="15-text-24"/>
          <p:cNvSpPr/>
          <p:nvPr/>
        </p:nvSpPr>
        <p:spPr>
          <a:xfrm>
            <a:off x="487680" y="6475579"/>
            <a:ext cx="4349897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СЕЙФ · архитектурная оценка и проверенные эксперименты · 23 сентября 2026</a:t>
            </a:r>
            <a:endParaRPr lang="ru-RU" sz="900" dirty="0"/>
          </a:p>
        </p:txBody>
      </p:sp>
      <p:sp>
        <p:nvSpPr>
          <p:cNvPr id="27" name="15-text-25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16</a:t>
            </a:r>
            <a:endParaRPr lang="ru-RU" sz="9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6-rect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B17"/>
          </a:solidFill>
          <a:ln w="12700">
            <a:solidFill>
              <a:srgbClr val="111B17">
                <a:alpha val="0"/>
              </a:srgbClr>
            </a:solidFill>
            <a:prstDash val="solid"/>
          </a:ln>
        </p:spPr>
      </p:sp>
      <p:sp>
        <p:nvSpPr>
          <p:cNvPr id="3" name="16-line-1"/>
          <p:cNvSpPr/>
          <p:nvPr/>
        </p:nvSpPr>
        <p:spPr>
          <a:xfrm>
            <a:off x="487680" y="6858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4" name="16-rect-2"/>
          <p:cNvSpPr/>
          <p:nvPr/>
        </p:nvSpPr>
        <p:spPr>
          <a:xfrm>
            <a:off x="495300" y="25908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5" name="16-rect-3"/>
          <p:cNvSpPr/>
          <p:nvPr/>
        </p:nvSpPr>
        <p:spPr>
          <a:xfrm>
            <a:off x="624840" y="259080"/>
            <a:ext cx="91440" cy="91440"/>
          </a:xfrm>
          <a:prstGeom prst="rect">
            <a:avLst/>
          </a:prstGeom>
          <a:solidFill>
            <a:srgbClr val="C0F0C5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6" name="16-rect-4"/>
          <p:cNvSpPr/>
          <p:nvPr/>
        </p:nvSpPr>
        <p:spPr>
          <a:xfrm>
            <a:off x="49530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7" name="16-rect-5"/>
          <p:cNvSpPr/>
          <p:nvPr/>
        </p:nvSpPr>
        <p:spPr>
          <a:xfrm>
            <a:off x="624840" y="388620"/>
            <a:ext cx="91440" cy="91440"/>
          </a:xfrm>
          <a:prstGeom prst="rect">
            <a:avLst/>
          </a:prstGeom>
          <a:solidFill>
            <a:srgbClr val="111B17"/>
          </a:solidFill>
          <a:ln w="13716">
            <a:solidFill>
              <a:srgbClr val="C0F0C5"/>
            </a:solidFill>
            <a:prstDash val="solid"/>
          </a:ln>
        </p:spPr>
      </p:sp>
      <p:sp>
        <p:nvSpPr>
          <p:cNvPr id="8" name="16-text-6"/>
          <p:cNvSpPr/>
          <p:nvPr/>
        </p:nvSpPr>
        <p:spPr>
          <a:xfrm>
            <a:off x="845820" y="217535"/>
            <a:ext cx="703916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60" b="1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СЕЙФ</a:t>
            </a:r>
            <a:endParaRPr lang="ru-RU" sz="1860" dirty="0"/>
          </a:p>
        </p:txBody>
      </p:sp>
      <p:sp>
        <p:nvSpPr>
          <p:cNvPr id="9" name="16-text-7"/>
          <p:cNvSpPr/>
          <p:nvPr/>
        </p:nvSpPr>
        <p:spPr>
          <a:xfrm>
            <a:off x="2179320" y="351413"/>
            <a:ext cx="2520479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ПРИЛОЖЕНИЕ / МЕТОДОЛОГИЯ И ИСТОЧНИКИ</a:t>
            </a:r>
            <a:endParaRPr lang="ru-RU" sz="960" dirty="0"/>
          </a:p>
        </p:txBody>
      </p:sp>
      <p:sp>
        <p:nvSpPr>
          <p:cNvPr id="10" name="16-text-8"/>
          <p:cNvSpPr/>
          <p:nvPr/>
        </p:nvSpPr>
        <p:spPr>
          <a:xfrm>
            <a:off x="10987677" y="351413"/>
            <a:ext cx="716643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23.09.2026</a:t>
            </a:r>
            <a:endParaRPr lang="ru-RU" sz="960" dirty="0"/>
          </a:p>
        </p:txBody>
      </p:sp>
      <p:sp>
        <p:nvSpPr>
          <p:cNvPr id="11" name="16-text-9"/>
          <p:cNvSpPr/>
          <p:nvPr/>
        </p:nvSpPr>
        <p:spPr>
          <a:xfrm>
            <a:off x="487680" y="841340"/>
            <a:ext cx="8634266" cy="60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348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проверять цифры этой презентации.</a:t>
            </a:r>
            <a:endParaRPr lang="ru-RU" sz="3480" dirty="0"/>
          </a:p>
        </p:txBody>
      </p:sp>
      <p:sp>
        <p:nvSpPr>
          <p:cNvPr id="12" name="16-rect-10"/>
          <p:cNvSpPr/>
          <p:nvPr/>
        </p:nvSpPr>
        <p:spPr>
          <a:xfrm>
            <a:off x="487680" y="1965960"/>
            <a:ext cx="5394960" cy="189738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13" name="16-text-11"/>
          <p:cNvSpPr/>
          <p:nvPr/>
        </p:nvSpPr>
        <p:spPr>
          <a:xfrm>
            <a:off x="701040" y="2205034"/>
            <a:ext cx="907434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ВЫБОРКА</a:t>
            </a:r>
            <a:endParaRPr lang="ru-RU" sz="1020" dirty="0"/>
          </a:p>
        </p:txBody>
      </p:sp>
      <p:sp>
        <p:nvSpPr>
          <p:cNvPr id="14" name="16-text-12"/>
          <p:cNvSpPr/>
          <p:nvPr/>
        </p:nvSpPr>
        <p:spPr>
          <a:xfrm>
            <a:off x="701040" y="2486486"/>
            <a:ext cx="3706750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5 095 фиксированных текстов</a:t>
            </a:r>
            <a:endParaRPr lang="ru-RU" sz="2040" dirty="0"/>
          </a:p>
        </p:txBody>
      </p:sp>
      <p:sp>
        <p:nvSpPr>
          <p:cNvPr id="15" name="16-text-13"/>
          <p:cNvSpPr/>
          <p:nvPr/>
        </p:nvSpPr>
        <p:spPr>
          <a:xfrm>
            <a:off x="701040" y="2964351"/>
            <a:ext cx="3746033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446 organizer: 329 certain + 117 uncertain.</a:t>
            </a:r>
            <a:endParaRPr lang="ru-RU" sz="1500" dirty="0"/>
          </a:p>
        </p:txBody>
      </p:sp>
      <p:sp>
        <p:nvSpPr>
          <p:cNvPr id="16" name="16-text-14"/>
          <p:cNvSpPr/>
          <p:nvPr/>
        </p:nvSpPr>
        <p:spPr>
          <a:xfrm>
            <a:off x="701040" y="3238671"/>
            <a:ext cx="3315596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1 810 PII-Bench; 2 839 RedMadRobot.</a:t>
            </a:r>
            <a:endParaRPr lang="ru-RU" sz="1500" dirty="0"/>
          </a:p>
        </p:txBody>
      </p:sp>
      <p:sp>
        <p:nvSpPr>
          <p:cNvPr id="17" name="16-text-15"/>
          <p:cNvSpPr/>
          <p:nvPr/>
        </p:nvSpPr>
        <p:spPr>
          <a:xfrm>
            <a:off x="701040" y="3512991"/>
            <a:ext cx="4090114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Два старых исключения выравнивания RMR.</a:t>
            </a:r>
            <a:endParaRPr lang="ru-RU" sz="1500" dirty="0"/>
          </a:p>
        </p:txBody>
      </p:sp>
      <p:sp>
        <p:nvSpPr>
          <p:cNvPr id="18" name="16-rect-16"/>
          <p:cNvSpPr/>
          <p:nvPr/>
        </p:nvSpPr>
        <p:spPr>
          <a:xfrm>
            <a:off x="6050280" y="1965960"/>
            <a:ext cx="5654040" cy="1897380"/>
          </a:xfrm>
          <a:prstGeom prst="rect">
            <a:avLst/>
          </a:prstGeom>
          <a:solidFill>
            <a:srgbClr val="17231D"/>
          </a:solidFill>
          <a:ln w="7620">
            <a:solidFill>
              <a:srgbClr val="334138"/>
            </a:solidFill>
            <a:prstDash val="solid"/>
          </a:ln>
        </p:spPr>
      </p:sp>
      <p:sp>
        <p:nvSpPr>
          <p:cNvPr id="19" name="16-text-17"/>
          <p:cNvSpPr/>
          <p:nvPr/>
        </p:nvSpPr>
        <p:spPr>
          <a:xfrm>
            <a:off x="6263640" y="2205034"/>
            <a:ext cx="907434" cy="16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02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МЕТРИКИ</a:t>
            </a:r>
            <a:endParaRPr lang="ru-RU" sz="1020" dirty="0"/>
          </a:p>
        </p:txBody>
      </p:sp>
      <p:sp>
        <p:nvSpPr>
          <p:cNvPr id="20" name="16-text-18"/>
          <p:cNvSpPr/>
          <p:nvPr/>
        </p:nvSpPr>
        <p:spPr>
          <a:xfrm>
            <a:off x="6263640" y="2486486"/>
            <a:ext cx="4929127" cy="35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204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Сравниваем одинаковое с одинаковым</a:t>
            </a:r>
            <a:endParaRPr lang="ru-RU" sz="2040" dirty="0"/>
          </a:p>
        </p:txBody>
      </p:sp>
      <p:sp>
        <p:nvSpPr>
          <p:cNvPr id="21" name="16-text-19"/>
          <p:cNvSpPr/>
          <p:nvPr/>
        </p:nvSpPr>
        <p:spPr>
          <a:xfrm>
            <a:off x="6263640" y="2964351"/>
            <a:ext cx="3404745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 F1 — закрытые буквы и цифры.</a:t>
            </a:r>
            <a:endParaRPr lang="ru-RU" sz="1500" dirty="0"/>
          </a:p>
        </p:txBody>
      </p:sp>
      <p:sp>
        <p:nvSpPr>
          <p:cNvPr id="22" name="16-text-20"/>
          <p:cNvSpPr/>
          <p:nvPr/>
        </p:nvSpPr>
        <p:spPr>
          <a:xfrm>
            <a:off x="6263640" y="3238671"/>
            <a:ext cx="3316173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F1 — тип и исходные границы.</a:t>
            </a:r>
            <a:endParaRPr lang="ru-RU" sz="1500" dirty="0"/>
          </a:p>
        </p:txBody>
      </p:sp>
      <p:sp>
        <p:nvSpPr>
          <p:cNvPr id="23" name="16-text-21"/>
          <p:cNvSpPr/>
          <p:nvPr/>
        </p:nvSpPr>
        <p:spPr>
          <a:xfrm>
            <a:off x="6263640" y="3512991"/>
            <a:ext cx="3047956" cy="26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texts/s не равны HTTP RPS.</a:t>
            </a:r>
            <a:endParaRPr lang="ru-RU" sz="1500" dirty="0"/>
          </a:p>
        </p:txBody>
      </p:sp>
      <p:sp>
        <p:nvSpPr>
          <p:cNvPr id="24" name="16-text-22"/>
          <p:cNvSpPr/>
          <p:nvPr/>
        </p:nvSpPr>
        <p:spPr>
          <a:xfrm>
            <a:off x="487680" y="4104337"/>
            <a:ext cx="1974241" cy="319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0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Ключевые отчёты</a:t>
            </a:r>
            <a:endParaRPr lang="ru-RU" sz="1800" dirty="0"/>
          </a:p>
        </p:txBody>
      </p:sp>
      <p:sp>
        <p:nvSpPr>
          <p:cNvPr id="25" name="16-text-23"/>
          <p:cNvSpPr/>
          <p:nvPr/>
        </p:nvSpPr>
        <p:spPr>
          <a:xfrm>
            <a:off x="487680" y="4605557"/>
            <a:ext cx="2754631" cy="202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6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rubert-upgrade/quality-v5.json</a:t>
            </a:r>
            <a:endParaRPr lang="ru-RU" sz="1260" dirty="0"/>
          </a:p>
        </p:txBody>
      </p:sp>
      <p:sp>
        <p:nvSpPr>
          <p:cNvPr id="26" name="16-text-24"/>
          <p:cNvSpPr/>
          <p:nvPr/>
        </p:nvSpPr>
        <p:spPr>
          <a:xfrm>
            <a:off x="487680" y="4864637"/>
            <a:ext cx="3574162" cy="202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6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rubert-upgrade/http-upgraded-final.json</a:t>
            </a:r>
            <a:endParaRPr lang="ru-RU" sz="1260" dirty="0"/>
          </a:p>
        </p:txBody>
      </p:sp>
      <p:sp>
        <p:nvSpPr>
          <p:cNvPr id="27" name="16-text-25"/>
          <p:cNvSpPr/>
          <p:nvPr/>
        </p:nvSpPr>
        <p:spPr>
          <a:xfrm>
            <a:off x="487680" y="5123717"/>
            <a:ext cx="3027808" cy="202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6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gliner25-onnx/comparison-gpu.json</a:t>
            </a:r>
            <a:endParaRPr lang="ru-RU" sz="1260" dirty="0"/>
          </a:p>
        </p:txBody>
      </p:sp>
      <p:sp>
        <p:nvSpPr>
          <p:cNvPr id="28" name="16-text-26"/>
          <p:cNvSpPr/>
          <p:nvPr/>
        </p:nvSpPr>
        <p:spPr>
          <a:xfrm>
            <a:off x="487680" y="5382797"/>
            <a:ext cx="2299336" cy="202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260" dirty="0">
                <a:solidFill>
                  <a:srgbClr val="C0F0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lfm25-pii/comparison.json</a:t>
            </a:r>
            <a:endParaRPr lang="ru-RU" sz="1260" dirty="0"/>
          </a:p>
        </p:txBody>
      </p:sp>
      <p:sp>
        <p:nvSpPr>
          <p:cNvPr id="29" name="16-text-27"/>
          <p:cNvSpPr/>
          <p:nvPr/>
        </p:nvSpPr>
        <p:spPr>
          <a:xfrm>
            <a:off x="6477000" y="4119577"/>
            <a:ext cx="1783273" cy="319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800" dirty="0">
                <a:solidFill>
                  <a:srgbClr val="F0F0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Условия вывода</a:t>
            </a:r>
            <a:endParaRPr lang="ru-RU" sz="1800" dirty="0"/>
          </a:p>
        </p:txBody>
      </p:sp>
      <p:sp>
        <p:nvSpPr>
          <p:cNvPr id="30" name="16-text-28"/>
          <p:cNvSpPr/>
          <p:nvPr/>
        </p:nvSpPr>
        <p:spPr>
          <a:xfrm>
            <a:off x="6477000" y="4527054"/>
            <a:ext cx="4033524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4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Organizer — AI silver, не официальный эталон.</a:t>
            </a:r>
            <a:endParaRPr lang="ru-RU" sz="1440" dirty="0"/>
          </a:p>
        </p:txBody>
      </p:sp>
      <p:sp>
        <p:nvSpPr>
          <p:cNvPr id="31" name="16-text-29"/>
          <p:cNvSpPr/>
          <p:nvPr/>
        </p:nvSpPr>
        <p:spPr>
          <a:xfrm>
            <a:off x="6477000" y="4824234"/>
            <a:ext cx="3909309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4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Корпуса уже изучались: это не blind holdout.</a:t>
            </a:r>
            <a:endParaRPr lang="ru-RU" sz="1440" dirty="0"/>
          </a:p>
        </p:txBody>
      </p:sp>
      <p:sp>
        <p:nvSpPr>
          <p:cNvPr id="32" name="16-text-30"/>
          <p:cNvSpPr/>
          <p:nvPr/>
        </p:nvSpPr>
        <p:spPr>
          <a:xfrm>
            <a:off x="6477000" y="5121414"/>
            <a:ext cx="3998034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4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pii-guard — raw-text ablation, не весь pipeline.</a:t>
            </a:r>
            <a:endParaRPr lang="ru-RU" sz="1440" dirty="0"/>
          </a:p>
        </p:txBody>
      </p:sp>
      <p:sp>
        <p:nvSpPr>
          <p:cNvPr id="33" name="16-text-31"/>
          <p:cNvSpPr/>
          <p:nvPr/>
        </p:nvSpPr>
        <p:spPr>
          <a:xfrm>
            <a:off x="6477000" y="5418594"/>
            <a:ext cx="4127240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1440" dirty="0">
                <a:solidFill>
                  <a:srgbClr val="EAB2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Kubernetes-конфигурация ≠ проверенный SLA.</a:t>
            </a:r>
            <a:endParaRPr lang="ru-RU" sz="1440" dirty="0"/>
          </a:p>
        </p:txBody>
      </p:sp>
      <p:sp>
        <p:nvSpPr>
          <p:cNvPr id="34" name="16-line-32"/>
          <p:cNvSpPr/>
          <p:nvPr/>
        </p:nvSpPr>
        <p:spPr>
          <a:xfrm>
            <a:off x="487680" y="6324600"/>
            <a:ext cx="11216640" cy="0"/>
          </a:xfrm>
          <a:prstGeom prst="line">
            <a:avLst/>
          </a:prstGeom>
          <a:noFill/>
          <a:ln w="7620">
            <a:solidFill>
              <a:srgbClr val="334138"/>
            </a:solidFill>
            <a:prstDash val="solid"/>
          </a:ln>
        </p:spPr>
      </p:sp>
      <p:sp>
        <p:nvSpPr>
          <p:cNvPr id="35" name="16-text-33"/>
          <p:cNvSpPr/>
          <p:nvPr/>
        </p:nvSpPr>
        <p:spPr>
          <a:xfrm>
            <a:off x="487680" y="6475579"/>
            <a:ext cx="4988997" cy="16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altLang="en-US" sz="900" dirty="0">
                <a:solidFill>
                  <a:srgbClr val="93A3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Полные ссылки, JSON pointers и SHA256: experiment-metrics.json · architecture-evidence.json</a:t>
            </a:r>
            <a:endParaRPr lang="ru-RU" sz="900" dirty="0"/>
          </a:p>
        </p:txBody>
      </p:sp>
      <p:sp>
        <p:nvSpPr>
          <p:cNvPr id="36" name="16-text-34"/>
          <p:cNvSpPr/>
          <p:nvPr/>
        </p:nvSpPr>
        <p:spPr>
          <a:xfrm>
            <a:off x="11195812" y="6508373"/>
            <a:ext cx="508508" cy="15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ru-RU" altLang="en-US" sz="960" dirty="0">
                <a:solidFill>
                  <a:srgbClr val="93A3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ru-RU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SEIF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СЕЙФ · Архитектура и эксперименты</dc:title>
  <dc:subject>Архитектура сервиса, оценка и измеренные эксперименты</dc:subject>
  <dc:creator>SEIF</dc:creator>
  <cp:lastModifiedBy>SEIF</cp:lastModifiedBy>
  <cp:revision>1</cp:revision>
  <dcterms:created xsi:type="dcterms:W3CDTF">2026-09-22T22:52:26Z</dcterms:created>
  <dcterms:modified xsi:type="dcterms:W3CDTF">2026-09-22T22:52:26Z</dcterms:modified>
</cp:coreProperties>
</file>